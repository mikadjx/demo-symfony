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300" r:id="rId2"/>
    <p:sldId id="306" r:id="rId3"/>
    <p:sldId id="307" r:id="rId4"/>
    <p:sldId id="302" r:id="rId5"/>
    <p:sldId id="308" r:id="rId6"/>
    <p:sldId id="309" r:id="rId7"/>
    <p:sldId id="310" r:id="rId8"/>
    <p:sldId id="311" r:id="rId9"/>
    <p:sldId id="303" r:id="rId10"/>
    <p:sldId id="312" r:id="rId11"/>
    <p:sldId id="313" r:id="rId12"/>
    <p:sldId id="314" r:id="rId13"/>
    <p:sldId id="315" r:id="rId14"/>
    <p:sldId id="316" r:id="rId15"/>
    <p:sldId id="270" r:id="rId16"/>
    <p:sldId id="304" r:id="rId17"/>
    <p:sldId id="317" r:id="rId18"/>
    <p:sldId id="318" r:id="rId19"/>
    <p:sldId id="319" r:id="rId20"/>
    <p:sldId id="320" r:id="rId21"/>
    <p:sldId id="275"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5041" autoAdjust="0"/>
  </p:normalViewPr>
  <p:slideViewPr>
    <p:cSldViewPr snapToGrid="0" snapToObjects="1">
      <p:cViewPr varScale="1">
        <p:scale>
          <a:sx n="83" d="100"/>
          <a:sy n="83" d="100"/>
        </p:scale>
        <p:origin x="108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7195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Bonjour. Je suis Bryan JOUBERT, Lead Developer, et je suis ici pour vous montrer la v1 de votre future plateforme numérique.</a:t>
            </a:r>
          </a:p>
          <a:p>
            <a:endParaRPr lang="fr-FR" dirty="0"/>
          </a:p>
          <a:p>
            <a:r>
              <a:rPr lang="fr-FR" dirty="0"/>
              <a:t>La Petite Maison de l’Épouvante, c’est 10 ans d’expertise dans l’univers horrifique — une marque forte, une communauté fidèle. Mais aujourd’hui, votre système d’information ne reflète pas cette ambition. Pas de vente en ligne, pas de plateforme cohérente. Le potentiel commercial est là — il attend juste les bons outils.</a:t>
            </a:r>
          </a:p>
          <a:p>
            <a:endParaRPr lang="fr-FR" dirty="0"/>
          </a:p>
          <a:p>
            <a:r>
              <a:rPr lang="fr-FR" dirty="0"/>
              <a:t>Ce que je vous propose, c’est une feuille de route concrète en trois volets :</a:t>
            </a:r>
          </a:p>
          <a:p>
            <a:r>
              <a:rPr lang="fr-FR" dirty="0"/>
              <a:t>- Un processus qualité rigoureux, parce qu’un projet qui tient la route commence par des fondations solides</a:t>
            </a:r>
          </a:p>
          <a:p>
            <a:r>
              <a:rPr lang="fr-FR" dirty="0"/>
              <a:t>- Un POC fonctionnel déjà livré et mesuré, pour prouver que ça marche — pas juste en promettre</a:t>
            </a:r>
          </a:p>
          <a:p>
            <a:r>
              <a:rPr lang="fr-FR" dirty="0"/>
              <a:t>- Un audit de sécurité complet avec un plan d’action, parce que la confiance de vos clients en dépend</a:t>
            </a:r>
          </a:p>
          <a:p>
            <a:endParaRPr lang="fr-FR" dirty="0"/>
          </a:p>
          <a:p>
            <a:r>
              <a:rPr lang="fr-FR" dirty="0"/>
              <a:t>On y va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présentation se découpe en trois parties.
PARTIE 1 — Processus Qualité :
- 4 métriques ISO 25010 : les indicateurs choisis pour mesurer objectivement la qualité du code — couverture de tests, vulnérabilités, performance et maintenabilité.
- Politique de tests DevSecOps : comment la sécurité est intégrée à chaque étape du cycle de vie, du plan au déploiement.
- Pipeline CI/CD 11 jobs : le schéma complet de la chaîne d'intégration et de livraison continue mise en place sur GitHub Actions.
- Compétences &amp; formation : cartographie de l'équipe nécessaire et proposition de formation pour monter en compétences.
PARTIE 2 — Développement &amp; Déploiement :
- Backlog &amp; User Stories : les 4 fonctionnalités formalisées avant le développement — profil agrégé, authentification, catalogue produits, notifications.
- Architecture BFF / POC : le pattern Backend For Frontend retenu et validé en bac à sable avant intégration.
- Disponibilité &amp; montée en charge : les mécanismes garantissant que l'application reste disponible en production — health check, restart automatique, persistance des données.
- Résultats &amp; chiffres clés : les métriques concrètes issues des tests — 59 tests, 79% de couverture, p95 &lt; 200ms, 0 CVE critique.
PARTIE 3 — Sécurité &amp; Remédiation :
- Politique sécurité OWASP Top 10 : audit de la v1 selon le référentiel OWASP — 7 vulnérabilités identifiées dont 2 critiques.
- Plan de remédiation 3 sprints : traitement progressif des risques, du critique à la réduction de surface d'attaque.
- Mesures préventives v2 : les 3 dispositifs proactifs prévus pour la prochaine version — Vault, DAST, Dependabot.
- Bilan de la mission : récapitulatif de ce qui a été livré, mesuré, et les perspectives pour la v2.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Posons le décor. Voici où vous en êtes, et voici ce que je vous propose.</a:t>
            </a:r>
          </a:p>
          <a:p>
            <a:endParaRPr lang="fr-FR" dirty="0"/>
          </a:p>
          <a:p>
            <a:r>
              <a:rPr lang="fr-FR" dirty="0"/>
              <a:t>🏚 L’entreprise : 10 ans dans le secteur horrifique, une marque qui a fait ses preuves. Mais côté digital ? Un CMS basique, pas de vente en ligne, pas de plateforme unifiée. Vos concurrents avancent, et chaque mois sans plateforme, c’est du chiffre d’affaires qui vous échappe.</a:t>
            </a:r>
          </a:p>
          <a:p>
            <a:endParaRPr lang="fr-FR" dirty="0"/>
          </a:p>
          <a:p>
            <a:r>
              <a:rPr lang="fr-FR" dirty="0"/>
              <a:t>🎯 La mission : a été de construire la v1 de votre plateforme numérique.</a:t>
            </a:r>
          </a:p>
          <a:p>
            <a:r>
              <a:rPr lang="fr-FR" dirty="0"/>
              <a:t>Une base technique solide, testée, sécurisée, sur laquelle la v2 s’appuiera directement.</a:t>
            </a:r>
          </a:p>
          <a:p>
            <a:r>
              <a:rPr lang="fr-FR" dirty="0"/>
              <a:t>Chaque euro investi aujourd’hui accélère la suite.</a:t>
            </a:r>
          </a:p>
          <a:p>
            <a:endParaRPr lang="fr-FR" dirty="0"/>
          </a:p>
          <a:p>
            <a:r>
              <a:rPr lang="fr-FR" dirty="0"/>
              <a:t>👨‍💻 Mon rôle de Lead </a:t>
            </a:r>
            <a:r>
              <a:rPr lang="fr-FR" dirty="0" err="1"/>
              <a:t>Developer</a:t>
            </a:r>
            <a:r>
              <a:rPr lang="fr-FR" dirty="0"/>
              <a:t> :</a:t>
            </a:r>
          </a:p>
          <a:p>
            <a:r>
              <a:rPr lang="fr-FR" dirty="0"/>
              <a:t>- Structurer le processus qualité pour que le code soit fiable dès le départ</a:t>
            </a:r>
          </a:p>
          <a:p>
            <a:r>
              <a:rPr lang="fr-FR" dirty="0"/>
              <a:t>- Livrer un POC fonctionnel qui valide les choix techniques</a:t>
            </a:r>
          </a:p>
          <a:p>
            <a:r>
              <a:rPr lang="fr-FR" dirty="0"/>
              <a:t>- Réaliser un audit de sécurité complet avec un plan d’action.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Commençons par le processus qualité. La question que vous vous posez légitimement : comment je m'assure que ce qu'on vous livre est fiable, et pas juste un prototype qui tient avec du scotch ?</a:t>
            </a:r>
          </a:p>
          <a:p>
            <a:endParaRPr lang="fr-FR" dirty="0"/>
          </a:p>
          <a:p>
            <a:r>
              <a:rPr lang="fr-FR" dirty="0"/>
              <a:t>Je vais vous montrer 4 choses concrètes :</a:t>
            </a:r>
          </a:p>
          <a:p>
            <a:r>
              <a:rPr lang="fr-FR" dirty="0"/>
              <a:t>- Les indicateurs ISO 25010 qu'on mesure automatiquement à chaque livraison — pas d'estimation au doigt mouillé</a:t>
            </a:r>
          </a:p>
          <a:p>
            <a:r>
              <a:rPr lang="fr-FR" dirty="0"/>
              <a:t>- L'approche DevSecOps qui intègre la sécurité dès le départ — pas en fin de projet quand il est trop tard</a:t>
            </a:r>
          </a:p>
          <a:p>
            <a:r>
              <a:rPr lang="fr-FR" dirty="0"/>
              <a:t>- Le pipeline de 11 jobs qui automatise tout ça — zéro intervention manuelle, zéro oubli</a:t>
            </a:r>
          </a:p>
          <a:p>
            <a:r>
              <a:rPr lang="fr-FR" dirty="0"/>
              <a:t>- L'équipe nécessaire pour faire tourner ce type de projet — et la formation qui va avec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4 indicateurs présentés ici sont directement issus de la norme ISO 25010, qui définit la qualité logicielle selon plusieurs dimensions. Ce ne sont pas des métriques décoratives — elles sont mesurées automatiquement à chaque build.
Couverture de tests (Fiabilité) : 78,95% de classes couvertes (59,11% de lignes), mesurée par PHPUnit avec l'extension PCOV. C'est un seuil bloquant dans le pipeline — si la couverture baisse, le build échoue et le déploiement est stoppé.
Vulnérabilités 0-day (Sécurité) : 0 CVE CRITICAL détectées par Trivy, qui scanne à la fois les dépendances et l'image Docker finale. Ce résultat est validé à chaque build, pas juste une fois.
Temps de réponse p95 (Performance) : toutes les requêtes répondent en moins de 200ms au 95e percentile. Mesuré sous charge simulée par k6 — c'est un indicateur réaliste, pas un test à vide.
Code smells / duplications (Maintenabilité) : SonarCloud analyse en continu le code poussé sur GitHub et remonte les duplications, les mauvaises pratiques et la dette technique. L'objectif est de garder un code maintenable dans le temps.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principe du DevSecOps, c'est ce qu'on appelle le 'Shift Left Security' : intégrer les contrôles de sécurité le plus tôt possible dans le cycle de développement, plutôt que de tout auditer à la fin quand il est trop tard.
Plan : dès cette phase, on formalise les besoins sous forme de Backlog et User Stories. Définir les critères d'acceptance dès le départ, c'est aussi une forme de prévention des erreurs.
Code : à chaque push, un SAST — analyse statique du code source — et un npm audit vérifient qu'aucune vulnérabilité n'est introduite par le développeur.
Build : Docker construit l'image et Trivy scanne immédiatement le système de fichiers pour détecter les CVE dans les dépendances installées. Si une faille est trouvée, le build s'arrête.
Test : PHPUnit pour les tests unitaires et k6 pour les tests end-to-end de performance. La qualité fonctionnelle est vérifiée avant tout déploiement.
Deploy : le déploiement est assuré par un runner self-hosted sur ma machine locale, qui gère les environnements staging et production de manière automatisée.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pipeline complet de 11 jobs organisé en 6 étapes de gauche à droite. Chaque étape doit être complétée avant que la suivante puisse démarrer.
① INSTALL : installation des dépendances — prérequis de tous les autres jobs.
② SECURITY · TESTS — 4 jobs en parallèle :
- sast / npm-audit : analyse statique du code et audit des dépendances JavaScript
- trivy fs-audit : scan du système de fichiers pour les CVE dans les librairies installées
- unit-test : exécution complète de la suite PHPUnit
- e2e-test : tests de bout en bout
③ QUALITY — 2 jobs en parallèle :
- sonar : analyse SonarCloud de la qualité du code et de la dette technique
- k6 smoke-test : test de performance léger pour valider les temps de réponse
④ BUILD : construction de l'image Docker finale. S'exécute exclusivement sur le self-hosted runner.
⑤ SCAN : Trivy scanne l'image Docker construite. Si une CVE critique est trouvée, le déploiement est bloqué.
⑥ DEPLOY — 2 environnements en parallèle :
- staging sur le port 8089 : environnement de recette
- production sur le port 8088 : environnement de production
Les étapes ④ ⑤ ⑥ s'exécutent uniquement sur le self-hosted runner car elles nécessitent l'accès à l'infrastructure locale.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mener ce type de projet, 4 profils complémentaires sont nécessaires.
Lead Developer (×1) : responsable de l'architecture globale, de la mise en place du CI/CD, de la politique de sécurité et de l'approche DevSecOps. C'est le rôle que j'ai endossé sur ce POC. Il est le garant de la cohérence technique.
Dev Backend (×2) : développeurs PHP/Symfony en charge des APIs, des services internes et des tests unitaires. 2 profils car c'est le cœur de l'application — le plus grand volume de code.
Dev Frontend (×1) : développeur JavaScript avec Stimulus et Asset Mapper, en charge de l'interface utilisateur et de l'intégration côté navigateur.
DevOps (×1) : ingénieur infrastructure, responsable de Docker, de la chaîne CI/CD GitHub Actions, et de la future migration vers Kubernetes.
Formation proposée — CKA (Certified Kubernetes Administrator) :
C'est la certification de référence pour l'administration Kubernetes, délivrée par la Linux Foundation. 3 mois de formation entièrement en ligne. Pourquoi cette formation ? Parce que Kubernetes est l'étape suivante pour passer à une vraie scalabilité horizontale — c'est directement dans la roadmap v2 du projet.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Passons à la réalisation. Vous avez vu comment on garantit la qualité — maintenant, voyons ce qu'on a concrètement construit pour vous.</a:t>
            </a:r>
          </a:p>
          <a:p>
            <a:endParaRPr lang="fr-FR" dirty="0"/>
          </a:p>
          <a:p>
            <a:r>
              <a:rPr lang="fr-FR" dirty="0"/>
              <a:t>La question clé : comment on passe de vos besoins métier à une application fonctionnelle, testée et déployée en production ?</a:t>
            </a:r>
          </a:p>
          <a:p>
            <a:endParaRPr lang="fr-FR" dirty="0"/>
          </a:p>
          <a:p>
            <a:r>
              <a:rPr lang="fr-FR" dirty="0"/>
              <a:t>Je vais vous montrer 4 choses :</a:t>
            </a:r>
          </a:p>
          <a:p>
            <a:r>
              <a:rPr lang="fr-FR" dirty="0"/>
              <a:t>- Comment vos besoins ont été formalisés avant d'écrire une seule ligne de code — le Backlog et les User Stories</a:t>
            </a:r>
          </a:p>
          <a:p>
            <a:r>
              <a:rPr lang="fr-FR" dirty="0"/>
              <a:t>- L'architecture technique retenue et pourquoi — le pattern BFF qui structure tout</a:t>
            </a:r>
          </a:p>
          <a:p>
            <a:r>
              <a:rPr lang="fr-FR" dirty="0"/>
              <a:t>- Les expérimentations en bac à sable pour valider chaque brique avant intégration — on ne joue pas à la roulette avec votre investissement</a:t>
            </a:r>
          </a:p>
          <a:p>
            <a:r>
              <a:rPr lang="fr-FR" dirty="0"/>
              <a:t>- Et les résultats concrets, chiffrés, mesurés — pas des promesses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US-01</a:t>
            </a:r>
          </a:p>
          <a:p>
            <a:r>
              <a:rPr lang="en-US" dirty="0" err="1"/>
              <a:t>Profil</a:t>
            </a:r>
            <a:r>
              <a:rPr lang="en-US" dirty="0"/>
              <a:t> utilisateur agrégé : le BFF expose un endpoint GET /api/profile/{id} qui agrège les données de plusieurs services internes.</a:t>
            </a:r>
          </a:p>
          <a:p>
            <a:r>
              <a:rPr lang="en-US" dirty="0"/>
              <a:t>Si un service est indisponible, l'API répond avec un statut 206 — Partial Content — plutôt que d'échouer </a:t>
            </a:r>
            <a:r>
              <a:rPr lang="en-US" dirty="0" err="1"/>
              <a:t>complètement</a:t>
            </a:r>
            <a:r>
              <a:rPr lang="en-US" dirty="0"/>
              <a:t>.</a:t>
            </a:r>
          </a:p>
          <a:p>
            <a:r>
              <a:rPr lang="en-US" dirty="0"/>
              <a:t>Le cache de 60 secondes réduit la charge sur les services internes.
US-02 — Authentification </a:t>
            </a:r>
            <a:r>
              <a:rPr lang="en-US" dirty="0" err="1"/>
              <a:t>Keycloak</a:t>
            </a:r>
            <a:r>
              <a:rPr lang="en-US" dirty="0"/>
              <a:t> : mise </a:t>
            </a:r>
            <a:r>
              <a:rPr lang="en-US" dirty="0" err="1"/>
              <a:t>en</a:t>
            </a:r>
            <a:r>
              <a:rPr lang="en-US" dirty="0"/>
              <a:t> place du </a:t>
            </a:r>
            <a:r>
              <a:rPr lang="en-US" dirty="0" err="1"/>
              <a:t>protocole</a:t>
            </a:r>
            <a:r>
              <a:rPr lang="en-US" dirty="0"/>
              <a:t> OAuth2
US-03 — Catalogue produits : endpoint public GET /api/products accessible sans authentification. C'est délibéré — la navigation sur le catalogue doit fonctionner sans connexion pour favoriser la conversion.
US-04 — Notifications asynchrones : Symfony Messenger gère les notifications de manière </a:t>
            </a:r>
            <a:r>
              <a:rPr lang="en-US" dirty="0" err="1"/>
              <a:t>asynchrone</a:t>
            </a:r>
            <a:r>
              <a:rPr lang="en-US"/>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repose sur le pattern BFF — Backend For Frontend. Je vais vous expliquer chaque couche de gauche à droite.
ENTRÉE :
- CLIENT (Navigateur) : le client n'a qu'un seul point d'entrée — il ne connaît pas la structure interne.
- Keycloak : gestionnaire d'identité OAuth2/OIDC — tous les accès protégés passent par lui. L'application Symfony ne gère jamais directement les mots de passe.
GATEWAY / BFF : le cerveau de l'architecture. </a:t>
            </a:r>
            <a:r>
              <a:rPr lang="en-US" dirty="0" err="1"/>
              <a:t>Interroge</a:t>
            </a:r>
            <a:r>
              <a:rPr lang="en-US" dirty="0"/>
              <a:t> UserService et SubscriptionService, consolide les réponses et sert une réponse unifiée. Le cache filesystem de 60 secondes évite les appels répétés. Si un service est KO, il répond 206 Partial Content.
SERVICES : services internes exposés sur /internal/* — non accessibles depuis l'extérieur, uniquement appelés par le BFF.
APPLICATION : Symfony 6.4 avec Controllers pour les routes, Messenger pour les messages asynchrones, Security pour le contrôle d'accès.
INFRASTRUCTURE :
- PostgreSQL via Doctrine ORM pour la persistance des données
- Messenger avec le transport sync:// en v1. Le passage à AMQP (RabbitMQ) est prévu en v2 sans modification du code applicatif
- Monolog pour les logs JSON structurés et indexables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technologie clé a été expérimentée dans un bac à sable isolé avant toute intégration. L'objectif : valider les choix techniques et détecter les problèmes tôt, pas en production.
BFF ApiAggregator ✅ Validé : la logique d'agrégation multi-services avec cache filesystem fonctionne. Le comportement dégradé est maîtrisé — retour 206 si un service est KO.
Keycloak OAuth2 ✅ Validé : le SSO fonctionne en local.
Symfony Messenger ✅ Validé : </a:t>
            </a:r>
            <a:r>
              <a:rPr lang="en-US" dirty="0" err="1"/>
              <a:t>zéro</a:t>
            </a:r>
            <a:r>
              <a:rPr lang="en-US" dirty="0"/>
              <a:t> modification du code applicatif entre les deux.
GitHub Actions ✅ Validé : le self-hosted runner sous Windows exécute les 11 jobs. Le déploiement automatique vers staging et production fonctionne à chaque push sur la branche main.
Docker / Apache ⚠️ Problème résolu : c'est la difficulté technique principale rencontrée. mod_php sous Apache ne transmet pas automatiquement les variables d'environnement Docker à PHP. La solution : ajouter une directive SetEnv explicite dans la configuration Apache pour chaque variable nécessaire.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4 chiffres constituent la preuve concrète de la qualité de la livraison. Ce ne sont pas des estimations — ils sont mesurés automatiquement dans le pipeline CI/CD.
59 tests PHPUnit : suite complète couvrant toutes les User Stories avec 186 assertions individuelles. Zéro échec. Chaque fonctionnalité est vérifiée automatiquement à chaque build.
78,95% couverture de classes : la couverture de classes est l'indicateur le plus pertinent car elle garantit que chaque composant est exercé par un test. 59,11% de lignes est l'indicateur affiché dans la slide ISO 25010 — les deux sont mesurés.
35/35 checks k6 : les 35 scénarios de charge définis dans le script k6 passent tous avec succès. Le 95e percentile des temps de réponse est inférieur à 200ms et le taux d'erreur est de 0%.
0 CVE Critical : Trivy scanne l'image Docker finale construite par le pipeline et ne remonte aucune vulnérabilité critique. C'est le résultat d'un choix d'image de base maintenue et des scans intégrés dès le build.
La barre verte en bas rappelle que tout ça est produit par le pipeline complet — de l'installation jusqu'au déploiement en production.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Restart automatique — --restart=unless-stopped : si le conteneur crashe pour n'importe quelle raison (erreur applicative, manque mémoire), Docker le redémarre automatiquement. L'application revient en ligne sans intervention humaine. La seule exception : si on l'arrête volontairement (unless-stopped).
🏥 Health check /healthy : le pipeline effectue 12 tentatives espacées de 5 secondes pour vérifier que le conteneur est bien opérationnel avant de déclarer le déploiement réussi. Le endpoint /healthy vérifie deux choses : la connexion à la base de données ET la disponibilité de l'application Symfony.
🗄️ Persistance des données — volume lpmde_pg_data : les données PostgreSQL sont stockées dans un volume Docker nommé qui survit aux redéploiements. Mettre à jour l'application n'efface pas les données — c'est fondamental en production.
⚡ Performance validée k6 : les tests de charge confirment que l'application tient la charge simulée. 35 checks réussis avec un p95 sous 200ms. C'est une validation quantifiée, pas juste une impression.
Roadmap scalabilité : ces mécanismes garantissent la disponibilité sur un seul serveur. La vraie haute disponibilité horizontale — multi-instances, load balancer, SLA 99,9% — nécessite Kubernetes, qui est dans la roadmap v2, conditionné par la validation de la formation CKA proposée en slide 8.</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0DB8F-5ADD-8A8B-DD17-7D7C6A1F7D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D23122-083C-4240-8FE6-B8D048FF8D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5DA474-496B-6016-060F-D5AFDE397056}"/>
              </a:ext>
            </a:extLst>
          </p:cNvPr>
          <p:cNvSpPr>
            <a:spLocks noGrp="1"/>
          </p:cNvSpPr>
          <p:nvPr>
            <p:ph type="body" idx="1"/>
          </p:nvPr>
        </p:nvSpPr>
        <p:spPr/>
        <p:txBody>
          <a:bodyPr/>
          <a:lstStyle/>
          <a:p>
            <a:r>
              <a:rPr lang="fr-FR" dirty="0"/>
              <a:t>Voici le résultat de l'audit OWASP Top 10 sur la v1. Je préfère être transparent avec vous : j'ai identifié 7 vulnérabilités. Et c'est une bonne nouvelle — parce que les connaître, c'est pouvoir les traiter avant qu'elles ne deviennent un problème en production.</a:t>
            </a:r>
          </a:p>
          <a:p>
            <a:endParaRPr lang="fr-FR" dirty="0"/>
          </a:p>
          <a:p>
            <a:r>
              <a:rPr lang="fr-FR" dirty="0"/>
              <a:t>V-01 — CRITIQUE : le contrôle d'accès désactivé en dev. Si cette config fuit en production, n'importe qui accède à tout. C'est le type de faille qui fait la une des journaux.</a:t>
            </a:r>
          </a:p>
          <a:p>
            <a:endParaRPr lang="fr-FR" dirty="0"/>
          </a:p>
          <a:p>
            <a:r>
              <a:rPr lang="fr-FR" dirty="0"/>
              <a:t>V-02 — HAUTE : connexions PostgreSQL sans chiffrement SSL. Vos données transitent en clair sur le réseau.</a:t>
            </a:r>
          </a:p>
          <a:p>
            <a:endParaRPr lang="fr-FR" dirty="0"/>
          </a:p>
          <a:p>
            <a:r>
              <a:rPr lang="fr-FR" dirty="0"/>
              <a:t>V-03 — CRITIQUE : la clé secrète Symfony potentiellement exposée. Si elle fuite, un attaquant peut forger des sessions et se faire passer pour n'importe quel utilisateur.</a:t>
            </a:r>
          </a:p>
          <a:p>
            <a:endParaRPr lang="fr-FR" dirty="0"/>
          </a:p>
          <a:p>
            <a:r>
              <a:rPr lang="fr-FR" dirty="0"/>
              <a:t>V-04 — HAUTE : pas de rate limiting sur l'API. Sans protection, un script peut marteler vos endpoints sans limite.</a:t>
            </a:r>
          </a:p>
          <a:p>
            <a:endParaRPr lang="fr-FR" dirty="0"/>
          </a:p>
          <a:p>
            <a:r>
              <a:rPr lang="fr-FR" dirty="0"/>
              <a:t>V-05 — MOYENNE : headers de sécurité CSP et HSTS absents. Le navigateur est plus exposé aux attaques XSS.</a:t>
            </a:r>
          </a:p>
          <a:p>
            <a:endParaRPr lang="fr-FR" dirty="0"/>
          </a:p>
          <a:p>
            <a:r>
              <a:rPr lang="fr-FR" dirty="0"/>
              <a:t>V-06 — MOYENNE : logs non anonymisés — non conforme RGPD.</a:t>
            </a:r>
          </a:p>
          <a:p>
            <a:endParaRPr lang="fr-FR" dirty="0"/>
          </a:p>
          <a:p>
            <a:r>
              <a:rPr lang="fr-FR" dirty="0"/>
              <a:t>V-07 — BASSE : image Docker trop volumineuse — surface d'attaque inutilement large.</a:t>
            </a:r>
          </a:p>
          <a:p>
            <a:endParaRPr lang="fr-FR" dirty="0"/>
          </a:p>
          <a:p>
            <a:r>
              <a:rPr lang="fr-FR" dirty="0"/>
              <a:t>Chacune de ces vulnérabilités a une remédiation identifiée. On verra le plan d'action juste après.</a:t>
            </a:r>
          </a:p>
        </p:txBody>
      </p:sp>
      <p:sp>
        <p:nvSpPr>
          <p:cNvPr id="4" name="Slide Number Placeholder 3">
            <a:extLst>
              <a:ext uri="{FF2B5EF4-FFF2-40B4-BE49-F238E27FC236}">
                <a16:creationId xmlns:a16="http://schemas.microsoft.com/office/drawing/2014/main" id="{12812E31-F1E5-5EE5-2A25-A4A93C05BED1}"/>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755965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J'ai</a:t>
            </a:r>
            <a:r>
              <a:rPr lang="en-US" dirty="0"/>
              <a:t> </a:t>
            </a:r>
            <a:r>
              <a:rPr lang="en-US" dirty="0" err="1"/>
              <a:t>audité</a:t>
            </a:r>
            <a:r>
              <a:rPr lang="en-US" dirty="0"/>
              <a:t> la v1 </a:t>
            </a:r>
            <a:r>
              <a:rPr lang="en-US" dirty="0" err="1"/>
              <a:t>selon</a:t>
            </a:r>
            <a:r>
              <a:rPr lang="en-US" dirty="0"/>
              <a:t> le </a:t>
            </a:r>
            <a:r>
              <a:rPr lang="en-US" dirty="0" err="1"/>
              <a:t>référentiel</a:t>
            </a:r>
            <a:r>
              <a:rPr lang="en-US" dirty="0"/>
              <a:t> OWASP Top 10. </a:t>
            </a:r>
            <a:r>
              <a:rPr lang="en-US" dirty="0" err="1"/>
              <a:t>Résultat</a:t>
            </a:r>
            <a:r>
              <a:rPr lang="en-US" dirty="0"/>
              <a:t> : 7 </a:t>
            </a:r>
            <a:r>
              <a:rPr lang="en-US" dirty="0" err="1"/>
              <a:t>vulnérabilités</a:t>
            </a:r>
            <a:r>
              <a:rPr lang="en-US" dirty="0"/>
              <a:t> </a:t>
            </a:r>
            <a:r>
              <a:rPr lang="en-US" dirty="0" err="1"/>
              <a:t>identifiées</a:t>
            </a:r>
            <a:r>
              <a:rPr lang="en-US" dirty="0"/>
              <a:t>
V-01 — CRITIQUE : </a:t>
            </a:r>
            <a:r>
              <a:rPr lang="en-US" dirty="0" err="1"/>
              <a:t>access_control</a:t>
            </a:r>
            <a:r>
              <a:rPr lang="en-US" dirty="0"/>
              <a:t> </a:t>
            </a:r>
            <a:r>
              <a:rPr lang="en-US" dirty="0" err="1"/>
              <a:t>en</a:t>
            </a:r>
            <a:r>
              <a:rPr lang="en-US" dirty="0"/>
              <a:t> [] </a:t>
            </a:r>
            <a:r>
              <a:rPr lang="en-US" dirty="0" err="1"/>
              <a:t>en</a:t>
            </a:r>
            <a:r>
              <a:rPr lang="en-US" dirty="0"/>
              <a:t> </a:t>
            </a:r>
            <a:r>
              <a:rPr lang="en-US" dirty="0" err="1"/>
              <a:t>développement</a:t>
            </a:r>
            <a:r>
              <a:rPr lang="en-US" dirty="0"/>
              <a:t>. La configuration Symfony </a:t>
            </a:r>
            <a:r>
              <a:rPr lang="en-US" dirty="0" err="1"/>
              <a:t>désactive</a:t>
            </a:r>
            <a:r>
              <a:rPr lang="en-US" dirty="0"/>
              <a:t> le </a:t>
            </a:r>
            <a:r>
              <a:rPr lang="en-US" dirty="0" err="1"/>
              <a:t>contrôle</a:t>
            </a:r>
            <a:r>
              <a:rPr lang="en-US" dirty="0"/>
              <a:t> </a:t>
            </a:r>
            <a:r>
              <a:rPr lang="en-US" dirty="0" err="1"/>
              <a:t>d'accès</a:t>
            </a:r>
            <a:r>
              <a:rPr lang="en-US" dirty="0"/>
              <a:t> </a:t>
            </a:r>
            <a:r>
              <a:rPr lang="en-US" dirty="0" err="1"/>
              <a:t>en</a:t>
            </a:r>
            <a:r>
              <a:rPr lang="en-US" dirty="0"/>
              <a:t> </a:t>
            </a:r>
            <a:r>
              <a:rPr lang="en-US" dirty="0" err="1"/>
              <a:t>environnement</a:t>
            </a:r>
            <a:r>
              <a:rPr lang="en-US" dirty="0"/>
              <a:t> de dev. </a:t>
            </a:r>
            <a:r>
              <a:rPr lang="en-US" dirty="0" err="1"/>
              <a:t>C'est</a:t>
            </a:r>
            <a:r>
              <a:rPr lang="en-US" dirty="0"/>
              <a:t> </a:t>
            </a:r>
            <a:r>
              <a:rPr lang="en-US" dirty="0" err="1"/>
              <a:t>tolérable</a:t>
            </a:r>
            <a:r>
              <a:rPr lang="en-US" dirty="0"/>
              <a:t> </a:t>
            </a:r>
            <a:r>
              <a:rPr lang="en-US" dirty="0" err="1"/>
              <a:t>localement</a:t>
            </a:r>
            <a:r>
              <a:rPr lang="en-US" dirty="0"/>
              <a:t>, </a:t>
            </a:r>
            <a:r>
              <a:rPr lang="en-US" dirty="0" err="1"/>
              <a:t>mais</a:t>
            </a:r>
            <a:r>
              <a:rPr lang="en-US" dirty="0"/>
              <a:t> </a:t>
            </a:r>
            <a:r>
              <a:rPr lang="en-US" dirty="0" err="1"/>
              <a:t>dangereux</a:t>
            </a:r>
            <a:r>
              <a:rPr lang="en-US" dirty="0"/>
              <a:t> </a:t>
            </a:r>
            <a:r>
              <a:rPr lang="en-US" dirty="0" err="1"/>
              <a:t>si</a:t>
            </a:r>
            <a:r>
              <a:rPr lang="en-US" dirty="0"/>
              <a:t> </a:t>
            </a:r>
            <a:r>
              <a:rPr lang="en-US" dirty="0" err="1"/>
              <a:t>cet</a:t>
            </a:r>
            <a:r>
              <a:rPr lang="en-US" dirty="0"/>
              <a:t> </a:t>
            </a:r>
            <a:r>
              <a:rPr lang="en-US" dirty="0" err="1"/>
              <a:t>environnement</a:t>
            </a:r>
            <a:r>
              <a:rPr lang="en-US" dirty="0"/>
              <a:t> est exposé </a:t>
            </a:r>
            <a:r>
              <a:rPr lang="en-US" dirty="0" err="1"/>
              <a:t>ou</a:t>
            </a:r>
            <a:r>
              <a:rPr lang="en-US" dirty="0"/>
              <a:t> </a:t>
            </a:r>
            <a:r>
              <a:rPr lang="en-US" dirty="0" err="1"/>
              <a:t>si</a:t>
            </a:r>
            <a:r>
              <a:rPr lang="en-US" dirty="0"/>
              <a:t> la config est </a:t>
            </a:r>
            <a:r>
              <a:rPr lang="en-US" dirty="0" err="1"/>
              <a:t>copiée</a:t>
            </a:r>
            <a:r>
              <a:rPr lang="en-US" dirty="0"/>
              <a:t> </a:t>
            </a:r>
            <a:r>
              <a:rPr lang="en-US" dirty="0" err="1"/>
              <a:t>en</a:t>
            </a:r>
            <a:r>
              <a:rPr lang="en-US" dirty="0"/>
              <a:t> production par </a:t>
            </a:r>
            <a:r>
              <a:rPr lang="en-US" dirty="0" err="1"/>
              <a:t>erreur</a:t>
            </a:r>
            <a:r>
              <a:rPr lang="en-US" dirty="0"/>
              <a:t>.
V-02 — HAUTE : </a:t>
            </a:r>
            <a:r>
              <a:rPr lang="en-US" dirty="0" err="1"/>
              <a:t>connexions</a:t>
            </a:r>
            <a:r>
              <a:rPr lang="en-US" dirty="0"/>
              <a:t> PostgreSQL sans SSL/TLS. Les communications entre </a:t>
            </a:r>
            <a:r>
              <a:rPr lang="en-US" dirty="0" err="1"/>
              <a:t>l'application</a:t>
            </a:r>
            <a:r>
              <a:rPr lang="en-US" dirty="0"/>
              <a:t> et la base de données ne </a:t>
            </a:r>
            <a:r>
              <a:rPr lang="en-US" dirty="0" err="1"/>
              <a:t>sont</a:t>
            </a:r>
            <a:r>
              <a:rPr lang="en-US" dirty="0"/>
              <a:t> pas </a:t>
            </a:r>
            <a:r>
              <a:rPr lang="en-US" dirty="0" err="1"/>
              <a:t>chiffrées</a:t>
            </a:r>
            <a:r>
              <a:rPr lang="en-US" dirty="0"/>
              <a:t>. Sur un réseau interne </a:t>
            </a:r>
            <a:r>
              <a:rPr lang="en-US" dirty="0" err="1"/>
              <a:t>cela</a:t>
            </a:r>
            <a:r>
              <a:rPr lang="en-US" dirty="0"/>
              <a:t> </a:t>
            </a:r>
            <a:r>
              <a:rPr lang="en-US" dirty="0" err="1"/>
              <a:t>peut</a:t>
            </a:r>
            <a:r>
              <a:rPr lang="en-US" dirty="0"/>
              <a:t> </a:t>
            </a:r>
            <a:r>
              <a:rPr lang="en-US" dirty="0" err="1"/>
              <a:t>sembler</a:t>
            </a:r>
            <a:r>
              <a:rPr lang="en-US" dirty="0"/>
              <a:t> acceptable, </a:t>
            </a:r>
            <a:r>
              <a:rPr lang="en-US" dirty="0" err="1"/>
              <a:t>mais</a:t>
            </a:r>
            <a:r>
              <a:rPr lang="en-US" dirty="0"/>
              <a:t> </a:t>
            </a:r>
            <a:r>
              <a:rPr lang="en-US" dirty="0" err="1"/>
              <a:t>c'est</a:t>
            </a:r>
            <a:r>
              <a:rPr lang="en-US" dirty="0"/>
              <a:t> </a:t>
            </a:r>
            <a:r>
              <a:rPr lang="en-US" dirty="0" err="1"/>
              <a:t>une</a:t>
            </a:r>
            <a:r>
              <a:rPr lang="en-US" dirty="0"/>
              <a:t> non-</a:t>
            </a:r>
            <a:r>
              <a:rPr lang="en-US" dirty="0" err="1"/>
              <a:t>conformité</a:t>
            </a:r>
            <a:r>
              <a:rPr lang="en-US" dirty="0"/>
              <a:t> aux </a:t>
            </a:r>
            <a:r>
              <a:rPr lang="en-US" dirty="0" err="1"/>
              <a:t>bonnes</a:t>
            </a:r>
            <a:r>
              <a:rPr lang="en-US" dirty="0"/>
              <a:t> pratiques de </a:t>
            </a:r>
            <a:r>
              <a:rPr lang="en-US" dirty="0" err="1"/>
              <a:t>sécurité</a:t>
            </a:r>
            <a:r>
              <a:rPr lang="en-US" dirty="0"/>
              <a:t>.
V-03 — CRITIQUE : APP_SECRET </a:t>
            </a:r>
            <a:r>
              <a:rPr lang="en-US" dirty="0" err="1"/>
              <a:t>potentiellement</a:t>
            </a:r>
            <a:r>
              <a:rPr lang="en-US" dirty="0"/>
              <a:t> exposé. Si le </a:t>
            </a:r>
            <a:r>
              <a:rPr lang="en-US" dirty="0" err="1"/>
              <a:t>fichier</a:t>
            </a:r>
            <a:r>
              <a:rPr lang="en-US" dirty="0"/>
              <a:t> .env est accessible </a:t>
            </a:r>
            <a:r>
              <a:rPr lang="en-US" dirty="0" err="1"/>
              <a:t>publiquement</a:t>
            </a:r>
            <a:r>
              <a:rPr lang="en-US" dirty="0"/>
              <a:t> </a:t>
            </a:r>
            <a:r>
              <a:rPr lang="en-US" dirty="0" err="1"/>
              <a:t>ou</a:t>
            </a:r>
            <a:r>
              <a:rPr lang="en-US" dirty="0"/>
              <a:t> </a:t>
            </a:r>
            <a:r>
              <a:rPr lang="en-US" dirty="0" err="1"/>
              <a:t>versionné</a:t>
            </a:r>
            <a:r>
              <a:rPr lang="en-US" dirty="0"/>
              <a:t> dans git, la </a:t>
            </a:r>
            <a:r>
              <a:rPr lang="en-US" dirty="0" err="1"/>
              <a:t>clé</a:t>
            </a:r>
            <a:r>
              <a:rPr lang="en-US" dirty="0"/>
              <a:t> </a:t>
            </a:r>
            <a:r>
              <a:rPr lang="en-US" dirty="0" err="1"/>
              <a:t>secrète</a:t>
            </a:r>
            <a:r>
              <a:rPr lang="en-US" dirty="0"/>
              <a:t> Symfony est compromise — </a:t>
            </a:r>
            <a:r>
              <a:rPr lang="en-US" dirty="0" err="1"/>
              <a:t>ce</a:t>
            </a:r>
            <a:r>
              <a:rPr lang="en-US" dirty="0"/>
              <a:t> qui </a:t>
            </a:r>
            <a:r>
              <a:rPr lang="en-US" dirty="0" err="1"/>
              <a:t>permet</a:t>
            </a:r>
            <a:r>
              <a:rPr lang="en-US" dirty="0"/>
              <a:t> de forger des tokens et des sessions.
V-04 — HAUTE : absence de rate limiting sur /</a:t>
            </a:r>
            <a:r>
              <a:rPr lang="en-US" dirty="0" err="1"/>
              <a:t>api</a:t>
            </a:r>
            <a:r>
              <a:rPr lang="en-US" dirty="0"/>
              <a:t>/*. </a:t>
            </a:r>
            <a:r>
              <a:rPr lang="en-US" dirty="0" err="1"/>
              <a:t>Aucune</a:t>
            </a:r>
            <a:r>
              <a:rPr lang="en-US" dirty="0"/>
              <a:t> protection </a:t>
            </a:r>
            <a:r>
              <a:rPr lang="en-US" dirty="0" err="1"/>
              <a:t>contre</a:t>
            </a:r>
            <a:r>
              <a:rPr lang="en-US" dirty="0"/>
              <a:t> les </a:t>
            </a:r>
            <a:r>
              <a:rPr lang="en-US" dirty="0" err="1"/>
              <a:t>attaques</a:t>
            </a:r>
            <a:r>
              <a:rPr lang="en-US" dirty="0"/>
              <a:t> par force brute, la surcharge </a:t>
            </a:r>
            <a:r>
              <a:rPr lang="en-US" dirty="0" err="1"/>
              <a:t>intentionnelle</a:t>
            </a:r>
            <a:r>
              <a:rPr lang="en-US" dirty="0"/>
              <a:t> </a:t>
            </a:r>
            <a:r>
              <a:rPr lang="en-US" dirty="0" err="1"/>
              <a:t>ou</a:t>
            </a:r>
            <a:r>
              <a:rPr lang="en-US" dirty="0"/>
              <a:t> </a:t>
            </a:r>
            <a:r>
              <a:rPr lang="en-US" dirty="0" err="1"/>
              <a:t>l'abus</a:t>
            </a:r>
            <a:r>
              <a:rPr lang="en-US" dirty="0"/>
              <a:t> de </a:t>
            </a:r>
            <a:r>
              <a:rPr lang="en-US" dirty="0" err="1"/>
              <a:t>l'API</a:t>
            </a:r>
            <a:r>
              <a:rPr lang="en-US" dirty="0"/>
              <a:t>.
V-05 — MOYENNE : headers CSP (</a:t>
            </a:r>
            <a:r>
              <a:rPr lang="fr-FR" sz="1200" b="0" i="0" u="none" strike="noStrike" kern="1200" dirty="0">
                <a:solidFill>
                  <a:schemeClr val="tx1"/>
                </a:solidFill>
                <a:effectLst/>
                <a:latin typeface="+mn-lt"/>
                <a:ea typeface="+mn-ea"/>
                <a:cs typeface="+mn-cs"/>
              </a:rPr>
              <a:t>Content Security Policy</a:t>
            </a:r>
            <a:r>
              <a:rPr lang="en-US" dirty="0"/>
              <a:t>) et HSTS (</a:t>
            </a:r>
            <a:r>
              <a:rPr lang="fr-FR" sz="1200" b="0" i="0" kern="1200" dirty="0">
                <a:solidFill>
                  <a:schemeClr val="tx1"/>
                </a:solidFill>
                <a:effectLst/>
                <a:latin typeface="+mn-lt"/>
                <a:ea typeface="+mn-ea"/>
                <a:cs typeface="+mn-cs"/>
              </a:rPr>
              <a:t>HTTP Strict Transport Security)</a:t>
            </a:r>
            <a:r>
              <a:rPr lang="en-US" b="0" dirty="0"/>
              <a:t> </a:t>
            </a:r>
            <a:r>
              <a:rPr lang="en-US" dirty="0"/>
              <a:t>absents. Sans Content Security Policy </a:t>
            </a:r>
            <a:r>
              <a:rPr lang="en-US" dirty="0" err="1"/>
              <a:t>ni</a:t>
            </a:r>
            <a:r>
              <a:rPr lang="en-US" dirty="0"/>
              <a:t> HTTP Strict Transport Security, le </a:t>
            </a:r>
            <a:r>
              <a:rPr lang="en-US" dirty="0" err="1"/>
              <a:t>navigateur</a:t>
            </a:r>
            <a:r>
              <a:rPr lang="en-US" dirty="0"/>
              <a:t> est plus exposé aux </a:t>
            </a:r>
            <a:r>
              <a:rPr lang="en-US" dirty="0" err="1"/>
              <a:t>attaques</a:t>
            </a:r>
            <a:r>
              <a:rPr lang="en-US" dirty="0"/>
              <a:t> XSS et aux </a:t>
            </a:r>
            <a:r>
              <a:rPr lang="en-US" dirty="0" err="1"/>
              <a:t>connexions</a:t>
            </a:r>
            <a:r>
              <a:rPr lang="en-US" dirty="0"/>
              <a:t> non </a:t>
            </a:r>
            <a:r>
              <a:rPr lang="en-US" dirty="0" err="1"/>
              <a:t>sécurisées</a:t>
            </a:r>
            <a:r>
              <a:rPr lang="en-US" dirty="0"/>
              <a:t>.
V-06 — MOYENNE : logs sans </a:t>
            </a:r>
            <a:r>
              <a:rPr lang="en-US" dirty="0" err="1"/>
              <a:t>anonymisation</a:t>
            </a:r>
            <a:r>
              <a:rPr lang="en-US" dirty="0"/>
              <a:t> RGPD. Les logs Monolog </a:t>
            </a:r>
            <a:r>
              <a:rPr lang="en-US" dirty="0" err="1"/>
              <a:t>peuvent</a:t>
            </a:r>
            <a:r>
              <a:rPr lang="en-US" dirty="0"/>
              <a:t> </a:t>
            </a:r>
            <a:r>
              <a:rPr lang="en-US" dirty="0" err="1"/>
              <a:t>contenir</a:t>
            </a:r>
            <a:r>
              <a:rPr lang="en-US" dirty="0"/>
              <a:t> des </a:t>
            </a:r>
            <a:r>
              <a:rPr lang="en-US" dirty="0" err="1"/>
              <a:t>adresses</a:t>
            </a:r>
            <a:r>
              <a:rPr lang="en-US" dirty="0"/>
              <a:t> IP, emails </a:t>
            </a:r>
            <a:r>
              <a:rPr lang="en-US" dirty="0" err="1"/>
              <a:t>ou</a:t>
            </a:r>
            <a:r>
              <a:rPr lang="en-US" dirty="0"/>
              <a:t> </a:t>
            </a:r>
            <a:r>
              <a:rPr lang="en-US" dirty="0" err="1"/>
              <a:t>autres</a:t>
            </a:r>
            <a:r>
              <a:rPr lang="en-US" dirty="0"/>
              <a:t> données </a:t>
            </a:r>
            <a:r>
              <a:rPr lang="en-US" dirty="0" err="1"/>
              <a:t>personnelles</a:t>
            </a:r>
            <a:r>
              <a:rPr lang="en-US" dirty="0"/>
              <a:t> — non </a:t>
            </a:r>
            <a:r>
              <a:rPr lang="en-US" dirty="0" err="1"/>
              <a:t>conforme</a:t>
            </a:r>
            <a:r>
              <a:rPr lang="en-US" dirty="0"/>
              <a:t> au RGPD.
V-07 — BASSE : image Docker php:8.2-apache </a:t>
            </a:r>
            <a:r>
              <a:rPr lang="en-US" dirty="0" err="1"/>
              <a:t>volumineuse</a:t>
            </a:r>
            <a:r>
              <a:rPr lang="en-US" dirty="0"/>
              <a:t>. Une image large </a:t>
            </a:r>
            <a:r>
              <a:rPr lang="en-US" dirty="0" err="1"/>
              <a:t>augmente</a:t>
            </a:r>
            <a:r>
              <a:rPr lang="en-US" dirty="0"/>
              <a:t> </a:t>
            </a:r>
            <a:r>
              <a:rPr lang="en-US" dirty="0" err="1"/>
              <a:t>inutilement</a:t>
            </a:r>
            <a:r>
              <a:rPr lang="en-US" dirty="0"/>
              <a:t> la surface </a:t>
            </a:r>
            <a:r>
              <a:rPr lang="en-US" dirty="0" err="1"/>
              <a:t>d'attaque</a:t>
            </a:r>
            <a:r>
              <a:rPr lang="en-US" dirty="0"/>
              <a:t> </a:t>
            </a:r>
            <a:r>
              <a:rPr lang="en-US" dirty="0" err="1"/>
              <a:t>potentielle</a:t>
            </a:r>
            <a:r>
              <a:rPr lang="en-US" dirty="0"/>
              <a:t>. Migration vers alpine </a:t>
            </a:r>
            <a:r>
              <a:rPr lang="en-US" dirty="0" err="1"/>
              <a:t>ou</a:t>
            </a:r>
            <a:r>
              <a:rPr lang="en-US" dirty="0"/>
              <a:t> </a:t>
            </a:r>
            <a:r>
              <a:rPr lang="en-US" dirty="0" err="1"/>
              <a:t>distroless</a:t>
            </a:r>
            <a:r>
              <a:rPr lang="en-US" dirty="0"/>
              <a:t> </a:t>
            </a:r>
            <a:r>
              <a:rPr lang="en-US" dirty="0" err="1"/>
              <a:t>recommandée</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sprints 1 et 2 sont des correctifs immédiats de la v1 — ils doivent être appliqués avant toute mise en production réelle. Le sprint 3 relève de la préparation de la v2.
Le plan est organisé en 3 sprints progressifs selon la criticité — du plus urgent au préventif.
Sprint 1 — Immédiat (vulnérabilités critiques) :
• Activer access_control en production : supprimer ou conditionner le tableau vide [] dans la configuration Symfony Security. Action technique simple, impact immédiat.
• Secrets via GitHub Secrets / Vault : l'APP_SECRET et tous les credentials ne doivent jamais être en clair dans le fichier .env du dépôt. GitHub Secrets est la solution rapide, Vault est la solution robuste prévue en v2.
• Activer SSL/TLS sur PostgreSQL : chiffrer les connexions entre l'application et la base de données pour protéger les données en transit.
Impact attendu : les 2 vulnérabilités critiques sont résolues.
Sprint 2 — 1 mois (vulnérabilités hautes) :
• Rate limiting Symfony : utiliser le composant RateLimiter natif de Symfony sur tous les endpoints /api/* pour bloquer les abus.
• Headers CSP / HSTS : configurer Apache ou Symfony pour ajouter systématiquement les headers de sécurité obligatoires à chaque réponse.
• Anonymisation des logs RGPD : masquer les données personnelles dans Monolog via un processeur dédié.
Impact attendu : les vulnérabilités de niveau HAUTE sont résolues.
Sprint 3 — 3 mois (réduction de surface d'attaque) :
• Image Docker alpine ou distroless : réduire l'image à l'essentiel pour minimiser les CVE potentielles.
• WAF en frontal : pare-feu applicatif pour filtrer les requêtes malveillantes avant qu'elles atteignent l'application.
• Audit RGPD complet : revue exhaustive de tous les traitements de données personnelles.
Impact attendu : la surface d'attaque globale est significativement réduite.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v2, la posture de sécurité devient proactive — on anticipe les risques au lieu de les subir.
01 — Secrets Management avec HashiCorp Vault :
Le problème actuel : les secrets sont dans des variables d'environnement. Vault centralise et chiffre tous les secrets dans un coffre-fort dédié. La rotation automatique des clés garantit qu'un secret potentiellement compromis est invalidé sans intervention humaine. L'audit trail enregistre chaque accès pour une traçabilité complète — utile en cas d'incident.
02 — DAST Pipeline avec OWASP ZAP :
Le SAST déjà en place analyse le code statique — il ne voit pas les vulnérabilités qui n'apparaissent qu'à l'exécution. OWASP ZAP s'intègre dans le job de staging et teste l'application en fonctionnement réel : injections, failles d'authentification, expositions de données. Les résultats au format SARIF sont publiés automatiquement dans GitHub Security pour suivi et traçabilité.
03 — SCA avec Dependabot :
Les dépendances déclarées dans composer.json vieillissent et accumulent des CVE. Dependabot surveille en continu toutes les dépendances et ouvre automatiquement des Pull Requests de mise à jour dès qu'une faille est connue. L'équipe n'a plus à surveiller manuellement les bulletins de sécurité — c'est automatisé.</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conclure — voici ce que cette mission vous apporte concrètement.</a:t>
            </a:r>
          </a:p>
          <a:p>
            <a:endParaRPr lang="fr-FR" dirty="0"/>
          </a:p>
          <a:p>
            <a:r>
              <a:rPr lang="fr-FR" dirty="0"/>
              <a:t>✅ Ce qui est livré :</a:t>
            </a:r>
          </a:p>
          <a:p>
            <a:r>
              <a:rPr lang="fr-FR" dirty="0"/>
              <a:t>- Un pipeline CI/CD de 11 jobs qui automatise tout : build, tests, sécurité, déploiement. Chaque mise à jour passe par ce filtre — rien ne passe entre les mailles.</a:t>
            </a:r>
          </a:p>
          <a:p>
            <a:r>
              <a:rPr lang="fr-FR" dirty="0"/>
              <a:t>- Une architecture BFF + Keycloak + Messenger opérationnelle et couverte par des tests. C'est la fondation de votre v2.</a:t>
            </a:r>
          </a:p>
          <a:p>
            <a:r>
              <a:rPr lang="fr-FR" dirty="0"/>
              <a:t>- Un déploiement automatique staging + production. Zéro intervention manuelle, zéro risque d'erreur humaine.</a:t>
            </a:r>
          </a:p>
          <a:p>
            <a:r>
              <a:rPr lang="fr-FR" dirty="0"/>
              <a:t>- 4 livrables documentaires complets pour la traçabilité et la continuité du projet.</a:t>
            </a:r>
          </a:p>
          <a:p>
            <a:endParaRPr lang="fr-FR" dirty="0"/>
          </a:p>
          <a:p>
            <a:r>
              <a:rPr lang="fr-FR" dirty="0"/>
              <a:t>📊 Ce qui est prouvé :</a:t>
            </a:r>
          </a:p>
          <a:p>
            <a:r>
              <a:rPr lang="fr-FR" dirty="0"/>
              <a:t>- 59 tests, 79% de couverture — la qualité est mesurée, pas supposée.</a:t>
            </a:r>
          </a:p>
          <a:p>
            <a:r>
              <a:rPr lang="fr-FR" dirty="0"/>
              <a:t>- p95 sous 200ms, 0% d'erreur — les performances tiennent sous charge.</a:t>
            </a:r>
          </a:p>
          <a:p>
            <a:r>
              <a:rPr lang="fr-FR" dirty="0"/>
              <a:t>- 0 CVE critique en production — votre image est propre.</a:t>
            </a:r>
          </a:p>
          <a:p>
            <a:r>
              <a:rPr lang="fr-FR" dirty="0"/>
              <a:t>- SonarCloud actif en continu — la dette technique est surveillée.</a:t>
            </a:r>
          </a:p>
          <a:p>
            <a:endParaRPr lang="fr-FR" dirty="0"/>
          </a:p>
          <a:p>
            <a:r>
              <a:rPr lang="fr-FR" dirty="0"/>
              <a:t>🚀 Ce qui vous attend en v2 :</a:t>
            </a:r>
          </a:p>
          <a:p>
            <a:r>
              <a:rPr lang="fr-FR" dirty="0"/>
              <a:t>- RabbitMQ pour les messages asynchrones — le code est déjà prêt, le basculement est transparent.</a:t>
            </a:r>
          </a:p>
          <a:p>
            <a:r>
              <a:rPr lang="fr-FR" dirty="0"/>
              <a:t>- WAF + DAST pour une sécurité proactive — on passe de la détection à la prévention.</a:t>
            </a:r>
          </a:p>
          <a:p>
            <a:r>
              <a:rPr lang="fr-FR" dirty="0"/>
              <a:t>- Kubernetes pour la scalabilité horizontale — votre plateforme grandira avec votre audience.</a:t>
            </a:r>
          </a:p>
          <a:p>
            <a:r>
              <a:rPr lang="fr-FR" dirty="0"/>
              <a:t>- L'espace communautaire — la fonctionnalité métier qui transformera vos visiteurs en communauté fidèle.</a:t>
            </a:r>
          </a:p>
          <a:p>
            <a:endParaRPr lang="fr-FR" dirty="0"/>
          </a:p>
          <a:p>
            <a:r>
              <a:rPr lang="fr-FR" dirty="0"/>
              <a:t>La v1 est livrée, mesurée, sécurisée. La v2 est prête à démarrer. La question maintenant, c'est : on avance ensemble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Voilà, c'est la fin de cette présentation.
Pour récapituler en une phrase : on est partis d'un SI fragmenté, et on livre une plateforme avec un pipeline de 11 jobs, une architecture BFF sécurisée, 59 tests automatisés et une analyse de sécurité complète avec plan d'action.
Je suis disponible pour toutes vos questions — que ce soit sur les choix techniques, l'organisation du pipeline, la sécurité ou les perspectives v2.
N'hésitez pas à demander une démonstration live — les environnements staging sur le port 8089 et production sur le port 8088 sont actifs sur ma machine en ce moment.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C0392B"/>
          </a:solidFill>
          <a:ln/>
        </p:spPr>
        <p:txBody>
          <a:bodyPr/>
          <a:lstStyle/>
          <a:p>
            <a:endParaRPr lang="fr-FR"/>
          </a:p>
        </p:txBody>
      </p:sp>
      <p:sp>
        <p:nvSpPr>
          <p:cNvPr id="3" name="Text 1"/>
          <p:cNvSpPr/>
          <p:nvPr/>
        </p:nvSpPr>
        <p:spPr>
          <a:xfrm>
            <a:off x="731520" y="548640"/>
            <a:ext cx="10058400" cy="2926080"/>
          </a:xfrm>
          <a:prstGeom prst="rect">
            <a:avLst/>
          </a:prstGeom>
          <a:noFill/>
          <a:ln/>
        </p:spPr>
        <p:txBody>
          <a:bodyPr wrap="square" rtlCol="0" anchor="ctr"/>
          <a:lstStyle/>
          <a:p>
            <a:pPr marL="0" indent="0">
              <a:buNone/>
            </a:pPr>
            <a:r>
              <a:rPr lang="en-US" sz="4800" b="1" dirty="0">
                <a:solidFill>
                  <a:srgbClr val="1A1A1A"/>
                </a:solidFill>
                <a:latin typeface="Palatino Linotype" pitchFamily="34" charset="0"/>
                <a:ea typeface="Palatino Linotype" pitchFamily="34" charset="-122"/>
                <a:cs typeface="Palatino Linotype" pitchFamily="34" charset="-120"/>
              </a:rPr>
              <a:t>La Petite Maison</a:t>
            </a:r>
            <a:endParaRPr lang="en-US" sz="4800" dirty="0"/>
          </a:p>
          <a:p>
            <a:pPr marL="0" indent="0">
              <a:buNone/>
            </a:pPr>
            <a:r>
              <a:rPr lang="en-US" sz="4800" b="1" dirty="0">
                <a:solidFill>
                  <a:srgbClr val="1A1A1A"/>
                </a:solidFill>
                <a:latin typeface="Palatino Linotype" pitchFamily="34" charset="0"/>
                <a:ea typeface="Palatino Linotype" pitchFamily="34" charset="-122"/>
                <a:cs typeface="Palatino Linotype" pitchFamily="34" charset="-120"/>
              </a:rPr>
              <a:t>de l'Épouvante</a:t>
            </a:r>
            <a:endParaRPr lang="en-US" sz="4800" dirty="0"/>
          </a:p>
        </p:txBody>
      </p:sp>
      <p:sp>
        <p:nvSpPr>
          <p:cNvPr id="4" name="Text 2"/>
          <p:cNvSpPr/>
          <p:nvPr/>
        </p:nvSpPr>
        <p:spPr>
          <a:xfrm>
            <a:off x="731520" y="3474720"/>
            <a:ext cx="9144000" cy="640080"/>
          </a:xfrm>
          <a:prstGeom prst="rect">
            <a:avLst/>
          </a:prstGeom>
          <a:noFill/>
          <a:ln/>
        </p:spPr>
        <p:txBody>
          <a:bodyPr wrap="square" rtlCol="0" anchor="ctr"/>
          <a:lstStyle/>
          <a:p>
            <a:pPr marL="0" indent="0">
              <a:buNone/>
            </a:pPr>
            <a:r>
              <a:rPr lang="en-US" sz="1700" i="1" dirty="0">
                <a:solidFill>
                  <a:srgbClr val="555555"/>
                </a:solidFill>
                <a:latin typeface="Calibri" pitchFamily="34" charset="0"/>
                <a:ea typeface="Calibri" pitchFamily="34" charset="-122"/>
                <a:cs typeface="Calibri" pitchFamily="34" charset="-120"/>
              </a:rPr>
              <a:t>Superviser et assurer le développement des applications logicielles</a:t>
            </a:r>
            <a:endParaRPr lang="en-US" sz="1700" dirty="0"/>
          </a:p>
        </p:txBody>
      </p:sp>
      <p:sp>
        <p:nvSpPr>
          <p:cNvPr id="5" name="Shape 3"/>
          <p:cNvSpPr/>
          <p:nvPr/>
        </p:nvSpPr>
        <p:spPr>
          <a:xfrm>
            <a:off x="731520" y="4297680"/>
            <a:ext cx="5486400" cy="45720"/>
          </a:xfrm>
          <a:prstGeom prst="rect">
            <a:avLst/>
          </a:prstGeom>
          <a:solidFill>
            <a:srgbClr val="C0392B"/>
          </a:solidFill>
          <a:ln/>
        </p:spPr>
        <p:txBody>
          <a:bodyPr/>
          <a:lstStyle/>
          <a:p>
            <a:endParaRPr lang="fr-FR"/>
          </a:p>
        </p:txBody>
      </p:sp>
      <p:sp>
        <p:nvSpPr>
          <p:cNvPr id="6" name="Text 4"/>
          <p:cNvSpPr/>
          <p:nvPr/>
        </p:nvSpPr>
        <p:spPr>
          <a:xfrm>
            <a:off x="731520" y="4434840"/>
            <a:ext cx="7315200" cy="365760"/>
          </a:xfrm>
          <a:prstGeom prst="rect">
            <a:avLst/>
          </a:prstGeom>
          <a:noFill/>
          <a:ln/>
        </p:spPr>
        <p:txBody>
          <a:bodyPr wrap="square" rtlCol="0" anchor="ctr"/>
          <a:lstStyle/>
          <a:p>
            <a:pPr marL="0" indent="0">
              <a:buNone/>
            </a:pPr>
            <a:r>
              <a:rPr lang="en-US" sz="1300" dirty="0">
                <a:solidFill>
                  <a:srgbClr val="F39C12"/>
                </a:solidFill>
                <a:latin typeface="Calibri" pitchFamily="34" charset="0"/>
                <a:ea typeface="Calibri" pitchFamily="34" charset="-122"/>
                <a:cs typeface="Calibri" pitchFamily="34" charset="-120"/>
              </a:rPr>
              <a:t>V1 — POC validé  ·  Lead Developer  ·  Mars 2026</a:t>
            </a:r>
            <a:endParaRPr lang="en-US" sz="1300" dirty="0"/>
          </a:p>
        </p:txBody>
      </p:sp>
      <p:sp>
        <p:nvSpPr>
          <p:cNvPr id="7" name="Text 5"/>
          <p:cNvSpPr/>
          <p:nvPr/>
        </p:nvSpPr>
        <p:spPr>
          <a:xfrm>
            <a:off x="731520" y="6126480"/>
            <a:ext cx="11247120" cy="411480"/>
          </a:xfrm>
          <a:prstGeom prst="rect">
            <a:avLst/>
          </a:prstGeom>
          <a:noFill/>
          <a:ln/>
        </p:spPr>
        <p:txBody>
          <a:bodyPr wrap="square" rtlCol="0" anchor="ctr"/>
          <a:lstStyle/>
          <a:p>
            <a:pPr marL="0" indent="0" algn="r">
              <a:buNone/>
            </a:pPr>
            <a:r>
              <a:rPr lang="en-US" sz="1400" b="1" dirty="0">
                <a:solidFill>
                  <a:srgbClr val="1A1A1A"/>
                </a:solidFill>
                <a:latin typeface="Calibri" pitchFamily="34" charset="0"/>
                <a:ea typeface="Calibri" pitchFamily="34" charset="-122"/>
                <a:cs typeface="Calibri" pitchFamily="34" charset="-120"/>
              </a:rPr>
              <a:t>Bryan JOUBERT</a:t>
            </a:r>
            <a:endParaRPr lang="en-US" sz="1400" dirty="0"/>
          </a:p>
        </p:txBody>
      </p:sp>
      <p:pic>
        <p:nvPicPr>
          <p:cNvPr id="1026" name="Picture 2" descr="École d'ingénieurs, bachelor et Mastère Spécialisé® - CESI">
            <a:extLst>
              <a:ext uri="{FF2B5EF4-FFF2-40B4-BE49-F238E27FC236}">
                <a16:creationId xmlns:a16="http://schemas.microsoft.com/office/drawing/2014/main" id="{1406EA59-F64E-B226-0856-075F6440A4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9920" y="199292"/>
            <a:ext cx="1160585" cy="1160585"/>
          </a:xfrm>
          <a:prstGeom prst="rect">
            <a:avLst/>
          </a:prstGeom>
          <a:noFill/>
          <a:extLst>
            <a:ext uri="{909E8E84-426E-40DD-AFC4-6F175D3DCCD1}">
              <a14:hiddenFill xmlns:a14="http://schemas.microsoft.com/office/drawing/2010/main">
                <a:solidFill>
                  <a:srgbClr val="F5F5F5"/>
                </a:solidFill>
              </a14:hiddenFill>
            </a:ext>
          </a:extLst>
        </p:spPr>
      </p:pic>
    </p:spTree>
    <p:extLst>
      <p:ext uri="{BB962C8B-B14F-4D97-AF65-F5344CB8AC3E}">
        <p14:creationId xmlns:p14="http://schemas.microsoft.com/office/powerpoint/2010/main" val="2145848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txBody>
          <a:bodyPr/>
          <a:lstStyle/>
          <a:p>
            <a:endParaRPr lang="fr-FR"/>
          </a:p>
        </p:txBody>
      </p:sp>
      <p:sp>
        <p:nvSpPr>
          <p:cNvPr id="3" name="Shape 1"/>
          <p:cNvSpPr/>
          <p:nvPr/>
        </p:nvSpPr>
        <p:spPr>
          <a:xfrm>
            <a:off x="0" y="6675120"/>
            <a:ext cx="12192000" cy="182880"/>
          </a:xfrm>
          <a:prstGeom prst="rect">
            <a:avLst/>
          </a:prstGeom>
          <a:solidFill>
            <a:srgbClr val="C0392B"/>
          </a:solidFill>
          <a:ln/>
        </p:spPr>
        <p:txBody>
          <a:bodyPr/>
          <a:lstStyle/>
          <a:p>
            <a:endParaRPr lang="fr-FR"/>
          </a:p>
        </p:txBody>
      </p:sp>
      <p:sp>
        <p:nvSpPr>
          <p:cNvPr id="4" name="Text 2"/>
          <p:cNvSpPr/>
          <p:nvPr/>
        </p:nvSpPr>
        <p:spPr>
          <a:xfrm>
            <a:off x="274320" y="6675120"/>
            <a:ext cx="9601200" cy="182880"/>
          </a:xfrm>
          <a:prstGeom prst="rect">
            <a:avLst/>
          </a:prstGeom>
          <a:noFill/>
          <a:ln/>
        </p:spPr>
        <p:txBody>
          <a:bodyPr wrap="square" rtlCol="0" anchor="ctr"/>
          <a:lstStyle/>
          <a:p>
            <a:pPr marL="0" indent="0">
              <a:buNone/>
            </a:pPr>
            <a:r>
              <a:rPr lang="fr-FR" sz="800" dirty="0">
                <a:solidFill>
                  <a:srgbClr val="FFFFFF"/>
                </a:solidFill>
                <a:latin typeface="Calibri" pitchFamily="34" charset="0"/>
                <a:ea typeface="Calibri" pitchFamily="34" charset="-122"/>
                <a:cs typeface="Calibri" pitchFamily="34" charset="-120"/>
              </a:rPr>
              <a:t>La Petite Maison de l’Épouvante —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marL="0" indent="0" algn="r">
              <a:buNone/>
            </a:pPr>
            <a:r>
              <a:rPr lang="en-US" sz="1800" b="1" dirty="0">
                <a:solidFill>
                  <a:srgbClr val="1A1A1A"/>
                </a:solidFill>
                <a:latin typeface="Calibri" pitchFamily="34" charset="0"/>
                <a:ea typeface="Calibri" pitchFamily="34" charset="-122"/>
                <a:cs typeface="Calibri" pitchFamily="34" charset="-120"/>
              </a:rPr>
              <a:t>2</a:t>
            </a:r>
            <a:endParaRPr lang="en-US" sz="1800" dirty="0"/>
          </a:p>
        </p:txBody>
      </p:sp>
      <p:sp>
        <p:nvSpPr>
          <p:cNvPr id="6" name="Shape 4"/>
          <p:cNvSpPr/>
          <p:nvPr/>
        </p:nvSpPr>
        <p:spPr>
          <a:xfrm>
            <a:off x="365760" y="1051560"/>
            <a:ext cx="2377440" cy="54864"/>
          </a:xfrm>
          <a:prstGeom prst="rect">
            <a:avLst/>
          </a:prstGeom>
          <a:solidFill>
            <a:srgbClr val="C0392B"/>
          </a:solidFill>
          <a:ln/>
        </p:spPr>
        <p:txBody>
          <a:bodyPr/>
          <a:lstStyle/>
          <a:p>
            <a:endParaRPr lang="fr-FR"/>
          </a:p>
        </p:txBody>
      </p:sp>
      <p:sp>
        <p:nvSpPr>
          <p:cNvPr id="7" name="Text 5"/>
          <p:cNvSpPr/>
          <p:nvPr/>
        </p:nvSpPr>
        <p:spPr>
          <a:xfrm>
            <a:off x="365760" y="640080"/>
            <a:ext cx="10972800" cy="548640"/>
          </a:xfrm>
          <a:prstGeom prst="rect">
            <a:avLst/>
          </a:prstGeom>
          <a:noFill/>
          <a:ln/>
        </p:spPr>
        <p:txBody>
          <a:bodyPr wrap="square" rtlCol="0" anchor="ctr"/>
          <a:lstStyle/>
          <a:p>
            <a:pPr marL="0" indent="0">
              <a:buNone/>
            </a:pPr>
            <a:r>
              <a:rPr lang="en-US" sz="1100" b="1" kern="0" spc="200" dirty="0">
                <a:solidFill>
                  <a:srgbClr val="E74C3C"/>
                </a:solidFill>
                <a:latin typeface="Calibri" pitchFamily="34" charset="0"/>
                <a:ea typeface="Calibri" pitchFamily="34" charset="-122"/>
                <a:cs typeface="Calibri" pitchFamily="34" charset="-120"/>
              </a:rPr>
              <a:t>PLAN DE LA PRÉSENTATION</a:t>
            </a:r>
            <a:endParaRPr lang="en-US" sz="1100" dirty="0"/>
          </a:p>
        </p:txBody>
      </p:sp>
      <p:sp>
        <p:nvSpPr>
          <p:cNvPr id="8" name="Text 6"/>
          <p:cNvSpPr/>
          <p:nvPr/>
        </p:nvSpPr>
        <p:spPr>
          <a:xfrm>
            <a:off x="365760" y="1159546"/>
            <a:ext cx="11430000" cy="822960"/>
          </a:xfrm>
          <a:prstGeom prst="rect">
            <a:avLst/>
          </a:prstGeom>
          <a:noFill/>
          <a:ln/>
        </p:spPr>
        <p:txBody>
          <a:bodyPr wrap="square" rtlCol="0" anchor="ctr"/>
          <a:lstStyle/>
          <a:p>
            <a:pPr marL="0" indent="0">
              <a:buNone/>
            </a:pPr>
            <a:r>
              <a:rPr lang="en-US" sz="3400" b="1" dirty="0">
                <a:solidFill>
                  <a:srgbClr val="1A1A1A"/>
                </a:solidFill>
                <a:latin typeface="Palatino Linotype" pitchFamily="34" charset="0"/>
                <a:ea typeface="Palatino Linotype" pitchFamily="34" charset="-122"/>
                <a:cs typeface="Palatino Linotype" pitchFamily="34" charset="-120"/>
              </a:rPr>
              <a:t>Sommaire</a:t>
            </a:r>
            <a:endParaRPr lang="en-US" sz="3400" dirty="0"/>
          </a:p>
        </p:txBody>
      </p:sp>
      <p:sp>
        <p:nvSpPr>
          <p:cNvPr id="9" name="Shape 7"/>
          <p:cNvSpPr/>
          <p:nvPr/>
        </p:nvSpPr>
        <p:spPr>
          <a:xfrm>
            <a:off x="365760" y="2743200"/>
            <a:ext cx="3657600" cy="3657600"/>
          </a:xfrm>
          <a:prstGeom prst="rect">
            <a:avLst/>
          </a:prstGeom>
          <a:solidFill>
            <a:srgbClr val="F5F5F5"/>
          </a:solidFill>
          <a:ln w="19050">
            <a:solidFill>
              <a:srgbClr val="C0392B"/>
            </a:solidFill>
            <a:prstDash val="solid"/>
          </a:ln>
        </p:spPr>
        <p:txBody>
          <a:bodyPr/>
          <a:lstStyle/>
          <a:p>
            <a:endParaRPr lang="fr-FR"/>
          </a:p>
        </p:txBody>
      </p:sp>
      <p:sp>
        <p:nvSpPr>
          <p:cNvPr id="10" name="Text 8"/>
          <p:cNvSpPr/>
          <p:nvPr/>
        </p:nvSpPr>
        <p:spPr>
          <a:xfrm>
            <a:off x="502920" y="2834640"/>
            <a:ext cx="731520" cy="594360"/>
          </a:xfrm>
          <a:prstGeom prst="rect">
            <a:avLst/>
          </a:prstGeom>
          <a:noFill/>
          <a:ln/>
        </p:spPr>
        <p:txBody>
          <a:bodyPr wrap="square" rtlCol="0" anchor="ctr"/>
          <a:lstStyle/>
          <a:p>
            <a:pPr marL="0" indent="0">
              <a:buNone/>
            </a:pPr>
            <a:r>
              <a:rPr lang="en-US" sz="2800" b="1" dirty="0">
                <a:solidFill>
                  <a:srgbClr val="E74C3C"/>
                </a:solidFill>
                <a:latin typeface="Palatino Linotype" pitchFamily="34" charset="0"/>
                <a:ea typeface="Palatino Linotype" pitchFamily="34" charset="-122"/>
                <a:cs typeface="Palatino Linotype" pitchFamily="34" charset="-120"/>
              </a:rPr>
              <a:t>01</a:t>
            </a:r>
            <a:endParaRPr lang="en-US" sz="2800" dirty="0"/>
          </a:p>
        </p:txBody>
      </p:sp>
      <p:sp>
        <p:nvSpPr>
          <p:cNvPr id="11" name="Text 9"/>
          <p:cNvSpPr/>
          <p:nvPr/>
        </p:nvSpPr>
        <p:spPr>
          <a:xfrm>
            <a:off x="502920" y="3429000"/>
            <a:ext cx="3383280" cy="548640"/>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Processus Qualité</a:t>
            </a:r>
            <a:endParaRPr lang="en-US" sz="1300" dirty="0"/>
          </a:p>
        </p:txBody>
      </p:sp>
      <p:sp>
        <p:nvSpPr>
          <p:cNvPr id="12" name="Shape 10"/>
          <p:cNvSpPr/>
          <p:nvPr/>
        </p:nvSpPr>
        <p:spPr>
          <a:xfrm>
            <a:off x="502920" y="4023360"/>
            <a:ext cx="3200400" cy="36576"/>
          </a:xfrm>
          <a:prstGeom prst="rect">
            <a:avLst/>
          </a:prstGeom>
          <a:solidFill>
            <a:srgbClr val="C0392B"/>
          </a:solidFill>
          <a:ln/>
        </p:spPr>
        <p:txBody>
          <a:bodyPr/>
          <a:lstStyle/>
          <a:p>
            <a:endParaRPr lang="fr-FR"/>
          </a:p>
        </p:txBody>
      </p:sp>
      <p:sp>
        <p:nvSpPr>
          <p:cNvPr id="13" name="Text 11"/>
          <p:cNvSpPr/>
          <p:nvPr/>
        </p:nvSpPr>
        <p:spPr>
          <a:xfrm>
            <a:off x="548640" y="4114800"/>
            <a:ext cx="3291840" cy="45720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  4 métriques ISO 25010</a:t>
            </a:r>
            <a:endParaRPr lang="en-US" sz="1200" dirty="0"/>
          </a:p>
        </p:txBody>
      </p:sp>
      <p:sp>
        <p:nvSpPr>
          <p:cNvPr id="14" name="Text 12"/>
          <p:cNvSpPr/>
          <p:nvPr/>
        </p:nvSpPr>
        <p:spPr>
          <a:xfrm>
            <a:off x="548640" y="4636008"/>
            <a:ext cx="3291840" cy="45720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  Politique de tests DevSecOps</a:t>
            </a:r>
            <a:endParaRPr lang="en-US" sz="1200" dirty="0"/>
          </a:p>
        </p:txBody>
      </p:sp>
      <p:sp>
        <p:nvSpPr>
          <p:cNvPr id="15" name="Text 13"/>
          <p:cNvSpPr/>
          <p:nvPr/>
        </p:nvSpPr>
        <p:spPr>
          <a:xfrm>
            <a:off x="548640" y="5157216"/>
            <a:ext cx="3291840" cy="45720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  Pipeline CI/CD 11 jobs</a:t>
            </a:r>
            <a:endParaRPr lang="en-US" sz="1200" dirty="0"/>
          </a:p>
        </p:txBody>
      </p:sp>
      <p:sp>
        <p:nvSpPr>
          <p:cNvPr id="16" name="Text 14"/>
          <p:cNvSpPr/>
          <p:nvPr/>
        </p:nvSpPr>
        <p:spPr>
          <a:xfrm>
            <a:off x="548640" y="5678424"/>
            <a:ext cx="3291840" cy="45720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  Compétences &amp; formation</a:t>
            </a:r>
            <a:endParaRPr lang="en-US" sz="1200" dirty="0"/>
          </a:p>
        </p:txBody>
      </p:sp>
      <p:sp>
        <p:nvSpPr>
          <p:cNvPr id="17" name="Shape 15"/>
          <p:cNvSpPr/>
          <p:nvPr/>
        </p:nvSpPr>
        <p:spPr>
          <a:xfrm>
            <a:off x="4297680" y="2743200"/>
            <a:ext cx="3657600" cy="3657600"/>
          </a:xfrm>
          <a:prstGeom prst="rect">
            <a:avLst/>
          </a:prstGeom>
          <a:solidFill>
            <a:srgbClr val="F5F5F5"/>
          </a:solidFill>
          <a:ln w="19050">
            <a:solidFill>
              <a:srgbClr val="C0392B"/>
            </a:solidFill>
            <a:prstDash val="solid"/>
          </a:ln>
        </p:spPr>
        <p:txBody>
          <a:bodyPr/>
          <a:lstStyle/>
          <a:p>
            <a:endParaRPr lang="fr-FR"/>
          </a:p>
        </p:txBody>
      </p:sp>
      <p:sp>
        <p:nvSpPr>
          <p:cNvPr id="18" name="Text 16"/>
          <p:cNvSpPr/>
          <p:nvPr/>
        </p:nvSpPr>
        <p:spPr>
          <a:xfrm>
            <a:off x="4434840" y="2834640"/>
            <a:ext cx="731520" cy="594360"/>
          </a:xfrm>
          <a:prstGeom prst="rect">
            <a:avLst/>
          </a:prstGeom>
          <a:noFill/>
          <a:ln/>
        </p:spPr>
        <p:txBody>
          <a:bodyPr wrap="square" rtlCol="0" anchor="ctr"/>
          <a:lstStyle/>
          <a:p>
            <a:pPr marL="0" indent="0">
              <a:buNone/>
            </a:pPr>
            <a:r>
              <a:rPr lang="en-US" sz="2800" b="1" dirty="0">
                <a:solidFill>
                  <a:srgbClr val="E74C3C"/>
                </a:solidFill>
                <a:latin typeface="Palatino Linotype" pitchFamily="34" charset="0"/>
                <a:ea typeface="Palatino Linotype" pitchFamily="34" charset="-122"/>
                <a:cs typeface="Palatino Linotype" pitchFamily="34" charset="-120"/>
              </a:rPr>
              <a:t>02</a:t>
            </a:r>
            <a:endParaRPr lang="en-US" sz="2800" dirty="0"/>
          </a:p>
        </p:txBody>
      </p:sp>
      <p:sp>
        <p:nvSpPr>
          <p:cNvPr id="19" name="Text 17"/>
          <p:cNvSpPr/>
          <p:nvPr/>
        </p:nvSpPr>
        <p:spPr>
          <a:xfrm>
            <a:off x="4434840" y="3429000"/>
            <a:ext cx="3383280" cy="548640"/>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Développement &amp; Déploiement</a:t>
            </a:r>
            <a:endParaRPr lang="en-US" sz="1300" dirty="0"/>
          </a:p>
        </p:txBody>
      </p:sp>
      <p:sp>
        <p:nvSpPr>
          <p:cNvPr id="20" name="Shape 18"/>
          <p:cNvSpPr/>
          <p:nvPr/>
        </p:nvSpPr>
        <p:spPr>
          <a:xfrm>
            <a:off x="4434840" y="4023360"/>
            <a:ext cx="3200400" cy="36576"/>
          </a:xfrm>
          <a:prstGeom prst="rect">
            <a:avLst/>
          </a:prstGeom>
          <a:solidFill>
            <a:srgbClr val="C0392B"/>
          </a:solidFill>
          <a:ln/>
        </p:spPr>
        <p:txBody>
          <a:bodyPr/>
          <a:lstStyle/>
          <a:p>
            <a:endParaRPr lang="fr-FR"/>
          </a:p>
        </p:txBody>
      </p:sp>
      <p:sp>
        <p:nvSpPr>
          <p:cNvPr id="21" name="Text 19"/>
          <p:cNvSpPr/>
          <p:nvPr/>
        </p:nvSpPr>
        <p:spPr>
          <a:xfrm>
            <a:off x="4480560" y="4114800"/>
            <a:ext cx="3291840" cy="45720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  Backlog &amp; User Stories</a:t>
            </a:r>
            <a:endParaRPr lang="en-US" sz="1200" dirty="0"/>
          </a:p>
        </p:txBody>
      </p:sp>
      <p:sp>
        <p:nvSpPr>
          <p:cNvPr id="22" name="Text 20"/>
          <p:cNvSpPr/>
          <p:nvPr/>
        </p:nvSpPr>
        <p:spPr>
          <a:xfrm>
            <a:off x="4480560" y="4636008"/>
            <a:ext cx="3291840" cy="45720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  Architecture BFF / POC</a:t>
            </a:r>
            <a:endParaRPr lang="en-US" sz="1200" dirty="0"/>
          </a:p>
        </p:txBody>
      </p:sp>
      <p:sp>
        <p:nvSpPr>
          <p:cNvPr id="23" name="Text 21"/>
          <p:cNvSpPr/>
          <p:nvPr/>
        </p:nvSpPr>
        <p:spPr>
          <a:xfrm>
            <a:off x="4480560" y="5157216"/>
            <a:ext cx="3291840" cy="45720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  Résultats &amp; chiffres clés</a:t>
            </a:r>
            <a:endParaRPr lang="en-US" sz="1200" dirty="0"/>
          </a:p>
        </p:txBody>
      </p:sp>
      <p:sp>
        <p:nvSpPr>
          <p:cNvPr id="24" name="Text 22"/>
          <p:cNvSpPr/>
          <p:nvPr/>
        </p:nvSpPr>
        <p:spPr>
          <a:xfrm>
            <a:off x="4480560" y="5678424"/>
            <a:ext cx="3291840" cy="45720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  Disponibilité &amp; montée en charge</a:t>
            </a:r>
            <a:endParaRPr lang="en-US" sz="1200" dirty="0"/>
          </a:p>
        </p:txBody>
      </p:sp>
      <p:sp>
        <p:nvSpPr>
          <p:cNvPr id="25" name="Shape 23"/>
          <p:cNvSpPr/>
          <p:nvPr/>
        </p:nvSpPr>
        <p:spPr>
          <a:xfrm>
            <a:off x="8229600" y="2743200"/>
            <a:ext cx="3657600" cy="3657600"/>
          </a:xfrm>
          <a:prstGeom prst="rect">
            <a:avLst/>
          </a:prstGeom>
          <a:solidFill>
            <a:srgbClr val="F5F5F5"/>
          </a:solidFill>
          <a:ln w="19050">
            <a:solidFill>
              <a:srgbClr val="C0392B"/>
            </a:solidFill>
            <a:prstDash val="solid"/>
          </a:ln>
        </p:spPr>
        <p:txBody>
          <a:bodyPr/>
          <a:lstStyle/>
          <a:p>
            <a:endParaRPr lang="fr-FR"/>
          </a:p>
        </p:txBody>
      </p:sp>
      <p:sp>
        <p:nvSpPr>
          <p:cNvPr id="26" name="Text 24"/>
          <p:cNvSpPr/>
          <p:nvPr/>
        </p:nvSpPr>
        <p:spPr>
          <a:xfrm>
            <a:off x="8366760" y="2834640"/>
            <a:ext cx="731520" cy="594360"/>
          </a:xfrm>
          <a:prstGeom prst="rect">
            <a:avLst/>
          </a:prstGeom>
          <a:noFill/>
          <a:ln/>
        </p:spPr>
        <p:txBody>
          <a:bodyPr wrap="square" rtlCol="0" anchor="ctr"/>
          <a:lstStyle/>
          <a:p>
            <a:pPr marL="0" indent="0">
              <a:buNone/>
            </a:pPr>
            <a:r>
              <a:rPr lang="en-US" sz="2800" b="1" dirty="0">
                <a:solidFill>
                  <a:srgbClr val="E74C3C"/>
                </a:solidFill>
                <a:latin typeface="Palatino Linotype" pitchFamily="34" charset="0"/>
                <a:ea typeface="Palatino Linotype" pitchFamily="34" charset="-122"/>
                <a:cs typeface="Palatino Linotype" pitchFamily="34" charset="-120"/>
              </a:rPr>
              <a:t>03</a:t>
            </a:r>
            <a:endParaRPr lang="en-US" sz="2800" dirty="0"/>
          </a:p>
        </p:txBody>
      </p:sp>
      <p:sp>
        <p:nvSpPr>
          <p:cNvPr id="27" name="Text 25"/>
          <p:cNvSpPr/>
          <p:nvPr/>
        </p:nvSpPr>
        <p:spPr>
          <a:xfrm>
            <a:off x="8366760" y="3429000"/>
            <a:ext cx="3383280" cy="548640"/>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Sécurité &amp; Remédiation</a:t>
            </a:r>
            <a:endParaRPr lang="en-US" sz="1300" dirty="0"/>
          </a:p>
        </p:txBody>
      </p:sp>
      <p:sp>
        <p:nvSpPr>
          <p:cNvPr id="28" name="Shape 26"/>
          <p:cNvSpPr/>
          <p:nvPr/>
        </p:nvSpPr>
        <p:spPr>
          <a:xfrm>
            <a:off x="8366760" y="4023360"/>
            <a:ext cx="3200400" cy="36576"/>
          </a:xfrm>
          <a:prstGeom prst="rect">
            <a:avLst/>
          </a:prstGeom>
          <a:solidFill>
            <a:srgbClr val="C0392B"/>
          </a:solidFill>
          <a:ln/>
        </p:spPr>
        <p:txBody>
          <a:bodyPr/>
          <a:lstStyle/>
          <a:p>
            <a:endParaRPr lang="fr-FR"/>
          </a:p>
        </p:txBody>
      </p:sp>
      <p:sp>
        <p:nvSpPr>
          <p:cNvPr id="29" name="Text 27"/>
          <p:cNvSpPr/>
          <p:nvPr/>
        </p:nvSpPr>
        <p:spPr>
          <a:xfrm>
            <a:off x="8412480" y="4114800"/>
            <a:ext cx="3291840" cy="45720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  Politique sécurité OWASP Top 10</a:t>
            </a:r>
            <a:endParaRPr lang="en-US" sz="1200" dirty="0"/>
          </a:p>
        </p:txBody>
      </p:sp>
      <p:sp>
        <p:nvSpPr>
          <p:cNvPr id="30" name="Text 28"/>
          <p:cNvSpPr/>
          <p:nvPr/>
        </p:nvSpPr>
        <p:spPr>
          <a:xfrm>
            <a:off x="8412480" y="4636008"/>
            <a:ext cx="3291840" cy="45720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  Plan de remédiation 3 sprints</a:t>
            </a:r>
            <a:endParaRPr lang="en-US" sz="1200" dirty="0"/>
          </a:p>
        </p:txBody>
      </p:sp>
      <p:sp>
        <p:nvSpPr>
          <p:cNvPr id="31" name="Text 29"/>
          <p:cNvSpPr/>
          <p:nvPr/>
        </p:nvSpPr>
        <p:spPr>
          <a:xfrm>
            <a:off x="8412480" y="5157216"/>
            <a:ext cx="3291840" cy="45720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  Mesures préventives v2</a:t>
            </a:r>
            <a:endParaRPr lang="en-US" sz="1200" dirty="0"/>
          </a:p>
        </p:txBody>
      </p:sp>
      <p:sp>
        <p:nvSpPr>
          <p:cNvPr id="32" name="Text 30"/>
          <p:cNvSpPr/>
          <p:nvPr/>
        </p:nvSpPr>
        <p:spPr>
          <a:xfrm>
            <a:off x="8412480" y="5678424"/>
            <a:ext cx="3291840" cy="45720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  Bilan de la mission</a:t>
            </a:r>
            <a:endParaRPr lang="en-US" sz="1200" dirty="0"/>
          </a:p>
        </p:txBody>
      </p:sp>
      <p:sp>
        <p:nvSpPr>
          <p:cNvPr id="33" name="Shape 7">
            <a:extLst>
              <a:ext uri="{FF2B5EF4-FFF2-40B4-BE49-F238E27FC236}">
                <a16:creationId xmlns:a16="http://schemas.microsoft.com/office/drawing/2014/main" id="{AFD809FF-DC64-F200-9415-A820182B9DC1}"/>
              </a:ext>
            </a:extLst>
          </p:cNvPr>
          <p:cNvSpPr/>
          <p:nvPr/>
        </p:nvSpPr>
        <p:spPr>
          <a:xfrm>
            <a:off x="365760" y="2015599"/>
            <a:ext cx="11521440" cy="579120"/>
          </a:xfrm>
          <a:prstGeom prst="rect">
            <a:avLst/>
          </a:prstGeom>
          <a:solidFill>
            <a:srgbClr val="F5F5F5"/>
          </a:solidFill>
          <a:ln w="19050">
            <a:solidFill>
              <a:srgbClr val="C0392B"/>
            </a:solidFill>
            <a:prstDash val="solid"/>
          </a:ln>
        </p:spPr>
        <p:txBody>
          <a:bodyPr/>
          <a:lstStyle/>
          <a:p>
            <a:endParaRPr lang="fr-FR"/>
          </a:p>
        </p:txBody>
      </p:sp>
      <p:sp>
        <p:nvSpPr>
          <p:cNvPr id="34" name="Text 9">
            <a:extLst>
              <a:ext uri="{FF2B5EF4-FFF2-40B4-BE49-F238E27FC236}">
                <a16:creationId xmlns:a16="http://schemas.microsoft.com/office/drawing/2014/main" id="{31A61F55-E8C9-C632-B13B-4897215EB2F7}"/>
              </a:ext>
            </a:extLst>
          </p:cNvPr>
          <p:cNvSpPr/>
          <p:nvPr/>
        </p:nvSpPr>
        <p:spPr>
          <a:xfrm>
            <a:off x="457200" y="2030839"/>
            <a:ext cx="3383280" cy="548640"/>
          </a:xfrm>
          <a:prstGeom prst="rect">
            <a:avLst/>
          </a:prstGeom>
          <a:noFill/>
          <a:ln/>
        </p:spPr>
        <p:txBody>
          <a:bodyPr wrap="square" rtlCol="0" anchor="ctr"/>
          <a:lstStyle/>
          <a:p>
            <a:pPr marL="0" indent="0">
              <a:buNone/>
            </a:pPr>
            <a:r>
              <a:rPr lang="en-US" sz="1300" b="1" dirty="0" err="1">
                <a:solidFill>
                  <a:srgbClr val="1A1A1A"/>
                </a:solidFill>
                <a:latin typeface="Calibri" pitchFamily="34" charset="0"/>
                <a:ea typeface="Calibri" pitchFamily="34" charset="-122"/>
                <a:cs typeface="Calibri" pitchFamily="34" charset="-120"/>
              </a:rPr>
              <a:t>Contexte</a:t>
            </a:r>
            <a:endParaRPr lang="en-US" sz="1300" dirty="0"/>
          </a:p>
        </p:txBody>
      </p:sp>
    </p:spTree>
    <p:extLst>
      <p:ext uri="{BB962C8B-B14F-4D97-AF65-F5344CB8AC3E}">
        <p14:creationId xmlns:p14="http://schemas.microsoft.com/office/powerpoint/2010/main" val="3383665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txBody>
          <a:bodyPr/>
          <a:lstStyle/>
          <a:p>
            <a:endParaRPr lang="fr-FR"/>
          </a:p>
        </p:txBody>
      </p:sp>
      <p:sp>
        <p:nvSpPr>
          <p:cNvPr id="3" name="Shape 1"/>
          <p:cNvSpPr/>
          <p:nvPr/>
        </p:nvSpPr>
        <p:spPr>
          <a:xfrm>
            <a:off x="0" y="6675120"/>
            <a:ext cx="12192000" cy="182880"/>
          </a:xfrm>
          <a:prstGeom prst="rect">
            <a:avLst/>
          </a:prstGeom>
          <a:solidFill>
            <a:srgbClr val="C0392B"/>
          </a:solidFill>
          <a:ln/>
        </p:spPr>
        <p:txBody>
          <a:bodyPr/>
          <a:lstStyle/>
          <a:p>
            <a:endParaRPr lang="fr-FR"/>
          </a:p>
        </p:txBody>
      </p:sp>
      <p:sp>
        <p:nvSpPr>
          <p:cNvPr id="4" name="Text 2"/>
          <p:cNvSpPr/>
          <p:nvPr/>
        </p:nvSpPr>
        <p:spPr>
          <a:xfrm>
            <a:off x="274320" y="6675120"/>
            <a:ext cx="9601200" cy="182880"/>
          </a:xfrm>
          <a:prstGeom prst="rect">
            <a:avLst/>
          </a:prstGeom>
          <a:noFill/>
          <a:ln/>
        </p:spPr>
        <p:txBody>
          <a:bodyPr wrap="square" rtlCol="0" anchor="ctr"/>
          <a:lstStyle/>
          <a:p>
            <a:pPr marL="0" indent="0">
              <a:buNone/>
            </a:pPr>
            <a:r>
              <a:rPr lang="fr-FR" sz="800" dirty="0">
                <a:solidFill>
                  <a:srgbClr val="FFFFFF"/>
                </a:solidFill>
                <a:latin typeface="Calibri" pitchFamily="34" charset="0"/>
                <a:ea typeface="Calibri" pitchFamily="34" charset="-122"/>
                <a:cs typeface="Calibri" pitchFamily="34" charset="-120"/>
              </a:rPr>
              <a:t>La Petite Maison de l’Épouvante —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marL="0" indent="0" algn="r">
              <a:buNone/>
            </a:pPr>
            <a:r>
              <a:rPr lang="en-US" sz="1800" b="1" dirty="0">
                <a:solidFill>
                  <a:srgbClr val="1A1A1A"/>
                </a:solidFill>
                <a:latin typeface="Calibri" pitchFamily="34" charset="0"/>
                <a:ea typeface="Calibri" pitchFamily="34" charset="-122"/>
                <a:cs typeface="Calibri" pitchFamily="34" charset="-120"/>
              </a:rPr>
              <a:t>3</a:t>
            </a:r>
            <a:endParaRPr lang="en-US" sz="1800" dirty="0"/>
          </a:p>
        </p:txBody>
      </p:sp>
      <p:sp>
        <p:nvSpPr>
          <p:cNvPr id="6" name="Shape 4"/>
          <p:cNvSpPr/>
          <p:nvPr/>
        </p:nvSpPr>
        <p:spPr>
          <a:xfrm>
            <a:off x="365760" y="1051560"/>
            <a:ext cx="2377440" cy="54864"/>
          </a:xfrm>
          <a:prstGeom prst="rect">
            <a:avLst/>
          </a:prstGeom>
          <a:solidFill>
            <a:srgbClr val="C0392B"/>
          </a:solidFill>
          <a:ln/>
        </p:spPr>
        <p:txBody>
          <a:bodyPr/>
          <a:lstStyle/>
          <a:p>
            <a:endParaRPr lang="fr-FR"/>
          </a:p>
        </p:txBody>
      </p:sp>
      <p:sp>
        <p:nvSpPr>
          <p:cNvPr id="7" name="Text 5"/>
          <p:cNvSpPr/>
          <p:nvPr/>
        </p:nvSpPr>
        <p:spPr>
          <a:xfrm>
            <a:off x="365760" y="640080"/>
            <a:ext cx="10972800" cy="548640"/>
          </a:xfrm>
          <a:prstGeom prst="rect">
            <a:avLst/>
          </a:prstGeom>
          <a:noFill/>
          <a:ln/>
        </p:spPr>
        <p:txBody>
          <a:bodyPr wrap="square" rtlCol="0" anchor="ctr"/>
          <a:lstStyle/>
          <a:p>
            <a:pPr marL="0" indent="0">
              <a:buNone/>
            </a:pPr>
            <a:r>
              <a:rPr lang="en-US" sz="1100" b="1" kern="0" spc="200" dirty="0">
                <a:solidFill>
                  <a:srgbClr val="E74C3C"/>
                </a:solidFill>
                <a:latin typeface="Calibri" pitchFamily="34" charset="0"/>
                <a:ea typeface="Calibri" pitchFamily="34" charset="-122"/>
                <a:cs typeface="Calibri" pitchFamily="34" charset="-120"/>
              </a:rPr>
              <a:t>CONTEXTE</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marL="0" indent="0">
              <a:buNone/>
            </a:pPr>
            <a:r>
              <a:rPr lang="en-US" sz="3400" b="1" dirty="0">
                <a:solidFill>
                  <a:srgbClr val="1A1A1A"/>
                </a:solidFill>
                <a:latin typeface="Palatino Linotype" pitchFamily="34" charset="0"/>
                <a:ea typeface="Palatino Linotype" pitchFamily="34" charset="-122"/>
                <a:cs typeface="Palatino Linotype" pitchFamily="34" charset="-120"/>
              </a:rPr>
              <a:t>La mission</a:t>
            </a:r>
            <a:endParaRPr lang="en-US" sz="3400" dirty="0"/>
          </a:p>
        </p:txBody>
      </p:sp>
      <p:sp>
        <p:nvSpPr>
          <p:cNvPr id="9" name="Shape 7"/>
          <p:cNvSpPr/>
          <p:nvPr/>
        </p:nvSpPr>
        <p:spPr>
          <a:xfrm>
            <a:off x="365760" y="2743200"/>
            <a:ext cx="3657600" cy="3657600"/>
          </a:xfrm>
          <a:prstGeom prst="rect">
            <a:avLst/>
          </a:prstGeom>
          <a:solidFill>
            <a:srgbClr val="F5F5F5"/>
          </a:solidFill>
          <a:ln w="19050">
            <a:solidFill>
              <a:srgbClr val="C0392B"/>
            </a:solidFill>
            <a:prstDash val="solid"/>
          </a:ln>
        </p:spPr>
        <p:txBody>
          <a:bodyPr/>
          <a:lstStyle/>
          <a:p>
            <a:endParaRPr lang="fr-FR"/>
          </a:p>
        </p:txBody>
      </p:sp>
      <p:sp>
        <p:nvSpPr>
          <p:cNvPr id="10" name="Text 8"/>
          <p:cNvSpPr/>
          <p:nvPr/>
        </p:nvSpPr>
        <p:spPr>
          <a:xfrm>
            <a:off x="502920" y="2834640"/>
            <a:ext cx="731520" cy="594360"/>
          </a:xfrm>
          <a:prstGeom prst="rect">
            <a:avLst/>
          </a:prstGeom>
          <a:noFill/>
          <a:ln/>
        </p:spPr>
        <p:txBody>
          <a:bodyPr wrap="square" rtlCol="0" anchor="ctr"/>
          <a:lstStyle/>
          <a:p>
            <a:pPr marL="0" indent="0">
              <a:buNone/>
            </a:pPr>
            <a:r>
              <a:rPr lang="en-US" sz="2800" b="1" dirty="0">
                <a:solidFill>
                  <a:srgbClr val="E74C3C"/>
                </a:solidFill>
                <a:latin typeface="Palatino Linotype" pitchFamily="34" charset="0"/>
                <a:ea typeface="Palatino Linotype" pitchFamily="34" charset="-122"/>
                <a:cs typeface="Palatino Linotype" pitchFamily="34" charset="-120"/>
              </a:rPr>
              <a:t>01</a:t>
            </a:r>
            <a:endParaRPr lang="en-US" sz="2800" dirty="0"/>
          </a:p>
        </p:txBody>
      </p:sp>
      <p:sp>
        <p:nvSpPr>
          <p:cNvPr id="11" name="Text 9"/>
          <p:cNvSpPr/>
          <p:nvPr/>
        </p:nvSpPr>
        <p:spPr>
          <a:xfrm>
            <a:off x="502920" y="3429000"/>
            <a:ext cx="3383280" cy="502920"/>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L'entreprise</a:t>
            </a:r>
            <a:endParaRPr lang="en-US" sz="1300" dirty="0"/>
          </a:p>
        </p:txBody>
      </p:sp>
      <p:sp>
        <p:nvSpPr>
          <p:cNvPr id="12" name="Shape 10"/>
          <p:cNvSpPr/>
          <p:nvPr/>
        </p:nvSpPr>
        <p:spPr>
          <a:xfrm>
            <a:off x="502920" y="3977640"/>
            <a:ext cx="3200400" cy="36576"/>
          </a:xfrm>
          <a:prstGeom prst="rect">
            <a:avLst/>
          </a:prstGeom>
          <a:solidFill>
            <a:srgbClr val="C0392B"/>
          </a:solidFill>
          <a:ln/>
        </p:spPr>
        <p:txBody>
          <a:bodyPr/>
          <a:lstStyle/>
          <a:p>
            <a:endParaRPr lang="fr-FR"/>
          </a:p>
        </p:txBody>
      </p:sp>
      <p:sp>
        <p:nvSpPr>
          <p:cNvPr id="13" name="Text 11"/>
          <p:cNvSpPr/>
          <p:nvPr/>
        </p:nvSpPr>
        <p:spPr>
          <a:xfrm>
            <a:off x="548640" y="4069080"/>
            <a:ext cx="3291840" cy="201168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10 ans dans le secteur horrifique</a:t>
            </a:r>
            <a:endParaRPr lang="en-US" sz="1200" dirty="0"/>
          </a:p>
          <a:p>
            <a:pPr marL="0" indent="0">
              <a:buNone/>
            </a:pPr>
            <a:r>
              <a:rPr lang="en-US" sz="1200" dirty="0">
                <a:solidFill>
                  <a:srgbClr val="555555"/>
                </a:solidFill>
                <a:latin typeface="Calibri" pitchFamily="34" charset="0"/>
                <a:ea typeface="Calibri" pitchFamily="34" charset="-122"/>
                <a:cs typeface="Calibri" pitchFamily="34" charset="-120"/>
              </a:rPr>
              <a:t>SI fragmenté — CMS basique</a:t>
            </a:r>
            <a:endParaRPr lang="en-US" sz="1200" dirty="0"/>
          </a:p>
          <a:p>
            <a:pPr marL="0" indent="0">
              <a:buNone/>
            </a:pPr>
            <a:r>
              <a:rPr lang="en-US" sz="1200" dirty="0">
                <a:solidFill>
                  <a:srgbClr val="555555"/>
                </a:solidFill>
                <a:latin typeface="Calibri" pitchFamily="34" charset="0"/>
                <a:ea typeface="Calibri" pitchFamily="34" charset="-122"/>
                <a:cs typeface="Calibri" pitchFamily="34" charset="-120"/>
              </a:rPr>
              <a:t>Aucune vente en ligne</a:t>
            </a:r>
            <a:endParaRPr lang="en-US" sz="1200" dirty="0"/>
          </a:p>
        </p:txBody>
      </p:sp>
      <p:sp>
        <p:nvSpPr>
          <p:cNvPr id="14" name="Shape 12"/>
          <p:cNvSpPr/>
          <p:nvPr/>
        </p:nvSpPr>
        <p:spPr>
          <a:xfrm>
            <a:off x="4297680" y="2743200"/>
            <a:ext cx="3657600" cy="3657600"/>
          </a:xfrm>
          <a:prstGeom prst="rect">
            <a:avLst/>
          </a:prstGeom>
          <a:solidFill>
            <a:srgbClr val="F5F5F5"/>
          </a:solidFill>
          <a:ln w="19050">
            <a:solidFill>
              <a:srgbClr val="C0392B"/>
            </a:solidFill>
            <a:prstDash val="solid"/>
          </a:ln>
        </p:spPr>
        <p:txBody>
          <a:bodyPr/>
          <a:lstStyle/>
          <a:p>
            <a:endParaRPr lang="fr-FR"/>
          </a:p>
        </p:txBody>
      </p:sp>
      <p:sp>
        <p:nvSpPr>
          <p:cNvPr id="15" name="Text 13"/>
          <p:cNvSpPr/>
          <p:nvPr/>
        </p:nvSpPr>
        <p:spPr>
          <a:xfrm>
            <a:off x="4434840" y="2834640"/>
            <a:ext cx="731520" cy="594360"/>
          </a:xfrm>
          <a:prstGeom prst="rect">
            <a:avLst/>
          </a:prstGeom>
          <a:noFill/>
          <a:ln/>
        </p:spPr>
        <p:txBody>
          <a:bodyPr wrap="square" rtlCol="0" anchor="ctr"/>
          <a:lstStyle/>
          <a:p>
            <a:pPr marL="0" indent="0">
              <a:buNone/>
            </a:pPr>
            <a:r>
              <a:rPr lang="en-US" sz="2800" b="1" dirty="0">
                <a:solidFill>
                  <a:srgbClr val="E74C3C"/>
                </a:solidFill>
                <a:latin typeface="Palatino Linotype" pitchFamily="34" charset="0"/>
                <a:ea typeface="Palatino Linotype" pitchFamily="34" charset="-122"/>
                <a:cs typeface="Palatino Linotype" pitchFamily="34" charset="-120"/>
              </a:rPr>
              <a:t>02</a:t>
            </a:r>
            <a:endParaRPr lang="en-US" sz="2800" dirty="0"/>
          </a:p>
        </p:txBody>
      </p:sp>
      <p:sp>
        <p:nvSpPr>
          <p:cNvPr id="16" name="Text 14"/>
          <p:cNvSpPr/>
          <p:nvPr/>
        </p:nvSpPr>
        <p:spPr>
          <a:xfrm>
            <a:off x="4434840" y="3429000"/>
            <a:ext cx="3383280" cy="502920"/>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La mission</a:t>
            </a:r>
            <a:endParaRPr lang="en-US" sz="1300" dirty="0"/>
          </a:p>
        </p:txBody>
      </p:sp>
      <p:sp>
        <p:nvSpPr>
          <p:cNvPr id="17" name="Shape 15"/>
          <p:cNvSpPr/>
          <p:nvPr/>
        </p:nvSpPr>
        <p:spPr>
          <a:xfrm>
            <a:off x="4434840" y="3977640"/>
            <a:ext cx="3200400" cy="36576"/>
          </a:xfrm>
          <a:prstGeom prst="rect">
            <a:avLst/>
          </a:prstGeom>
          <a:solidFill>
            <a:srgbClr val="C0392B"/>
          </a:solidFill>
          <a:ln/>
        </p:spPr>
        <p:txBody>
          <a:bodyPr/>
          <a:lstStyle/>
          <a:p>
            <a:endParaRPr lang="fr-FR"/>
          </a:p>
        </p:txBody>
      </p:sp>
      <p:sp>
        <p:nvSpPr>
          <p:cNvPr id="18" name="Text 16"/>
          <p:cNvSpPr/>
          <p:nvPr/>
        </p:nvSpPr>
        <p:spPr>
          <a:xfrm>
            <a:off x="4480560" y="4069080"/>
            <a:ext cx="3291840" cy="201168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Développer la v1 de la future</a:t>
            </a:r>
            <a:endParaRPr lang="en-US" sz="1200" dirty="0"/>
          </a:p>
          <a:p>
            <a:pPr marL="0" indent="0">
              <a:buNone/>
            </a:pPr>
            <a:r>
              <a:rPr lang="en-US" sz="1200" dirty="0">
                <a:solidFill>
                  <a:srgbClr val="555555"/>
                </a:solidFill>
                <a:latin typeface="Calibri" pitchFamily="34" charset="0"/>
                <a:ea typeface="Calibri" pitchFamily="34" charset="-122"/>
                <a:cs typeface="Calibri" pitchFamily="34" charset="-120"/>
              </a:rPr>
              <a:t>plateforme numérique</a:t>
            </a:r>
            <a:endParaRPr lang="en-US" sz="1200" dirty="0"/>
          </a:p>
          <a:p>
            <a:pPr marL="0" indent="0">
              <a:buNone/>
            </a:pPr>
            <a:r>
              <a:rPr lang="en-US" sz="1200" dirty="0">
                <a:solidFill>
                  <a:srgbClr val="555555"/>
                </a:solidFill>
                <a:latin typeface="Calibri" pitchFamily="34" charset="0"/>
                <a:ea typeface="Calibri" pitchFamily="34" charset="-122"/>
                <a:cs typeface="Calibri" pitchFamily="34" charset="-120"/>
              </a:rPr>
              <a:t>Base technique solide et évolutive</a:t>
            </a:r>
            <a:endParaRPr lang="en-US" sz="1200" dirty="0"/>
          </a:p>
        </p:txBody>
      </p:sp>
      <p:sp>
        <p:nvSpPr>
          <p:cNvPr id="19" name="Shape 17"/>
          <p:cNvSpPr/>
          <p:nvPr/>
        </p:nvSpPr>
        <p:spPr>
          <a:xfrm>
            <a:off x="8229600" y="2743200"/>
            <a:ext cx="3657600" cy="3657600"/>
          </a:xfrm>
          <a:prstGeom prst="rect">
            <a:avLst/>
          </a:prstGeom>
          <a:solidFill>
            <a:srgbClr val="F5F5F5"/>
          </a:solidFill>
          <a:ln w="19050">
            <a:solidFill>
              <a:srgbClr val="C0392B"/>
            </a:solidFill>
            <a:prstDash val="solid"/>
          </a:ln>
        </p:spPr>
        <p:txBody>
          <a:bodyPr/>
          <a:lstStyle/>
          <a:p>
            <a:endParaRPr lang="fr-FR"/>
          </a:p>
        </p:txBody>
      </p:sp>
      <p:sp>
        <p:nvSpPr>
          <p:cNvPr id="20" name="Text 18"/>
          <p:cNvSpPr/>
          <p:nvPr/>
        </p:nvSpPr>
        <p:spPr>
          <a:xfrm>
            <a:off x="8366760" y="2834640"/>
            <a:ext cx="731520" cy="594360"/>
          </a:xfrm>
          <a:prstGeom prst="rect">
            <a:avLst/>
          </a:prstGeom>
          <a:noFill/>
          <a:ln/>
        </p:spPr>
        <p:txBody>
          <a:bodyPr wrap="square" rtlCol="0" anchor="ctr"/>
          <a:lstStyle/>
          <a:p>
            <a:pPr marL="0" indent="0">
              <a:buNone/>
            </a:pPr>
            <a:r>
              <a:rPr lang="en-US" sz="2800" b="1" dirty="0">
                <a:solidFill>
                  <a:srgbClr val="E74C3C"/>
                </a:solidFill>
                <a:latin typeface="Palatino Linotype" pitchFamily="34" charset="0"/>
                <a:ea typeface="Palatino Linotype" pitchFamily="34" charset="-122"/>
                <a:cs typeface="Palatino Linotype" pitchFamily="34" charset="-120"/>
              </a:rPr>
              <a:t>03</a:t>
            </a:r>
            <a:endParaRPr lang="en-US" sz="2800" dirty="0"/>
          </a:p>
        </p:txBody>
      </p:sp>
      <p:sp>
        <p:nvSpPr>
          <p:cNvPr id="21" name="Text 19"/>
          <p:cNvSpPr/>
          <p:nvPr/>
        </p:nvSpPr>
        <p:spPr>
          <a:xfrm>
            <a:off x="8366760" y="3429000"/>
            <a:ext cx="3383280" cy="502920"/>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Mon rôle — Lead Developer</a:t>
            </a:r>
            <a:endParaRPr lang="en-US" sz="1300" dirty="0"/>
          </a:p>
        </p:txBody>
      </p:sp>
      <p:sp>
        <p:nvSpPr>
          <p:cNvPr id="22" name="Shape 20"/>
          <p:cNvSpPr/>
          <p:nvPr/>
        </p:nvSpPr>
        <p:spPr>
          <a:xfrm>
            <a:off x="8366760" y="3977640"/>
            <a:ext cx="3200400" cy="36576"/>
          </a:xfrm>
          <a:prstGeom prst="rect">
            <a:avLst/>
          </a:prstGeom>
          <a:solidFill>
            <a:srgbClr val="C0392B"/>
          </a:solidFill>
          <a:ln/>
        </p:spPr>
        <p:txBody>
          <a:bodyPr/>
          <a:lstStyle/>
          <a:p>
            <a:endParaRPr lang="fr-FR"/>
          </a:p>
        </p:txBody>
      </p:sp>
      <p:sp>
        <p:nvSpPr>
          <p:cNvPr id="23" name="Text 21"/>
          <p:cNvSpPr/>
          <p:nvPr/>
        </p:nvSpPr>
        <p:spPr>
          <a:xfrm>
            <a:off x="8412480" y="4069080"/>
            <a:ext cx="3291840" cy="201168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Processus qualité &amp; ISO 25010</a:t>
            </a:r>
            <a:endParaRPr lang="en-US" sz="1200" dirty="0"/>
          </a:p>
          <a:p>
            <a:pPr marL="0" indent="0">
              <a:buNone/>
            </a:pPr>
            <a:r>
              <a:rPr lang="en-US" sz="1200" dirty="0">
                <a:solidFill>
                  <a:srgbClr val="555555"/>
                </a:solidFill>
                <a:latin typeface="Calibri" pitchFamily="34" charset="0"/>
                <a:ea typeface="Calibri" pitchFamily="34" charset="-122"/>
                <a:cs typeface="Calibri" pitchFamily="34" charset="-120"/>
              </a:rPr>
              <a:t>POC fonctionnel &amp; architecture</a:t>
            </a:r>
            <a:endParaRPr lang="en-US" sz="1200" dirty="0"/>
          </a:p>
          <a:p>
            <a:pPr marL="0" indent="0">
              <a:buNone/>
            </a:pPr>
            <a:r>
              <a:rPr lang="en-US" sz="1200" dirty="0">
                <a:solidFill>
                  <a:srgbClr val="555555"/>
                </a:solidFill>
                <a:latin typeface="Calibri" pitchFamily="34" charset="0"/>
                <a:ea typeface="Calibri" pitchFamily="34" charset="-122"/>
                <a:cs typeface="Calibri" pitchFamily="34" charset="-120"/>
              </a:rPr>
              <a:t>Analyse sécurité &amp; remédiation</a:t>
            </a:r>
            <a:endParaRPr lang="en-US" sz="1200" dirty="0"/>
          </a:p>
        </p:txBody>
      </p:sp>
    </p:spTree>
    <p:extLst>
      <p:ext uri="{BB962C8B-B14F-4D97-AF65-F5344CB8AC3E}">
        <p14:creationId xmlns:p14="http://schemas.microsoft.com/office/powerpoint/2010/main" val="2008499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5F5F5"/>
          </a:solidFill>
          <a:ln/>
        </p:spPr>
        <p:txBody>
          <a:bodyPr/>
          <a:lstStyle/>
          <a:p>
            <a:endParaRPr lang="fr-FR"/>
          </a:p>
        </p:txBody>
      </p:sp>
      <p:sp>
        <p:nvSpPr>
          <p:cNvPr id="3" name="Shape 1"/>
          <p:cNvSpPr/>
          <p:nvPr/>
        </p:nvSpPr>
        <p:spPr>
          <a:xfrm>
            <a:off x="0" y="3200400"/>
            <a:ext cx="12192000" cy="73152"/>
          </a:xfrm>
          <a:prstGeom prst="rect">
            <a:avLst/>
          </a:prstGeom>
          <a:solidFill>
            <a:srgbClr val="C0392B"/>
          </a:solidFill>
          <a:ln/>
        </p:spPr>
        <p:txBody>
          <a:bodyPr/>
          <a:lstStyle/>
          <a:p>
            <a:endParaRPr lang="fr-FR"/>
          </a:p>
        </p:txBody>
      </p:sp>
      <p:sp>
        <p:nvSpPr>
          <p:cNvPr id="4" name="Text 2"/>
          <p:cNvSpPr/>
          <p:nvPr/>
        </p:nvSpPr>
        <p:spPr>
          <a:xfrm>
            <a:off x="0" y="1828800"/>
            <a:ext cx="12192000" cy="640080"/>
          </a:xfrm>
          <a:prstGeom prst="rect">
            <a:avLst/>
          </a:prstGeom>
          <a:noFill/>
          <a:ln/>
        </p:spPr>
        <p:txBody>
          <a:bodyPr wrap="square" rtlCol="0" anchor="ctr"/>
          <a:lstStyle/>
          <a:p>
            <a:pPr marL="0" indent="0" algn="ctr">
              <a:buNone/>
            </a:pPr>
            <a:r>
              <a:rPr lang="en-US" sz="1400" b="1" kern="0" spc="600" dirty="0">
                <a:solidFill>
                  <a:srgbClr val="E74C3C"/>
                </a:solidFill>
                <a:latin typeface="Calibri" pitchFamily="34" charset="0"/>
                <a:ea typeface="Calibri" pitchFamily="34" charset="-122"/>
                <a:cs typeface="Calibri" pitchFamily="34" charset="-120"/>
              </a:rPr>
              <a:t>PARTIE 1</a:t>
            </a:r>
            <a:endParaRPr lang="en-US" sz="1400" dirty="0"/>
          </a:p>
        </p:txBody>
      </p:sp>
      <p:sp>
        <p:nvSpPr>
          <p:cNvPr id="5" name="Text 3"/>
          <p:cNvSpPr/>
          <p:nvPr/>
        </p:nvSpPr>
        <p:spPr>
          <a:xfrm>
            <a:off x="0" y="2560320"/>
            <a:ext cx="12192000" cy="1371600"/>
          </a:xfrm>
          <a:prstGeom prst="rect">
            <a:avLst/>
          </a:prstGeom>
          <a:noFill/>
          <a:ln/>
        </p:spPr>
        <p:txBody>
          <a:bodyPr wrap="square" rtlCol="0" anchor="ctr"/>
          <a:lstStyle/>
          <a:p>
            <a:pPr marL="0" indent="0" algn="ctr">
              <a:buNone/>
            </a:pPr>
            <a:r>
              <a:rPr lang="en-US" sz="5400" b="1" dirty="0">
                <a:solidFill>
                  <a:srgbClr val="1A1A1A"/>
                </a:solidFill>
                <a:latin typeface="Palatino Linotype" pitchFamily="34" charset="0"/>
                <a:ea typeface="Palatino Linotype" pitchFamily="34" charset="-122"/>
                <a:cs typeface="Palatino Linotype" pitchFamily="34" charset="-120"/>
              </a:rPr>
              <a:t>Processus Qualité</a:t>
            </a:r>
            <a:endParaRPr lang="en-US" sz="5400" dirty="0"/>
          </a:p>
        </p:txBody>
      </p:sp>
      <p:sp>
        <p:nvSpPr>
          <p:cNvPr id="6" name="Text 4"/>
          <p:cNvSpPr/>
          <p:nvPr/>
        </p:nvSpPr>
        <p:spPr>
          <a:xfrm>
            <a:off x="0" y="4023360"/>
            <a:ext cx="12192000" cy="457200"/>
          </a:xfrm>
          <a:prstGeom prst="rect">
            <a:avLst/>
          </a:prstGeom>
          <a:noFill/>
          <a:ln/>
        </p:spPr>
        <p:txBody>
          <a:bodyPr wrap="square" rtlCol="0" anchor="ctr"/>
          <a:lstStyle/>
          <a:p>
            <a:pPr marL="0" indent="0" algn="ctr">
              <a:buNone/>
            </a:pPr>
            <a:r>
              <a:rPr lang="en-US" sz="1400" i="1" dirty="0">
                <a:solidFill>
                  <a:srgbClr val="555555"/>
                </a:solidFill>
                <a:latin typeface="Calibri" pitchFamily="34" charset="0"/>
                <a:ea typeface="Calibri" pitchFamily="34" charset="-122"/>
                <a:cs typeface="Calibri" pitchFamily="34" charset="-120"/>
              </a:rPr>
              <a:t>ISO 25010 · DevSecOps · CI/CD · Compétences</a:t>
            </a:r>
            <a:endParaRPr lang="en-US" sz="1400" dirty="0"/>
          </a:p>
        </p:txBody>
      </p:sp>
    </p:spTree>
    <p:extLst>
      <p:ext uri="{BB962C8B-B14F-4D97-AF65-F5344CB8AC3E}">
        <p14:creationId xmlns:p14="http://schemas.microsoft.com/office/powerpoint/2010/main" val="2316608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txBody>
          <a:bodyPr/>
          <a:lstStyle/>
          <a:p>
            <a:endParaRPr lang="fr-FR"/>
          </a:p>
        </p:txBody>
      </p:sp>
      <p:sp>
        <p:nvSpPr>
          <p:cNvPr id="3" name="Shape 1"/>
          <p:cNvSpPr/>
          <p:nvPr/>
        </p:nvSpPr>
        <p:spPr>
          <a:xfrm>
            <a:off x="0" y="6675120"/>
            <a:ext cx="12192000" cy="182880"/>
          </a:xfrm>
          <a:prstGeom prst="rect">
            <a:avLst/>
          </a:prstGeom>
          <a:solidFill>
            <a:srgbClr val="C0392B"/>
          </a:solidFill>
          <a:ln/>
        </p:spPr>
        <p:txBody>
          <a:bodyPr/>
          <a:lstStyle/>
          <a:p>
            <a:endParaRPr lang="fr-FR"/>
          </a:p>
        </p:txBody>
      </p:sp>
      <p:sp>
        <p:nvSpPr>
          <p:cNvPr id="4" name="Text 2"/>
          <p:cNvSpPr/>
          <p:nvPr/>
        </p:nvSpPr>
        <p:spPr>
          <a:xfrm>
            <a:off x="274320" y="6675120"/>
            <a:ext cx="9601200" cy="182880"/>
          </a:xfrm>
          <a:prstGeom prst="rect">
            <a:avLst/>
          </a:prstGeom>
          <a:noFill/>
          <a:ln/>
        </p:spPr>
        <p:txBody>
          <a:bodyPr wrap="square" rtlCol="0" anchor="ctr"/>
          <a:lstStyle/>
          <a:p>
            <a:pPr marL="0" indent="0">
              <a:buNone/>
            </a:pPr>
            <a:r>
              <a:rPr lang="fr-FR" sz="800" dirty="0">
                <a:solidFill>
                  <a:srgbClr val="FFFFFF"/>
                </a:solidFill>
                <a:latin typeface="Calibri" pitchFamily="34" charset="0"/>
                <a:ea typeface="Calibri" pitchFamily="34" charset="-122"/>
                <a:cs typeface="Calibri" pitchFamily="34" charset="-120"/>
              </a:rPr>
              <a:t>La Petite Maison de l’Épouvante —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marL="0" indent="0" algn="r">
              <a:buNone/>
            </a:pPr>
            <a:r>
              <a:rPr lang="en-US" sz="1800" b="1" dirty="0">
                <a:solidFill>
                  <a:srgbClr val="1A1A1A"/>
                </a:solidFill>
                <a:latin typeface="Calibri" pitchFamily="34" charset="0"/>
                <a:ea typeface="Calibri" pitchFamily="34" charset="-122"/>
                <a:cs typeface="Calibri" pitchFamily="34" charset="-120"/>
              </a:rPr>
              <a:t>5</a:t>
            </a:r>
            <a:endParaRPr lang="en-US" sz="1800" dirty="0"/>
          </a:p>
        </p:txBody>
      </p:sp>
      <p:sp>
        <p:nvSpPr>
          <p:cNvPr id="6" name="Shape 4"/>
          <p:cNvSpPr/>
          <p:nvPr/>
        </p:nvSpPr>
        <p:spPr>
          <a:xfrm>
            <a:off x="365760" y="1051560"/>
            <a:ext cx="2377440" cy="54864"/>
          </a:xfrm>
          <a:prstGeom prst="rect">
            <a:avLst/>
          </a:prstGeom>
          <a:solidFill>
            <a:srgbClr val="C0392B"/>
          </a:solidFill>
          <a:ln/>
        </p:spPr>
        <p:txBody>
          <a:bodyPr/>
          <a:lstStyle/>
          <a:p>
            <a:endParaRPr lang="fr-FR"/>
          </a:p>
        </p:txBody>
      </p:sp>
      <p:sp>
        <p:nvSpPr>
          <p:cNvPr id="7" name="Text 5"/>
          <p:cNvSpPr/>
          <p:nvPr/>
        </p:nvSpPr>
        <p:spPr>
          <a:xfrm>
            <a:off x="365760" y="640080"/>
            <a:ext cx="10972800" cy="548640"/>
          </a:xfrm>
          <a:prstGeom prst="rect">
            <a:avLst/>
          </a:prstGeom>
          <a:noFill/>
          <a:ln/>
        </p:spPr>
        <p:txBody>
          <a:bodyPr wrap="square" rtlCol="0" anchor="ctr"/>
          <a:lstStyle/>
          <a:p>
            <a:pPr marL="0" indent="0">
              <a:buNone/>
            </a:pPr>
            <a:r>
              <a:rPr lang="en-US" sz="1100" b="1" kern="0" spc="200" dirty="0">
                <a:solidFill>
                  <a:srgbClr val="E74C3C"/>
                </a:solidFill>
                <a:latin typeface="Calibri" pitchFamily="34" charset="0"/>
                <a:ea typeface="Calibri" pitchFamily="34" charset="-122"/>
                <a:cs typeface="Calibri" pitchFamily="34" charset="-120"/>
              </a:rPr>
              <a:t>QUALITE LOGICIELLE — ISO 25010</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marL="0" indent="0">
              <a:buNone/>
            </a:pPr>
            <a:r>
              <a:rPr lang="en-US" sz="3400" b="1" dirty="0">
                <a:solidFill>
                  <a:srgbClr val="1A1A1A"/>
                </a:solidFill>
                <a:latin typeface="Palatino Linotype" pitchFamily="34" charset="0"/>
                <a:ea typeface="Palatino Linotype" pitchFamily="34" charset="-122"/>
                <a:cs typeface="Palatino Linotype" pitchFamily="34" charset="-120"/>
              </a:rPr>
              <a:t>4 métriques pour éviter</a:t>
            </a:r>
            <a:endParaRPr lang="en-US" sz="3400" dirty="0"/>
          </a:p>
          <a:p>
            <a:pPr marL="0" indent="0">
              <a:buNone/>
            </a:pPr>
            <a:r>
              <a:rPr lang="en-US" sz="3400" b="1" dirty="0">
                <a:solidFill>
                  <a:srgbClr val="1A1A1A"/>
                </a:solidFill>
                <a:latin typeface="Palatino Linotype" pitchFamily="34" charset="0"/>
                <a:ea typeface="Palatino Linotype" pitchFamily="34" charset="-122"/>
                <a:cs typeface="Palatino Linotype" pitchFamily="34" charset="-120"/>
              </a:rPr>
              <a:t>la dette technique</a:t>
            </a:r>
            <a:endParaRPr lang="en-US" sz="3400" dirty="0"/>
          </a:p>
        </p:txBody>
      </p:sp>
      <p:sp>
        <p:nvSpPr>
          <p:cNvPr id="9" name="Shape 7"/>
          <p:cNvSpPr/>
          <p:nvPr/>
        </p:nvSpPr>
        <p:spPr>
          <a:xfrm>
            <a:off x="274320" y="2926080"/>
            <a:ext cx="2743200" cy="3291840"/>
          </a:xfrm>
          <a:prstGeom prst="rect">
            <a:avLst/>
          </a:prstGeom>
          <a:solidFill>
            <a:srgbClr val="F5F5F5"/>
          </a:solidFill>
          <a:ln w="19050">
            <a:solidFill>
              <a:srgbClr val="C0392B"/>
            </a:solidFill>
            <a:prstDash val="solid"/>
          </a:ln>
        </p:spPr>
        <p:txBody>
          <a:bodyPr/>
          <a:lstStyle/>
          <a:p>
            <a:endParaRPr lang="fr-FR"/>
          </a:p>
        </p:txBody>
      </p:sp>
      <p:sp>
        <p:nvSpPr>
          <p:cNvPr id="10" name="Text 8"/>
          <p:cNvSpPr/>
          <p:nvPr/>
        </p:nvSpPr>
        <p:spPr>
          <a:xfrm>
            <a:off x="411480" y="3063240"/>
            <a:ext cx="2468880" cy="640080"/>
          </a:xfrm>
          <a:prstGeom prst="rect">
            <a:avLst/>
          </a:prstGeom>
          <a:noFill/>
          <a:ln/>
        </p:spPr>
        <p:txBody>
          <a:bodyPr wrap="square" rtlCol="0" anchor="ctr"/>
          <a:lstStyle/>
          <a:p>
            <a:pPr marL="0" indent="0" algn="ctr">
              <a:buNone/>
            </a:pPr>
            <a:r>
              <a:rPr lang="en-US" sz="1200" b="1" dirty="0">
                <a:solidFill>
                  <a:srgbClr val="555555"/>
                </a:solidFill>
                <a:latin typeface="Calibri" pitchFamily="34" charset="0"/>
                <a:ea typeface="Calibri" pitchFamily="34" charset="-122"/>
                <a:cs typeface="Calibri" pitchFamily="34" charset="-120"/>
              </a:rPr>
              <a:t>Couverture</a:t>
            </a:r>
            <a:endParaRPr lang="en-US" sz="1200" dirty="0"/>
          </a:p>
          <a:p>
            <a:pPr marL="0" indent="0" algn="ctr">
              <a:buNone/>
            </a:pPr>
            <a:r>
              <a:rPr lang="en-US" sz="1200" b="1" dirty="0">
                <a:solidFill>
                  <a:srgbClr val="555555"/>
                </a:solidFill>
                <a:latin typeface="Calibri" pitchFamily="34" charset="0"/>
                <a:ea typeface="Calibri" pitchFamily="34" charset="-122"/>
                <a:cs typeface="Calibri" pitchFamily="34" charset="-120"/>
              </a:rPr>
              <a:t>de tests</a:t>
            </a:r>
            <a:endParaRPr lang="en-US" sz="1200" dirty="0"/>
          </a:p>
        </p:txBody>
      </p:sp>
      <p:sp>
        <p:nvSpPr>
          <p:cNvPr id="11" name="Text 9"/>
          <p:cNvSpPr/>
          <p:nvPr/>
        </p:nvSpPr>
        <p:spPr>
          <a:xfrm>
            <a:off x="365760" y="3749040"/>
            <a:ext cx="2560320" cy="914400"/>
          </a:xfrm>
          <a:prstGeom prst="rect">
            <a:avLst/>
          </a:prstGeom>
          <a:noFill/>
          <a:ln/>
        </p:spPr>
        <p:txBody>
          <a:bodyPr wrap="square" rtlCol="0" anchor="ctr"/>
          <a:lstStyle/>
          <a:p>
            <a:pPr marL="0" indent="0" algn="ctr">
              <a:buNone/>
            </a:pPr>
            <a:r>
              <a:rPr lang="en-US" sz="2200" b="1" dirty="0">
                <a:solidFill>
                  <a:srgbClr val="E74C3C"/>
                </a:solidFill>
                <a:latin typeface="Palatino Linotype" pitchFamily="34" charset="0"/>
                <a:ea typeface="Palatino Linotype" pitchFamily="34" charset="-122"/>
                <a:cs typeface="Palatino Linotype" pitchFamily="34" charset="-120"/>
              </a:rPr>
              <a:t>78,95%</a:t>
            </a:r>
            <a:endParaRPr lang="en-US" sz="2200" dirty="0"/>
          </a:p>
          <a:p>
            <a:pPr marL="0" indent="0" algn="ctr">
              <a:buNone/>
            </a:pPr>
            <a:r>
              <a:rPr lang="en-US" sz="2200" b="1" dirty="0">
                <a:solidFill>
                  <a:srgbClr val="E74C3C"/>
                </a:solidFill>
                <a:latin typeface="Palatino Linotype" pitchFamily="34" charset="0"/>
                <a:ea typeface="Palatino Linotype" pitchFamily="34" charset="-122"/>
                <a:cs typeface="Palatino Linotype" pitchFamily="34" charset="-120"/>
              </a:rPr>
              <a:t>classes</a:t>
            </a:r>
            <a:endParaRPr lang="en-US" sz="2200" dirty="0"/>
          </a:p>
        </p:txBody>
      </p:sp>
      <p:sp>
        <p:nvSpPr>
          <p:cNvPr id="12" name="Shape 10"/>
          <p:cNvSpPr/>
          <p:nvPr/>
        </p:nvSpPr>
        <p:spPr>
          <a:xfrm>
            <a:off x="731520" y="4709160"/>
            <a:ext cx="1828800" cy="36576"/>
          </a:xfrm>
          <a:prstGeom prst="rect">
            <a:avLst/>
          </a:prstGeom>
          <a:solidFill>
            <a:srgbClr val="C0392B"/>
          </a:solidFill>
          <a:ln/>
        </p:spPr>
        <p:txBody>
          <a:bodyPr/>
          <a:lstStyle/>
          <a:p>
            <a:endParaRPr lang="fr-FR"/>
          </a:p>
        </p:txBody>
      </p:sp>
      <p:sp>
        <p:nvSpPr>
          <p:cNvPr id="13" name="Text 11"/>
          <p:cNvSpPr/>
          <p:nvPr/>
        </p:nvSpPr>
        <p:spPr>
          <a:xfrm>
            <a:off x="365760" y="4800600"/>
            <a:ext cx="2560320" cy="365760"/>
          </a:xfrm>
          <a:prstGeom prst="rect">
            <a:avLst/>
          </a:prstGeom>
          <a:noFill/>
          <a:ln/>
        </p:spPr>
        <p:txBody>
          <a:bodyPr wrap="square" rtlCol="0" anchor="ctr"/>
          <a:lstStyle/>
          <a:p>
            <a:pPr marL="0" indent="0" algn="ctr">
              <a:buNone/>
            </a:pPr>
            <a:r>
              <a:rPr lang="en-US" sz="1000" dirty="0">
                <a:solidFill>
                  <a:srgbClr val="F39C12"/>
                </a:solidFill>
                <a:latin typeface="Calibri" pitchFamily="34" charset="0"/>
                <a:ea typeface="Calibri" pitchFamily="34" charset="-122"/>
                <a:cs typeface="Calibri" pitchFamily="34" charset="-120"/>
              </a:rPr>
              <a:t>Fiabilité</a:t>
            </a:r>
            <a:endParaRPr lang="en-US" sz="1000" dirty="0"/>
          </a:p>
        </p:txBody>
      </p:sp>
      <p:sp>
        <p:nvSpPr>
          <p:cNvPr id="14" name="Text 12"/>
          <p:cNvSpPr/>
          <p:nvPr/>
        </p:nvSpPr>
        <p:spPr>
          <a:xfrm>
            <a:off x="365760" y="5212080"/>
            <a:ext cx="2560320" cy="365760"/>
          </a:xfrm>
          <a:prstGeom prst="rect">
            <a:avLst/>
          </a:prstGeom>
          <a:noFill/>
          <a:ln/>
        </p:spPr>
        <p:txBody>
          <a:bodyPr wrap="square" rtlCol="0" anchor="ctr"/>
          <a:lstStyle/>
          <a:p>
            <a:pPr marL="0" indent="0" algn="ctr">
              <a:buNone/>
            </a:pPr>
            <a:r>
              <a:rPr lang="en-US" sz="1100" i="1" dirty="0">
                <a:solidFill>
                  <a:srgbClr val="555555"/>
                </a:solidFill>
                <a:latin typeface="Calibri" pitchFamily="34" charset="0"/>
                <a:ea typeface="Calibri" pitchFamily="34" charset="-122"/>
                <a:cs typeface="Calibri" pitchFamily="34" charset="-120"/>
              </a:rPr>
              <a:t>52% lignes · PHPUnit + PCOV</a:t>
            </a:r>
            <a:endParaRPr lang="en-US" sz="1100" dirty="0"/>
          </a:p>
        </p:txBody>
      </p:sp>
      <p:sp>
        <p:nvSpPr>
          <p:cNvPr id="15" name="Shape 13"/>
          <p:cNvSpPr/>
          <p:nvPr/>
        </p:nvSpPr>
        <p:spPr>
          <a:xfrm>
            <a:off x="3200400" y="2926080"/>
            <a:ext cx="2743200" cy="3291840"/>
          </a:xfrm>
          <a:prstGeom prst="rect">
            <a:avLst/>
          </a:prstGeom>
          <a:solidFill>
            <a:srgbClr val="F5F5F5"/>
          </a:solidFill>
          <a:ln w="19050">
            <a:solidFill>
              <a:srgbClr val="C0392B"/>
            </a:solidFill>
            <a:prstDash val="solid"/>
          </a:ln>
        </p:spPr>
        <p:txBody>
          <a:bodyPr/>
          <a:lstStyle/>
          <a:p>
            <a:endParaRPr lang="fr-FR"/>
          </a:p>
        </p:txBody>
      </p:sp>
      <p:sp>
        <p:nvSpPr>
          <p:cNvPr id="16" name="Text 14"/>
          <p:cNvSpPr/>
          <p:nvPr/>
        </p:nvSpPr>
        <p:spPr>
          <a:xfrm>
            <a:off x="3337560" y="3063240"/>
            <a:ext cx="2468880" cy="640080"/>
          </a:xfrm>
          <a:prstGeom prst="rect">
            <a:avLst/>
          </a:prstGeom>
          <a:noFill/>
          <a:ln/>
        </p:spPr>
        <p:txBody>
          <a:bodyPr wrap="square" rtlCol="0" anchor="ctr"/>
          <a:lstStyle/>
          <a:p>
            <a:pPr marL="0" indent="0" algn="ctr">
              <a:buNone/>
            </a:pPr>
            <a:r>
              <a:rPr lang="en-US" sz="1200" b="1" dirty="0">
                <a:solidFill>
                  <a:srgbClr val="555555"/>
                </a:solidFill>
                <a:latin typeface="Calibri" pitchFamily="34" charset="0"/>
                <a:ea typeface="Calibri" pitchFamily="34" charset="-122"/>
                <a:cs typeface="Calibri" pitchFamily="34" charset="-120"/>
              </a:rPr>
              <a:t>Vulnérabilités</a:t>
            </a:r>
            <a:endParaRPr lang="en-US" sz="1200" dirty="0"/>
          </a:p>
          <a:p>
            <a:pPr marL="0" indent="0" algn="ctr">
              <a:buNone/>
            </a:pPr>
            <a:r>
              <a:rPr lang="en-US" sz="1200" b="1" dirty="0">
                <a:solidFill>
                  <a:srgbClr val="555555"/>
                </a:solidFill>
                <a:latin typeface="Calibri" pitchFamily="34" charset="0"/>
                <a:ea typeface="Calibri" pitchFamily="34" charset="-122"/>
                <a:cs typeface="Calibri" pitchFamily="34" charset="-120"/>
              </a:rPr>
              <a:t>0-day</a:t>
            </a:r>
            <a:endParaRPr lang="en-US" sz="1200" dirty="0"/>
          </a:p>
        </p:txBody>
      </p:sp>
      <p:sp>
        <p:nvSpPr>
          <p:cNvPr id="17" name="Text 15"/>
          <p:cNvSpPr/>
          <p:nvPr/>
        </p:nvSpPr>
        <p:spPr>
          <a:xfrm>
            <a:off x="3291840" y="3749040"/>
            <a:ext cx="2560320" cy="914400"/>
          </a:xfrm>
          <a:prstGeom prst="rect">
            <a:avLst/>
          </a:prstGeom>
          <a:noFill/>
          <a:ln/>
        </p:spPr>
        <p:txBody>
          <a:bodyPr wrap="square" rtlCol="0" anchor="ctr"/>
          <a:lstStyle/>
          <a:p>
            <a:pPr marL="0" indent="0" algn="ctr">
              <a:buNone/>
            </a:pPr>
            <a:r>
              <a:rPr lang="en-US" sz="2200" b="1" dirty="0">
                <a:solidFill>
                  <a:srgbClr val="E74C3C"/>
                </a:solidFill>
                <a:latin typeface="Palatino Linotype" pitchFamily="34" charset="0"/>
                <a:ea typeface="Palatino Linotype" pitchFamily="34" charset="-122"/>
                <a:cs typeface="Palatino Linotype" pitchFamily="34" charset="-120"/>
              </a:rPr>
              <a:t>0</a:t>
            </a:r>
            <a:endParaRPr lang="en-US" sz="2200" dirty="0"/>
          </a:p>
          <a:p>
            <a:pPr marL="0" indent="0" algn="ctr">
              <a:buNone/>
            </a:pPr>
            <a:r>
              <a:rPr lang="en-US" sz="2200" b="1" dirty="0">
                <a:solidFill>
                  <a:srgbClr val="E74C3C"/>
                </a:solidFill>
                <a:latin typeface="Palatino Linotype" pitchFamily="34" charset="0"/>
                <a:ea typeface="Palatino Linotype" pitchFamily="34" charset="-122"/>
                <a:cs typeface="Palatino Linotype" pitchFamily="34" charset="-120"/>
              </a:rPr>
              <a:t>CRITICAL</a:t>
            </a:r>
            <a:endParaRPr lang="en-US" sz="2200" dirty="0"/>
          </a:p>
        </p:txBody>
      </p:sp>
      <p:sp>
        <p:nvSpPr>
          <p:cNvPr id="18" name="Shape 16"/>
          <p:cNvSpPr/>
          <p:nvPr/>
        </p:nvSpPr>
        <p:spPr>
          <a:xfrm>
            <a:off x="3657600" y="4709160"/>
            <a:ext cx="1828800" cy="36576"/>
          </a:xfrm>
          <a:prstGeom prst="rect">
            <a:avLst/>
          </a:prstGeom>
          <a:solidFill>
            <a:srgbClr val="C0392B"/>
          </a:solidFill>
          <a:ln/>
        </p:spPr>
        <p:txBody>
          <a:bodyPr/>
          <a:lstStyle/>
          <a:p>
            <a:endParaRPr lang="fr-FR"/>
          </a:p>
        </p:txBody>
      </p:sp>
      <p:sp>
        <p:nvSpPr>
          <p:cNvPr id="19" name="Text 17"/>
          <p:cNvSpPr/>
          <p:nvPr/>
        </p:nvSpPr>
        <p:spPr>
          <a:xfrm>
            <a:off x="3291840" y="4800600"/>
            <a:ext cx="2560320" cy="365760"/>
          </a:xfrm>
          <a:prstGeom prst="rect">
            <a:avLst/>
          </a:prstGeom>
          <a:noFill/>
          <a:ln/>
        </p:spPr>
        <p:txBody>
          <a:bodyPr wrap="square" rtlCol="0" anchor="ctr"/>
          <a:lstStyle/>
          <a:p>
            <a:pPr marL="0" indent="0" algn="ctr">
              <a:buNone/>
            </a:pPr>
            <a:r>
              <a:rPr lang="en-US" sz="1000" dirty="0">
                <a:solidFill>
                  <a:srgbClr val="F39C12"/>
                </a:solidFill>
                <a:latin typeface="Calibri" pitchFamily="34" charset="0"/>
                <a:ea typeface="Calibri" pitchFamily="34" charset="-122"/>
                <a:cs typeface="Calibri" pitchFamily="34" charset="-120"/>
              </a:rPr>
              <a:t>Sécurité</a:t>
            </a:r>
            <a:endParaRPr lang="en-US" sz="1000" dirty="0"/>
          </a:p>
        </p:txBody>
      </p:sp>
      <p:sp>
        <p:nvSpPr>
          <p:cNvPr id="20" name="Text 18"/>
          <p:cNvSpPr/>
          <p:nvPr/>
        </p:nvSpPr>
        <p:spPr>
          <a:xfrm>
            <a:off x="3291840" y="5212080"/>
            <a:ext cx="2560320" cy="365760"/>
          </a:xfrm>
          <a:prstGeom prst="rect">
            <a:avLst/>
          </a:prstGeom>
          <a:noFill/>
          <a:ln/>
        </p:spPr>
        <p:txBody>
          <a:bodyPr wrap="square" rtlCol="0" anchor="ctr"/>
          <a:lstStyle/>
          <a:p>
            <a:pPr marL="0" indent="0" algn="ctr">
              <a:buNone/>
            </a:pPr>
            <a:r>
              <a:rPr lang="en-US" sz="1100" i="1" dirty="0">
                <a:solidFill>
                  <a:srgbClr val="555555"/>
                </a:solidFill>
                <a:latin typeface="Calibri" pitchFamily="34" charset="0"/>
                <a:ea typeface="Calibri" pitchFamily="34" charset="-122"/>
                <a:cs typeface="Calibri" pitchFamily="34" charset="-120"/>
              </a:rPr>
              <a:t>Trivy</a:t>
            </a:r>
            <a:endParaRPr lang="en-US" sz="1100" dirty="0"/>
          </a:p>
        </p:txBody>
      </p:sp>
      <p:sp>
        <p:nvSpPr>
          <p:cNvPr id="21" name="Shape 19"/>
          <p:cNvSpPr/>
          <p:nvPr/>
        </p:nvSpPr>
        <p:spPr>
          <a:xfrm>
            <a:off x="6126480" y="2926080"/>
            <a:ext cx="2743200" cy="3291840"/>
          </a:xfrm>
          <a:prstGeom prst="rect">
            <a:avLst/>
          </a:prstGeom>
          <a:solidFill>
            <a:srgbClr val="F5F5F5"/>
          </a:solidFill>
          <a:ln w="19050">
            <a:solidFill>
              <a:srgbClr val="C0392B"/>
            </a:solidFill>
            <a:prstDash val="solid"/>
          </a:ln>
        </p:spPr>
        <p:txBody>
          <a:bodyPr/>
          <a:lstStyle/>
          <a:p>
            <a:endParaRPr lang="fr-FR"/>
          </a:p>
        </p:txBody>
      </p:sp>
      <p:sp>
        <p:nvSpPr>
          <p:cNvPr id="22" name="Text 20"/>
          <p:cNvSpPr/>
          <p:nvPr/>
        </p:nvSpPr>
        <p:spPr>
          <a:xfrm>
            <a:off x="6263640" y="3063240"/>
            <a:ext cx="2468880" cy="640080"/>
          </a:xfrm>
          <a:prstGeom prst="rect">
            <a:avLst/>
          </a:prstGeom>
          <a:noFill/>
          <a:ln/>
        </p:spPr>
        <p:txBody>
          <a:bodyPr wrap="square" rtlCol="0" anchor="ctr"/>
          <a:lstStyle/>
          <a:p>
            <a:pPr marL="0" indent="0" algn="ctr">
              <a:buNone/>
            </a:pPr>
            <a:r>
              <a:rPr lang="en-US" sz="1200" b="1" dirty="0">
                <a:solidFill>
                  <a:srgbClr val="555555"/>
                </a:solidFill>
                <a:latin typeface="Calibri" pitchFamily="34" charset="0"/>
                <a:ea typeface="Calibri" pitchFamily="34" charset="-122"/>
                <a:cs typeface="Calibri" pitchFamily="34" charset="-120"/>
              </a:rPr>
              <a:t>Temps de</a:t>
            </a:r>
            <a:endParaRPr lang="en-US" sz="1200" dirty="0"/>
          </a:p>
          <a:p>
            <a:pPr marL="0" indent="0" algn="ctr">
              <a:buNone/>
            </a:pPr>
            <a:r>
              <a:rPr lang="en-US" sz="1200" b="1" dirty="0">
                <a:solidFill>
                  <a:srgbClr val="555555"/>
                </a:solidFill>
                <a:latin typeface="Calibri" pitchFamily="34" charset="0"/>
                <a:ea typeface="Calibri" pitchFamily="34" charset="-122"/>
                <a:cs typeface="Calibri" pitchFamily="34" charset="-120"/>
              </a:rPr>
              <a:t>réponse p95</a:t>
            </a:r>
            <a:endParaRPr lang="en-US" sz="1200" dirty="0"/>
          </a:p>
        </p:txBody>
      </p:sp>
      <p:sp>
        <p:nvSpPr>
          <p:cNvPr id="23" name="Text 21"/>
          <p:cNvSpPr/>
          <p:nvPr/>
        </p:nvSpPr>
        <p:spPr>
          <a:xfrm>
            <a:off x="6217920" y="3749040"/>
            <a:ext cx="2560320" cy="914400"/>
          </a:xfrm>
          <a:prstGeom prst="rect">
            <a:avLst/>
          </a:prstGeom>
          <a:noFill/>
          <a:ln/>
        </p:spPr>
        <p:txBody>
          <a:bodyPr wrap="square" rtlCol="0" anchor="ctr"/>
          <a:lstStyle/>
          <a:p>
            <a:pPr marL="0" indent="0" algn="ctr">
              <a:buNone/>
            </a:pPr>
            <a:r>
              <a:rPr lang="en-US" sz="2200" b="1" dirty="0">
                <a:solidFill>
                  <a:srgbClr val="E74C3C"/>
                </a:solidFill>
                <a:latin typeface="Palatino Linotype" pitchFamily="34" charset="0"/>
                <a:ea typeface="Palatino Linotype" pitchFamily="34" charset="-122"/>
                <a:cs typeface="Palatino Linotype" pitchFamily="34" charset="-120"/>
              </a:rPr>
              <a:t>&lt; 200ms</a:t>
            </a:r>
            <a:endParaRPr lang="en-US" sz="2200" dirty="0"/>
          </a:p>
        </p:txBody>
      </p:sp>
      <p:sp>
        <p:nvSpPr>
          <p:cNvPr id="24" name="Shape 22"/>
          <p:cNvSpPr/>
          <p:nvPr/>
        </p:nvSpPr>
        <p:spPr>
          <a:xfrm>
            <a:off x="6583680" y="4709160"/>
            <a:ext cx="1828800" cy="36576"/>
          </a:xfrm>
          <a:prstGeom prst="rect">
            <a:avLst/>
          </a:prstGeom>
          <a:solidFill>
            <a:srgbClr val="C0392B"/>
          </a:solidFill>
          <a:ln/>
        </p:spPr>
        <p:txBody>
          <a:bodyPr/>
          <a:lstStyle/>
          <a:p>
            <a:endParaRPr lang="fr-FR"/>
          </a:p>
        </p:txBody>
      </p:sp>
      <p:sp>
        <p:nvSpPr>
          <p:cNvPr id="25" name="Text 23"/>
          <p:cNvSpPr/>
          <p:nvPr/>
        </p:nvSpPr>
        <p:spPr>
          <a:xfrm>
            <a:off x="6217920" y="4800600"/>
            <a:ext cx="2560320" cy="365760"/>
          </a:xfrm>
          <a:prstGeom prst="rect">
            <a:avLst/>
          </a:prstGeom>
          <a:noFill/>
          <a:ln/>
        </p:spPr>
        <p:txBody>
          <a:bodyPr wrap="square" rtlCol="0" anchor="ctr"/>
          <a:lstStyle/>
          <a:p>
            <a:pPr marL="0" indent="0" algn="ctr">
              <a:buNone/>
            </a:pPr>
            <a:r>
              <a:rPr lang="en-US" sz="1000" dirty="0">
                <a:solidFill>
                  <a:srgbClr val="F39C12"/>
                </a:solidFill>
                <a:latin typeface="Calibri" pitchFamily="34" charset="0"/>
                <a:ea typeface="Calibri" pitchFamily="34" charset="-122"/>
                <a:cs typeface="Calibri" pitchFamily="34" charset="-120"/>
              </a:rPr>
              <a:t>Performance</a:t>
            </a:r>
            <a:endParaRPr lang="en-US" sz="1000" dirty="0"/>
          </a:p>
        </p:txBody>
      </p:sp>
      <p:sp>
        <p:nvSpPr>
          <p:cNvPr id="26" name="Text 24"/>
          <p:cNvSpPr/>
          <p:nvPr/>
        </p:nvSpPr>
        <p:spPr>
          <a:xfrm>
            <a:off x="6217920" y="5212080"/>
            <a:ext cx="2560320" cy="365760"/>
          </a:xfrm>
          <a:prstGeom prst="rect">
            <a:avLst/>
          </a:prstGeom>
          <a:noFill/>
          <a:ln/>
        </p:spPr>
        <p:txBody>
          <a:bodyPr wrap="square" rtlCol="0" anchor="ctr"/>
          <a:lstStyle/>
          <a:p>
            <a:pPr marL="0" indent="0" algn="ctr">
              <a:buNone/>
            </a:pPr>
            <a:r>
              <a:rPr lang="en-US" sz="1100" i="1" dirty="0">
                <a:solidFill>
                  <a:srgbClr val="555555"/>
                </a:solidFill>
                <a:latin typeface="Calibri" pitchFamily="34" charset="0"/>
                <a:ea typeface="Calibri" pitchFamily="34" charset="-122"/>
                <a:cs typeface="Calibri" pitchFamily="34" charset="-120"/>
              </a:rPr>
              <a:t>k6</a:t>
            </a:r>
            <a:endParaRPr lang="en-US" sz="1100" dirty="0"/>
          </a:p>
        </p:txBody>
      </p:sp>
      <p:sp>
        <p:nvSpPr>
          <p:cNvPr id="27" name="Shape 25"/>
          <p:cNvSpPr/>
          <p:nvPr/>
        </p:nvSpPr>
        <p:spPr>
          <a:xfrm>
            <a:off x="9052560" y="2926080"/>
            <a:ext cx="2743200" cy="3291840"/>
          </a:xfrm>
          <a:prstGeom prst="rect">
            <a:avLst/>
          </a:prstGeom>
          <a:solidFill>
            <a:srgbClr val="F5F5F5"/>
          </a:solidFill>
          <a:ln w="19050">
            <a:solidFill>
              <a:srgbClr val="C0392B"/>
            </a:solidFill>
            <a:prstDash val="solid"/>
          </a:ln>
        </p:spPr>
        <p:txBody>
          <a:bodyPr/>
          <a:lstStyle/>
          <a:p>
            <a:endParaRPr lang="fr-FR"/>
          </a:p>
        </p:txBody>
      </p:sp>
      <p:sp>
        <p:nvSpPr>
          <p:cNvPr id="28" name="Text 26"/>
          <p:cNvSpPr/>
          <p:nvPr/>
        </p:nvSpPr>
        <p:spPr>
          <a:xfrm>
            <a:off x="9189720" y="3063240"/>
            <a:ext cx="2468880" cy="640080"/>
          </a:xfrm>
          <a:prstGeom prst="rect">
            <a:avLst/>
          </a:prstGeom>
          <a:noFill/>
          <a:ln/>
        </p:spPr>
        <p:txBody>
          <a:bodyPr wrap="square" rtlCol="0" anchor="ctr"/>
          <a:lstStyle/>
          <a:p>
            <a:pPr marL="0" indent="0" algn="ctr">
              <a:buNone/>
            </a:pPr>
            <a:r>
              <a:rPr lang="en-US" sz="1200" b="1" dirty="0">
                <a:solidFill>
                  <a:srgbClr val="555555"/>
                </a:solidFill>
                <a:latin typeface="Calibri" pitchFamily="34" charset="0"/>
                <a:ea typeface="Calibri" pitchFamily="34" charset="-122"/>
                <a:cs typeface="Calibri" pitchFamily="34" charset="-120"/>
              </a:rPr>
              <a:t>Code smells</a:t>
            </a:r>
            <a:endParaRPr lang="en-US" sz="1200" dirty="0"/>
          </a:p>
          <a:p>
            <a:pPr marL="0" indent="0" algn="ctr">
              <a:buNone/>
            </a:pPr>
            <a:r>
              <a:rPr lang="en-US" sz="1200" b="1" dirty="0">
                <a:solidFill>
                  <a:srgbClr val="555555"/>
                </a:solidFill>
                <a:latin typeface="Calibri" pitchFamily="34" charset="0"/>
                <a:ea typeface="Calibri" pitchFamily="34" charset="-122"/>
                <a:cs typeface="Calibri" pitchFamily="34" charset="-120"/>
              </a:rPr>
              <a:t>/ duplications</a:t>
            </a:r>
            <a:endParaRPr lang="en-US" sz="1200" dirty="0"/>
          </a:p>
        </p:txBody>
      </p:sp>
      <p:sp>
        <p:nvSpPr>
          <p:cNvPr id="29" name="Text 27"/>
          <p:cNvSpPr/>
          <p:nvPr/>
        </p:nvSpPr>
        <p:spPr>
          <a:xfrm>
            <a:off x="9144000" y="3749040"/>
            <a:ext cx="2560320" cy="914400"/>
          </a:xfrm>
          <a:prstGeom prst="rect">
            <a:avLst/>
          </a:prstGeom>
          <a:noFill/>
          <a:ln/>
        </p:spPr>
        <p:txBody>
          <a:bodyPr wrap="square" rtlCol="0" anchor="ctr"/>
          <a:lstStyle/>
          <a:p>
            <a:pPr marL="0" indent="0" algn="ctr">
              <a:buNone/>
            </a:pPr>
            <a:r>
              <a:rPr lang="en-US" sz="2200" b="1" dirty="0">
                <a:solidFill>
                  <a:srgbClr val="E74C3C"/>
                </a:solidFill>
                <a:latin typeface="Palatino Linotype" pitchFamily="34" charset="0"/>
                <a:ea typeface="Palatino Linotype" pitchFamily="34" charset="-122"/>
                <a:cs typeface="Palatino Linotype" pitchFamily="34" charset="-120"/>
              </a:rPr>
              <a:t>SonarCloud</a:t>
            </a:r>
            <a:endParaRPr lang="en-US" sz="2200" dirty="0"/>
          </a:p>
          <a:p>
            <a:pPr marL="0" indent="0" algn="ctr">
              <a:buNone/>
            </a:pPr>
            <a:r>
              <a:rPr lang="en-US" sz="2200" b="1" dirty="0">
                <a:solidFill>
                  <a:srgbClr val="E74C3C"/>
                </a:solidFill>
                <a:latin typeface="Palatino Linotype" pitchFamily="34" charset="0"/>
                <a:ea typeface="Palatino Linotype" pitchFamily="34" charset="-122"/>
                <a:cs typeface="Palatino Linotype" pitchFamily="34" charset="-120"/>
              </a:rPr>
              <a:t>actif</a:t>
            </a:r>
            <a:endParaRPr lang="en-US" sz="2200" dirty="0"/>
          </a:p>
        </p:txBody>
      </p:sp>
      <p:sp>
        <p:nvSpPr>
          <p:cNvPr id="30" name="Shape 28"/>
          <p:cNvSpPr/>
          <p:nvPr/>
        </p:nvSpPr>
        <p:spPr>
          <a:xfrm>
            <a:off x="9509760" y="4709160"/>
            <a:ext cx="1828800" cy="36576"/>
          </a:xfrm>
          <a:prstGeom prst="rect">
            <a:avLst/>
          </a:prstGeom>
          <a:solidFill>
            <a:srgbClr val="C0392B"/>
          </a:solidFill>
          <a:ln/>
        </p:spPr>
        <p:txBody>
          <a:bodyPr/>
          <a:lstStyle/>
          <a:p>
            <a:endParaRPr lang="fr-FR"/>
          </a:p>
        </p:txBody>
      </p:sp>
      <p:sp>
        <p:nvSpPr>
          <p:cNvPr id="31" name="Text 29"/>
          <p:cNvSpPr/>
          <p:nvPr/>
        </p:nvSpPr>
        <p:spPr>
          <a:xfrm>
            <a:off x="9144000" y="4800600"/>
            <a:ext cx="2560320" cy="365760"/>
          </a:xfrm>
          <a:prstGeom prst="rect">
            <a:avLst/>
          </a:prstGeom>
          <a:noFill/>
          <a:ln/>
        </p:spPr>
        <p:txBody>
          <a:bodyPr wrap="square" rtlCol="0" anchor="ctr"/>
          <a:lstStyle/>
          <a:p>
            <a:pPr marL="0" indent="0" algn="ctr">
              <a:buNone/>
            </a:pPr>
            <a:r>
              <a:rPr lang="en-US" sz="1000" dirty="0">
                <a:solidFill>
                  <a:srgbClr val="F39C12"/>
                </a:solidFill>
                <a:latin typeface="Calibri" pitchFamily="34" charset="0"/>
                <a:ea typeface="Calibri" pitchFamily="34" charset="-122"/>
                <a:cs typeface="Calibri" pitchFamily="34" charset="-120"/>
              </a:rPr>
              <a:t>Maintenabilité</a:t>
            </a:r>
            <a:endParaRPr lang="en-US" sz="1000" dirty="0"/>
          </a:p>
        </p:txBody>
      </p:sp>
      <p:sp>
        <p:nvSpPr>
          <p:cNvPr id="32" name="Text 30"/>
          <p:cNvSpPr/>
          <p:nvPr/>
        </p:nvSpPr>
        <p:spPr>
          <a:xfrm>
            <a:off x="9144000" y="5212080"/>
            <a:ext cx="2560320" cy="365760"/>
          </a:xfrm>
          <a:prstGeom prst="rect">
            <a:avLst/>
          </a:prstGeom>
          <a:noFill/>
          <a:ln/>
        </p:spPr>
        <p:txBody>
          <a:bodyPr wrap="square" rtlCol="0" anchor="ctr"/>
          <a:lstStyle/>
          <a:p>
            <a:pPr marL="0" indent="0" algn="ctr">
              <a:buNone/>
            </a:pPr>
            <a:r>
              <a:rPr lang="en-US" sz="1100" i="1" dirty="0">
                <a:solidFill>
                  <a:srgbClr val="555555"/>
                </a:solidFill>
                <a:latin typeface="Calibri" pitchFamily="34" charset="0"/>
                <a:ea typeface="Calibri" pitchFamily="34" charset="-122"/>
                <a:cs typeface="Calibri" pitchFamily="34" charset="-120"/>
              </a:rPr>
              <a:t>SonarCloud</a:t>
            </a:r>
            <a:endParaRPr lang="en-US" sz="1100" dirty="0"/>
          </a:p>
        </p:txBody>
      </p:sp>
    </p:spTree>
    <p:extLst>
      <p:ext uri="{BB962C8B-B14F-4D97-AF65-F5344CB8AC3E}">
        <p14:creationId xmlns:p14="http://schemas.microsoft.com/office/powerpoint/2010/main" val="1636147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txBody>
          <a:bodyPr/>
          <a:lstStyle/>
          <a:p>
            <a:endParaRPr lang="fr-FR"/>
          </a:p>
        </p:txBody>
      </p:sp>
      <p:sp>
        <p:nvSpPr>
          <p:cNvPr id="3" name="Shape 1"/>
          <p:cNvSpPr/>
          <p:nvPr/>
        </p:nvSpPr>
        <p:spPr>
          <a:xfrm>
            <a:off x="0" y="6675120"/>
            <a:ext cx="12192000" cy="182880"/>
          </a:xfrm>
          <a:prstGeom prst="rect">
            <a:avLst/>
          </a:prstGeom>
          <a:solidFill>
            <a:srgbClr val="C0392B"/>
          </a:solidFill>
          <a:ln/>
        </p:spPr>
        <p:txBody>
          <a:bodyPr/>
          <a:lstStyle/>
          <a:p>
            <a:endParaRPr lang="fr-FR"/>
          </a:p>
        </p:txBody>
      </p:sp>
      <p:sp>
        <p:nvSpPr>
          <p:cNvPr id="4" name="Text 2"/>
          <p:cNvSpPr/>
          <p:nvPr/>
        </p:nvSpPr>
        <p:spPr>
          <a:xfrm>
            <a:off x="274320" y="6675120"/>
            <a:ext cx="9601200" cy="182880"/>
          </a:xfrm>
          <a:prstGeom prst="rect">
            <a:avLst/>
          </a:prstGeom>
          <a:noFill/>
          <a:ln/>
        </p:spPr>
        <p:txBody>
          <a:bodyPr wrap="square" rtlCol="0" anchor="ctr"/>
          <a:lstStyle/>
          <a:p>
            <a:pPr marL="0" indent="0">
              <a:buNone/>
            </a:pPr>
            <a:r>
              <a:rPr lang="fr-FR" sz="800" dirty="0">
                <a:solidFill>
                  <a:srgbClr val="FFFFFF"/>
                </a:solidFill>
                <a:latin typeface="Calibri" pitchFamily="34" charset="0"/>
                <a:ea typeface="Calibri" pitchFamily="34" charset="-122"/>
                <a:cs typeface="Calibri" pitchFamily="34" charset="-120"/>
              </a:rPr>
              <a:t>La Petite Maison de l’Épouvante —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marL="0" indent="0" algn="r">
              <a:buNone/>
            </a:pPr>
            <a:r>
              <a:rPr lang="en-US" sz="1800" b="1" dirty="0">
                <a:solidFill>
                  <a:srgbClr val="1A1A1A"/>
                </a:solidFill>
                <a:latin typeface="Calibri" pitchFamily="34" charset="0"/>
                <a:ea typeface="Calibri" pitchFamily="34" charset="-122"/>
                <a:cs typeface="Calibri" pitchFamily="34" charset="-120"/>
              </a:rPr>
              <a:t>6</a:t>
            </a:r>
            <a:endParaRPr lang="en-US" sz="1800" dirty="0"/>
          </a:p>
        </p:txBody>
      </p:sp>
      <p:sp>
        <p:nvSpPr>
          <p:cNvPr id="6" name="Shape 4"/>
          <p:cNvSpPr/>
          <p:nvPr/>
        </p:nvSpPr>
        <p:spPr>
          <a:xfrm>
            <a:off x="365760" y="1051560"/>
            <a:ext cx="2377440" cy="54864"/>
          </a:xfrm>
          <a:prstGeom prst="rect">
            <a:avLst/>
          </a:prstGeom>
          <a:solidFill>
            <a:srgbClr val="C0392B"/>
          </a:solidFill>
          <a:ln/>
        </p:spPr>
        <p:txBody>
          <a:bodyPr/>
          <a:lstStyle/>
          <a:p>
            <a:endParaRPr lang="fr-FR"/>
          </a:p>
        </p:txBody>
      </p:sp>
      <p:sp>
        <p:nvSpPr>
          <p:cNvPr id="7" name="Text 5"/>
          <p:cNvSpPr/>
          <p:nvPr/>
        </p:nvSpPr>
        <p:spPr>
          <a:xfrm>
            <a:off x="365760" y="640080"/>
            <a:ext cx="10972800" cy="548640"/>
          </a:xfrm>
          <a:prstGeom prst="rect">
            <a:avLst/>
          </a:prstGeom>
          <a:noFill/>
          <a:ln/>
        </p:spPr>
        <p:txBody>
          <a:bodyPr wrap="square" rtlCol="0" anchor="ctr"/>
          <a:lstStyle/>
          <a:p>
            <a:pPr marL="0" indent="0">
              <a:buNone/>
            </a:pPr>
            <a:r>
              <a:rPr lang="en-US" sz="1100" b="1" kern="0" spc="200" dirty="0">
                <a:solidFill>
                  <a:srgbClr val="E74C3C"/>
                </a:solidFill>
                <a:latin typeface="Calibri" pitchFamily="34" charset="0"/>
                <a:ea typeface="Calibri" pitchFamily="34" charset="-122"/>
                <a:cs typeface="Calibri" pitchFamily="34" charset="-120"/>
              </a:rPr>
              <a:t>DEVSECOPS</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marL="0" indent="0">
              <a:buNone/>
            </a:pPr>
            <a:r>
              <a:rPr lang="en-US" sz="3400" b="1" dirty="0">
                <a:solidFill>
                  <a:srgbClr val="1A1A1A"/>
                </a:solidFill>
                <a:latin typeface="Palatino Linotype" pitchFamily="34" charset="0"/>
                <a:ea typeface="Palatino Linotype" pitchFamily="34" charset="-122"/>
                <a:cs typeface="Palatino Linotype" pitchFamily="34" charset="-120"/>
              </a:rPr>
              <a:t>Shift Left Security</a:t>
            </a:r>
            <a:endParaRPr lang="en-US" sz="3400" dirty="0"/>
          </a:p>
          <a:p>
            <a:pPr marL="0" indent="0">
              <a:buNone/>
            </a:pPr>
            <a:r>
              <a:rPr lang="en-US" sz="3400" b="1" dirty="0">
                <a:solidFill>
                  <a:srgbClr val="1A1A1A"/>
                </a:solidFill>
                <a:latin typeface="Palatino Linotype" pitchFamily="34" charset="0"/>
                <a:ea typeface="Palatino Linotype" pitchFamily="34" charset="-122"/>
                <a:cs typeface="Palatino Linotype" pitchFamily="34" charset="-120"/>
              </a:rPr>
              <a:t>— la sécurité à chaque étape</a:t>
            </a:r>
            <a:endParaRPr lang="en-US" sz="3400" dirty="0"/>
          </a:p>
        </p:txBody>
      </p:sp>
      <p:sp>
        <p:nvSpPr>
          <p:cNvPr id="9" name="Shape 7"/>
          <p:cNvSpPr/>
          <p:nvPr/>
        </p:nvSpPr>
        <p:spPr>
          <a:xfrm>
            <a:off x="274320" y="2743200"/>
            <a:ext cx="2103120" cy="2560320"/>
          </a:xfrm>
          <a:prstGeom prst="rect">
            <a:avLst/>
          </a:prstGeom>
          <a:solidFill>
            <a:srgbClr val="F5F5F5"/>
          </a:solidFill>
          <a:ln w="19050">
            <a:solidFill>
              <a:srgbClr val="C0392B"/>
            </a:solidFill>
            <a:prstDash val="solid"/>
          </a:ln>
        </p:spPr>
        <p:txBody>
          <a:bodyPr/>
          <a:lstStyle/>
          <a:p>
            <a:endParaRPr lang="fr-FR"/>
          </a:p>
        </p:txBody>
      </p:sp>
      <p:sp>
        <p:nvSpPr>
          <p:cNvPr id="10" name="Text 8"/>
          <p:cNvSpPr/>
          <p:nvPr/>
        </p:nvSpPr>
        <p:spPr>
          <a:xfrm>
            <a:off x="365760" y="2880360"/>
            <a:ext cx="1920240" cy="502920"/>
          </a:xfrm>
          <a:prstGeom prst="rect">
            <a:avLst/>
          </a:prstGeom>
          <a:noFill/>
          <a:ln/>
        </p:spPr>
        <p:txBody>
          <a:bodyPr wrap="square" rtlCol="0" anchor="ctr"/>
          <a:lstStyle/>
          <a:p>
            <a:pPr marL="0" indent="0" algn="ctr">
              <a:buNone/>
            </a:pPr>
            <a:r>
              <a:rPr lang="en-US" sz="1600" b="1" dirty="0">
                <a:solidFill>
                  <a:srgbClr val="1A1A1A"/>
                </a:solidFill>
                <a:latin typeface="Palatino Linotype" pitchFamily="34" charset="0"/>
                <a:ea typeface="Palatino Linotype" pitchFamily="34" charset="-122"/>
                <a:cs typeface="Palatino Linotype" pitchFamily="34" charset="-120"/>
              </a:rPr>
              <a:t>Plan</a:t>
            </a:r>
            <a:endParaRPr lang="en-US" sz="1600" dirty="0"/>
          </a:p>
        </p:txBody>
      </p:sp>
      <p:sp>
        <p:nvSpPr>
          <p:cNvPr id="11" name="Shape 9"/>
          <p:cNvSpPr/>
          <p:nvPr/>
        </p:nvSpPr>
        <p:spPr>
          <a:xfrm>
            <a:off x="640080" y="3429000"/>
            <a:ext cx="1371600" cy="36576"/>
          </a:xfrm>
          <a:prstGeom prst="rect">
            <a:avLst/>
          </a:prstGeom>
          <a:solidFill>
            <a:srgbClr val="C0392B"/>
          </a:solidFill>
          <a:ln/>
        </p:spPr>
        <p:txBody>
          <a:bodyPr/>
          <a:lstStyle/>
          <a:p>
            <a:endParaRPr lang="fr-FR"/>
          </a:p>
        </p:txBody>
      </p:sp>
      <p:sp>
        <p:nvSpPr>
          <p:cNvPr id="12" name="Text 10"/>
          <p:cNvSpPr/>
          <p:nvPr/>
        </p:nvSpPr>
        <p:spPr>
          <a:xfrm>
            <a:off x="365760" y="3520440"/>
            <a:ext cx="1920240" cy="1371600"/>
          </a:xfrm>
          <a:prstGeom prst="rect">
            <a:avLst/>
          </a:prstGeom>
          <a:noFill/>
          <a:ln/>
        </p:spPr>
        <p:txBody>
          <a:bodyPr wrap="square" rtlCol="0" anchor="ctr"/>
          <a:lstStyle/>
          <a:p>
            <a:pPr marL="0" indent="0" algn="ctr">
              <a:buNone/>
            </a:pPr>
            <a:r>
              <a:rPr lang="en-US" sz="1200" dirty="0">
                <a:solidFill>
                  <a:srgbClr val="555555"/>
                </a:solidFill>
                <a:latin typeface="Calibri" pitchFamily="34" charset="0"/>
                <a:ea typeface="Calibri" pitchFamily="34" charset="-122"/>
                <a:cs typeface="Calibri" pitchFamily="34" charset="-120"/>
              </a:rPr>
              <a:t>Backlog</a:t>
            </a:r>
            <a:endParaRPr lang="en-US" sz="1200" dirty="0"/>
          </a:p>
          <a:p>
            <a:pPr marL="0" indent="0" algn="ctr">
              <a:buNone/>
            </a:pPr>
            <a:r>
              <a:rPr lang="en-US" sz="1200" dirty="0">
                <a:solidFill>
                  <a:srgbClr val="555555"/>
                </a:solidFill>
                <a:latin typeface="Calibri" pitchFamily="34" charset="0"/>
                <a:ea typeface="Calibri" pitchFamily="34" charset="-122"/>
                <a:cs typeface="Calibri" pitchFamily="34" charset="-120"/>
              </a:rPr>
              <a:t>User Stories</a:t>
            </a:r>
            <a:endParaRPr lang="en-US" sz="1200" dirty="0"/>
          </a:p>
        </p:txBody>
      </p:sp>
      <p:sp>
        <p:nvSpPr>
          <p:cNvPr id="13" name="Text 11"/>
          <p:cNvSpPr/>
          <p:nvPr/>
        </p:nvSpPr>
        <p:spPr>
          <a:xfrm>
            <a:off x="2316480" y="3657600"/>
            <a:ext cx="426720" cy="548640"/>
          </a:xfrm>
          <a:prstGeom prst="rect">
            <a:avLst/>
          </a:prstGeom>
          <a:noFill/>
          <a:ln/>
        </p:spPr>
        <p:txBody>
          <a:bodyPr wrap="square" rtlCol="0" anchor="ctr"/>
          <a:lstStyle/>
          <a:p>
            <a:pPr marL="0" indent="0" algn="ctr">
              <a:buNone/>
            </a:pPr>
            <a:r>
              <a:rPr lang="en-US" sz="2200" b="1" dirty="0">
                <a:solidFill>
                  <a:srgbClr val="C0392B"/>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2651760" y="2743200"/>
            <a:ext cx="2103120" cy="2560320"/>
          </a:xfrm>
          <a:prstGeom prst="rect">
            <a:avLst/>
          </a:prstGeom>
          <a:solidFill>
            <a:srgbClr val="F5F5F5"/>
          </a:solidFill>
          <a:ln w="19050">
            <a:solidFill>
              <a:srgbClr val="C0392B"/>
            </a:solidFill>
            <a:prstDash val="solid"/>
          </a:ln>
        </p:spPr>
        <p:txBody>
          <a:bodyPr/>
          <a:lstStyle/>
          <a:p>
            <a:endParaRPr lang="fr-FR"/>
          </a:p>
        </p:txBody>
      </p:sp>
      <p:sp>
        <p:nvSpPr>
          <p:cNvPr id="15" name="Text 13"/>
          <p:cNvSpPr/>
          <p:nvPr/>
        </p:nvSpPr>
        <p:spPr>
          <a:xfrm>
            <a:off x="2743200" y="2880360"/>
            <a:ext cx="1920240" cy="502920"/>
          </a:xfrm>
          <a:prstGeom prst="rect">
            <a:avLst/>
          </a:prstGeom>
          <a:noFill/>
          <a:ln/>
        </p:spPr>
        <p:txBody>
          <a:bodyPr wrap="square" rtlCol="0" anchor="ctr"/>
          <a:lstStyle/>
          <a:p>
            <a:pPr marL="0" indent="0" algn="ctr">
              <a:buNone/>
            </a:pPr>
            <a:r>
              <a:rPr lang="en-US" sz="1600" b="1" dirty="0">
                <a:solidFill>
                  <a:srgbClr val="1A1A1A"/>
                </a:solidFill>
                <a:latin typeface="Palatino Linotype" pitchFamily="34" charset="0"/>
                <a:ea typeface="Palatino Linotype" pitchFamily="34" charset="-122"/>
                <a:cs typeface="Palatino Linotype" pitchFamily="34" charset="-120"/>
              </a:rPr>
              <a:t>Code</a:t>
            </a:r>
            <a:endParaRPr lang="en-US" sz="1600" dirty="0"/>
          </a:p>
        </p:txBody>
      </p:sp>
      <p:sp>
        <p:nvSpPr>
          <p:cNvPr id="16" name="Shape 14"/>
          <p:cNvSpPr/>
          <p:nvPr/>
        </p:nvSpPr>
        <p:spPr>
          <a:xfrm>
            <a:off x="3017520" y="3429000"/>
            <a:ext cx="1371600" cy="36576"/>
          </a:xfrm>
          <a:prstGeom prst="rect">
            <a:avLst/>
          </a:prstGeom>
          <a:solidFill>
            <a:srgbClr val="C0392B"/>
          </a:solidFill>
          <a:ln/>
        </p:spPr>
        <p:txBody>
          <a:bodyPr/>
          <a:lstStyle/>
          <a:p>
            <a:endParaRPr lang="fr-FR"/>
          </a:p>
        </p:txBody>
      </p:sp>
      <p:sp>
        <p:nvSpPr>
          <p:cNvPr id="17" name="Text 15"/>
          <p:cNvSpPr/>
          <p:nvPr/>
        </p:nvSpPr>
        <p:spPr>
          <a:xfrm>
            <a:off x="2743200" y="3520440"/>
            <a:ext cx="1920240" cy="1371600"/>
          </a:xfrm>
          <a:prstGeom prst="rect">
            <a:avLst/>
          </a:prstGeom>
          <a:noFill/>
          <a:ln/>
        </p:spPr>
        <p:txBody>
          <a:bodyPr wrap="square" rtlCol="0" anchor="ctr"/>
          <a:lstStyle/>
          <a:p>
            <a:pPr marL="0" indent="0" algn="ctr">
              <a:buNone/>
            </a:pPr>
            <a:r>
              <a:rPr lang="en-US" sz="1200" dirty="0">
                <a:solidFill>
                  <a:srgbClr val="555555"/>
                </a:solidFill>
                <a:latin typeface="Calibri" pitchFamily="34" charset="0"/>
                <a:ea typeface="Calibri" pitchFamily="34" charset="-122"/>
                <a:cs typeface="Calibri" pitchFamily="34" charset="-120"/>
              </a:rPr>
              <a:t>SAST</a:t>
            </a:r>
            <a:endParaRPr lang="en-US" sz="1200" dirty="0"/>
          </a:p>
          <a:p>
            <a:pPr marL="0" indent="0" algn="ctr">
              <a:buNone/>
            </a:pPr>
            <a:r>
              <a:rPr lang="en-US" sz="1200" dirty="0">
                <a:solidFill>
                  <a:srgbClr val="555555"/>
                </a:solidFill>
                <a:latin typeface="Calibri" pitchFamily="34" charset="0"/>
                <a:ea typeface="Calibri" pitchFamily="34" charset="-122"/>
                <a:cs typeface="Calibri" pitchFamily="34" charset="-120"/>
              </a:rPr>
              <a:t>npm audit</a:t>
            </a:r>
            <a:endParaRPr lang="en-US" sz="1200" dirty="0"/>
          </a:p>
        </p:txBody>
      </p:sp>
      <p:sp>
        <p:nvSpPr>
          <p:cNvPr id="18" name="Text 16"/>
          <p:cNvSpPr/>
          <p:nvPr/>
        </p:nvSpPr>
        <p:spPr>
          <a:xfrm>
            <a:off x="4693920" y="3657600"/>
            <a:ext cx="426720" cy="548640"/>
          </a:xfrm>
          <a:prstGeom prst="rect">
            <a:avLst/>
          </a:prstGeom>
          <a:noFill/>
          <a:ln/>
        </p:spPr>
        <p:txBody>
          <a:bodyPr wrap="square" rtlCol="0" anchor="ctr"/>
          <a:lstStyle/>
          <a:p>
            <a:pPr marL="0" indent="0" algn="ctr">
              <a:buNone/>
            </a:pPr>
            <a:r>
              <a:rPr lang="en-US" sz="2200" b="1" dirty="0">
                <a:solidFill>
                  <a:srgbClr val="C0392B"/>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5029200" y="2743200"/>
            <a:ext cx="2103120" cy="2560320"/>
          </a:xfrm>
          <a:prstGeom prst="rect">
            <a:avLst/>
          </a:prstGeom>
          <a:solidFill>
            <a:srgbClr val="F5F5F5"/>
          </a:solidFill>
          <a:ln w="19050">
            <a:solidFill>
              <a:srgbClr val="C0392B"/>
            </a:solidFill>
            <a:prstDash val="solid"/>
          </a:ln>
        </p:spPr>
        <p:txBody>
          <a:bodyPr/>
          <a:lstStyle/>
          <a:p>
            <a:endParaRPr lang="fr-FR"/>
          </a:p>
        </p:txBody>
      </p:sp>
      <p:sp>
        <p:nvSpPr>
          <p:cNvPr id="20" name="Text 18"/>
          <p:cNvSpPr/>
          <p:nvPr/>
        </p:nvSpPr>
        <p:spPr>
          <a:xfrm>
            <a:off x="5120640" y="2880360"/>
            <a:ext cx="1920240" cy="502920"/>
          </a:xfrm>
          <a:prstGeom prst="rect">
            <a:avLst/>
          </a:prstGeom>
          <a:noFill/>
          <a:ln/>
        </p:spPr>
        <p:txBody>
          <a:bodyPr wrap="square" rtlCol="0" anchor="ctr"/>
          <a:lstStyle/>
          <a:p>
            <a:pPr marL="0" indent="0" algn="ctr">
              <a:buNone/>
            </a:pPr>
            <a:r>
              <a:rPr lang="en-US" sz="1600" b="1" dirty="0">
                <a:solidFill>
                  <a:srgbClr val="1A1A1A"/>
                </a:solidFill>
                <a:latin typeface="Palatino Linotype" pitchFamily="34" charset="0"/>
                <a:ea typeface="Palatino Linotype" pitchFamily="34" charset="-122"/>
                <a:cs typeface="Palatino Linotype" pitchFamily="34" charset="-120"/>
              </a:rPr>
              <a:t>Build</a:t>
            </a:r>
            <a:endParaRPr lang="en-US" sz="1600" dirty="0"/>
          </a:p>
        </p:txBody>
      </p:sp>
      <p:sp>
        <p:nvSpPr>
          <p:cNvPr id="21" name="Shape 19"/>
          <p:cNvSpPr/>
          <p:nvPr/>
        </p:nvSpPr>
        <p:spPr>
          <a:xfrm>
            <a:off x="5394960" y="3429000"/>
            <a:ext cx="1371600" cy="36576"/>
          </a:xfrm>
          <a:prstGeom prst="rect">
            <a:avLst/>
          </a:prstGeom>
          <a:solidFill>
            <a:srgbClr val="C0392B"/>
          </a:solidFill>
          <a:ln/>
        </p:spPr>
        <p:txBody>
          <a:bodyPr/>
          <a:lstStyle/>
          <a:p>
            <a:endParaRPr lang="fr-FR"/>
          </a:p>
        </p:txBody>
      </p:sp>
      <p:sp>
        <p:nvSpPr>
          <p:cNvPr id="22" name="Text 20"/>
          <p:cNvSpPr/>
          <p:nvPr/>
        </p:nvSpPr>
        <p:spPr>
          <a:xfrm>
            <a:off x="5120640" y="3520440"/>
            <a:ext cx="1920240" cy="1371600"/>
          </a:xfrm>
          <a:prstGeom prst="rect">
            <a:avLst/>
          </a:prstGeom>
          <a:noFill/>
          <a:ln/>
        </p:spPr>
        <p:txBody>
          <a:bodyPr wrap="square" rtlCol="0" anchor="ctr"/>
          <a:lstStyle/>
          <a:p>
            <a:pPr marL="0" indent="0" algn="ctr">
              <a:buNone/>
            </a:pPr>
            <a:r>
              <a:rPr lang="en-US" sz="1200" dirty="0">
                <a:solidFill>
                  <a:srgbClr val="555555"/>
                </a:solidFill>
                <a:latin typeface="Calibri" pitchFamily="34" charset="0"/>
                <a:ea typeface="Calibri" pitchFamily="34" charset="-122"/>
                <a:cs typeface="Calibri" pitchFamily="34" charset="-120"/>
              </a:rPr>
              <a:t>Docker</a:t>
            </a:r>
            <a:endParaRPr lang="en-US" sz="1200" dirty="0"/>
          </a:p>
          <a:p>
            <a:pPr marL="0" indent="0" algn="ctr">
              <a:buNone/>
            </a:pPr>
            <a:r>
              <a:rPr lang="en-US" sz="1200" dirty="0">
                <a:solidFill>
                  <a:srgbClr val="555555"/>
                </a:solidFill>
                <a:latin typeface="Calibri" pitchFamily="34" charset="0"/>
                <a:ea typeface="Calibri" pitchFamily="34" charset="-122"/>
                <a:cs typeface="Calibri" pitchFamily="34" charset="-120"/>
              </a:rPr>
              <a:t>Trivy FS</a:t>
            </a:r>
            <a:endParaRPr lang="en-US" sz="1200" dirty="0"/>
          </a:p>
        </p:txBody>
      </p:sp>
      <p:sp>
        <p:nvSpPr>
          <p:cNvPr id="23" name="Text 21"/>
          <p:cNvSpPr/>
          <p:nvPr/>
        </p:nvSpPr>
        <p:spPr>
          <a:xfrm>
            <a:off x="7071360" y="3657600"/>
            <a:ext cx="426720" cy="548640"/>
          </a:xfrm>
          <a:prstGeom prst="rect">
            <a:avLst/>
          </a:prstGeom>
          <a:noFill/>
          <a:ln/>
        </p:spPr>
        <p:txBody>
          <a:bodyPr wrap="square" rtlCol="0" anchor="ctr"/>
          <a:lstStyle/>
          <a:p>
            <a:pPr marL="0" indent="0" algn="ctr">
              <a:buNone/>
            </a:pPr>
            <a:r>
              <a:rPr lang="en-US" sz="2200" b="1" dirty="0">
                <a:solidFill>
                  <a:srgbClr val="C0392B"/>
                </a:solidFill>
                <a:latin typeface="Calibri" pitchFamily="34" charset="0"/>
                <a:ea typeface="Calibri" pitchFamily="34" charset="-122"/>
                <a:cs typeface="Calibri" pitchFamily="34" charset="-120"/>
              </a:rPr>
              <a:t>→</a:t>
            </a:r>
            <a:endParaRPr lang="en-US" sz="2200" dirty="0"/>
          </a:p>
        </p:txBody>
      </p:sp>
      <p:sp>
        <p:nvSpPr>
          <p:cNvPr id="24" name="Shape 22"/>
          <p:cNvSpPr/>
          <p:nvPr/>
        </p:nvSpPr>
        <p:spPr>
          <a:xfrm>
            <a:off x="7406640" y="2743200"/>
            <a:ext cx="2103120" cy="2560320"/>
          </a:xfrm>
          <a:prstGeom prst="rect">
            <a:avLst/>
          </a:prstGeom>
          <a:solidFill>
            <a:srgbClr val="F5F5F5"/>
          </a:solidFill>
          <a:ln w="19050">
            <a:solidFill>
              <a:srgbClr val="C0392B"/>
            </a:solidFill>
            <a:prstDash val="solid"/>
          </a:ln>
        </p:spPr>
        <p:txBody>
          <a:bodyPr/>
          <a:lstStyle/>
          <a:p>
            <a:endParaRPr lang="fr-FR"/>
          </a:p>
        </p:txBody>
      </p:sp>
      <p:sp>
        <p:nvSpPr>
          <p:cNvPr id="25" name="Text 23"/>
          <p:cNvSpPr/>
          <p:nvPr/>
        </p:nvSpPr>
        <p:spPr>
          <a:xfrm>
            <a:off x="7498080" y="2880360"/>
            <a:ext cx="1920240" cy="502920"/>
          </a:xfrm>
          <a:prstGeom prst="rect">
            <a:avLst/>
          </a:prstGeom>
          <a:noFill/>
          <a:ln/>
        </p:spPr>
        <p:txBody>
          <a:bodyPr wrap="square" rtlCol="0" anchor="ctr"/>
          <a:lstStyle/>
          <a:p>
            <a:pPr marL="0" indent="0" algn="ctr">
              <a:buNone/>
            </a:pPr>
            <a:r>
              <a:rPr lang="en-US" sz="1600" b="1" dirty="0">
                <a:solidFill>
                  <a:srgbClr val="1A1A1A"/>
                </a:solidFill>
                <a:latin typeface="Palatino Linotype" pitchFamily="34" charset="0"/>
                <a:ea typeface="Palatino Linotype" pitchFamily="34" charset="-122"/>
                <a:cs typeface="Palatino Linotype" pitchFamily="34" charset="-120"/>
              </a:rPr>
              <a:t>Test</a:t>
            </a:r>
            <a:endParaRPr lang="en-US" sz="1600" dirty="0"/>
          </a:p>
        </p:txBody>
      </p:sp>
      <p:sp>
        <p:nvSpPr>
          <p:cNvPr id="26" name="Shape 24"/>
          <p:cNvSpPr/>
          <p:nvPr/>
        </p:nvSpPr>
        <p:spPr>
          <a:xfrm>
            <a:off x="7772400" y="3429000"/>
            <a:ext cx="1371600" cy="36576"/>
          </a:xfrm>
          <a:prstGeom prst="rect">
            <a:avLst/>
          </a:prstGeom>
          <a:solidFill>
            <a:srgbClr val="C0392B"/>
          </a:solidFill>
          <a:ln/>
        </p:spPr>
        <p:txBody>
          <a:bodyPr/>
          <a:lstStyle/>
          <a:p>
            <a:endParaRPr lang="fr-FR"/>
          </a:p>
        </p:txBody>
      </p:sp>
      <p:sp>
        <p:nvSpPr>
          <p:cNvPr id="27" name="Text 25"/>
          <p:cNvSpPr/>
          <p:nvPr/>
        </p:nvSpPr>
        <p:spPr>
          <a:xfrm>
            <a:off x="7498080" y="3520440"/>
            <a:ext cx="1920240" cy="1371600"/>
          </a:xfrm>
          <a:prstGeom prst="rect">
            <a:avLst/>
          </a:prstGeom>
          <a:noFill/>
          <a:ln/>
        </p:spPr>
        <p:txBody>
          <a:bodyPr wrap="square" rtlCol="0" anchor="ctr"/>
          <a:lstStyle/>
          <a:p>
            <a:pPr marL="0" indent="0" algn="ctr">
              <a:buNone/>
            </a:pPr>
            <a:r>
              <a:rPr lang="en-US" sz="1200" dirty="0">
                <a:solidFill>
                  <a:srgbClr val="555555"/>
                </a:solidFill>
                <a:latin typeface="Calibri" pitchFamily="34" charset="0"/>
                <a:ea typeface="Calibri" pitchFamily="34" charset="-122"/>
                <a:cs typeface="Calibri" pitchFamily="34" charset="-120"/>
              </a:rPr>
              <a:t>PHPUnit</a:t>
            </a:r>
            <a:endParaRPr lang="en-US" sz="1200" dirty="0"/>
          </a:p>
          <a:p>
            <a:pPr marL="0" indent="0" algn="ctr">
              <a:buNone/>
            </a:pPr>
            <a:r>
              <a:rPr lang="en-US" sz="1200" dirty="0">
                <a:solidFill>
                  <a:srgbClr val="555555"/>
                </a:solidFill>
                <a:latin typeface="Calibri" pitchFamily="34" charset="0"/>
                <a:ea typeface="Calibri" pitchFamily="34" charset="-122"/>
                <a:cs typeface="Calibri" pitchFamily="34" charset="-120"/>
              </a:rPr>
              <a:t>k6 E2E</a:t>
            </a:r>
            <a:endParaRPr lang="en-US" sz="1200" dirty="0"/>
          </a:p>
        </p:txBody>
      </p:sp>
      <p:sp>
        <p:nvSpPr>
          <p:cNvPr id="28" name="Text 26"/>
          <p:cNvSpPr/>
          <p:nvPr/>
        </p:nvSpPr>
        <p:spPr>
          <a:xfrm>
            <a:off x="9448800" y="3657600"/>
            <a:ext cx="426720" cy="548640"/>
          </a:xfrm>
          <a:prstGeom prst="rect">
            <a:avLst/>
          </a:prstGeom>
          <a:noFill/>
          <a:ln/>
        </p:spPr>
        <p:txBody>
          <a:bodyPr wrap="square" rtlCol="0" anchor="ctr"/>
          <a:lstStyle/>
          <a:p>
            <a:pPr marL="0" indent="0" algn="ctr">
              <a:buNone/>
            </a:pPr>
            <a:r>
              <a:rPr lang="en-US" sz="2200" b="1" dirty="0">
                <a:solidFill>
                  <a:srgbClr val="C0392B"/>
                </a:solidFill>
                <a:latin typeface="Calibri" pitchFamily="34" charset="0"/>
                <a:ea typeface="Calibri" pitchFamily="34" charset="-122"/>
                <a:cs typeface="Calibri" pitchFamily="34" charset="-120"/>
              </a:rPr>
              <a:t>→</a:t>
            </a:r>
            <a:endParaRPr lang="en-US" sz="2200" dirty="0"/>
          </a:p>
        </p:txBody>
      </p:sp>
      <p:sp>
        <p:nvSpPr>
          <p:cNvPr id="29" name="Shape 27"/>
          <p:cNvSpPr/>
          <p:nvPr/>
        </p:nvSpPr>
        <p:spPr>
          <a:xfrm>
            <a:off x="9784080" y="2743200"/>
            <a:ext cx="2103120" cy="2560320"/>
          </a:xfrm>
          <a:prstGeom prst="rect">
            <a:avLst/>
          </a:prstGeom>
          <a:solidFill>
            <a:srgbClr val="F5F5F5"/>
          </a:solidFill>
          <a:ln w="19050">
            <a:solidFill>
              <a:srgbClr val="C0392B"/>
            </a:solidFill>
            <a:prstDash val="solid"/>
          </a:ln>
        </p:spPr>
        <p:txBody>
          <a:bodyPr/>
          <a:lstStyle/>
          <a:p>
            <a:endParaRPr lang="fr-FR"/>
          </a:p>
        </p:txBody>
      </p:sp>
      <p:sp>
        <p:nvSpPr>
          <p:cNvPr id="30" name="Text 28"/>
          <p:cNvSpPr/>
          <p:nvPr/>
        </p:nvSpPr>
        <p:spPr>
          <a:xfrm>
            <a:off x="9875520" y="2880360"/>
            <a:ext cx="1920240" cy="502920"/>
          </a:xfrm>
          <a:prstGeom prst="rect">
            <a:avLst/>
          </a:prstGeom>
          <a:noFill/>
          <a:ln/>
        </p:spPr>
        <p:txBody>
          <a:bodyPr wrap="square" rtlCol="0" anchor="ctr"/>
          <a:lstStyle/>
          <a:p>
            <a:pPr marL="0" indent="0" algn="ctr">
              <a:buNone/>
            </a:pPr>
            <a:r>
              <a:rPr lang="en-US" sz="1600" b="1" dirty="0">
                <a:solidFill>
                  <a:srgbClr val="1A1A1A"/>
                </a:solidFill>
                <a:latin typeface="Palatino Linotype" pitchFamily="34" charset="0"/>
                <a:ea typeface="Palatino Linotype" pitchFamily="34" charset="-122"/>
                <a:cs typeface="Palatino Linotype" pitchFamily="34" charset="-120"/>
              </a:rPr>
              <a:t>Deploy</a:t>
            </a:r>
            <a:endParaRPr lang="en-US" sz="1600" dirty="0"/>
          </a:p>
        </p:txBody>
      </p:sp>
      <p:sp>
        <p:nvSpPr>
          <p:cNvPr id="31" name="Shape 29"/>
          <p:cNvSpPr/>
          <p:nvPr/>
        </p:nvSpPr>
        <p:spPr>
          <a:xfrm>
            <a:off x="10149840" y="3429000"/>
            <a:ext cx="1371600" cy="36576"/>
          </a:xfrm>
          <a:prstGeom prst="rect">
            <a:avLst/>
          </a:prstGeom>
          <a:solidFill>
            <a:srgbClr val="C0392B"/>
          </a:solidFill>
          <a:ln/>
        </p:spPr>
        <p:txBody>
          <a:bodyPr/>
          <a:lstStyle/>
          <a:p>
            <a:endParaRPr lang="fr-FR"/>
          </a:p>
        </p:txBody>
      </p:sp>
      <p:sp>
        <p:nvSpPr>
          <p:cNvPr id="32" name="Text 30"/>
          <p:cNvSpPr/>
          <p:nvPr/>
        </p:nvSpPr>
        <p:spPr>
          <a:xfrm>
            <a:off x="9875520" y="3520440"/>
            <a:ext cx="1920240" cy="1371600"/>
          </a:xfrm>
          <a:prstGeom prst="rect">
            <a:avLst/>
          </a:prstGeom>
          <a:noFill/>
          <a:ln/>
        </p:spPr>
        <p:txBody>
          <a:bodyPr wrap="square" rtlCol="0" anchor="ctr"/>
          <a:lstStyle/>
          <a:p>
            <a:pPr marL="0" indent="0" algn="ctr">
              <a:buNone/>
            </a:pPr>
            <a:r>
              <a:rPr lang="en-US" sz="1200" dirty="0">
                <a:solidFill>
                  <a:srgbClr val="555555"/>
                </a:solidFill>
                <a:latin typeface="Calibri" pitchFamily="34" charset="0"/>
                <a:ea typeface="Calibri" pitchFamily="34" charset="-122"/>
                <a:cs typeface="Calibri" pitchFamily="34" charset="-120"/>
              </a:rPr>
              <a:t>Self-hosted</a:t>
            </a:r>
            <a:endParaRPr lang="en-US" sz="1200" dirty="0"/>
          </a:p>
          <a:p>
            <a:pPr marL="0" indent="0" algn="ctr">
              <a:buNone/>
            </a:pPr>
            <a:r>
              <a:rPr lang="en-US" sz="1200" dirty="0">
                <a:solidFill>
                  <a:srgbClr val="555555"/>
                </a:solidFill>
                <a:latin typeface="Calibri" pitchFamily="34" charset="0"/>
                <a:ea typeface="Calibri" pitchFamily="34" charset="-122"/>
                <a:cs typeface="Calibri" pitchFamily="34" charset="-120"/>
              </a:rPr>
              <a:t>Runner</a:t>
            </a:r>
            <a:endParaRPr lang="en-US" sz="1200" dirty="0"/>
          </a:p>
        </p:txBody>
      </p:sp>
    </p:spTree>
    <p:extLst>
      <p:ext uri="{BB962C8B-B14F-4D97-AF65-F5344CB8AC3E}">
        <p14:creationId xmlns:p14="http://schemas.microsoft.com/office/powerpoint/2010/main" val="2033721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txBody>
          <a:bodyPr/>
          <a:lstStyle/>
          <a:p>
            <a:endParaRPr lang="fr-FR"/>
          </a:p>
        </p:txBody>
      </p:sp>
      <p:sp>
        <p:nvSpPr>
          <p:cNvPr id="3" name="Shape 1"/>
          <p:cNvSpPr/>
          <p:nvPr/>
        </p:nvSpPr>
        <p:spPr>
          <a:xfrm>
            <a:off x="0" y="6675120"/>
            <a:ext cx="12192000" cy="182880"/>
          </a:xfrm>
          <a:prstGeom prst="rect">
            <a:avLst/>
          </a:prstGeom>
          <a:solidFill>
            <a:srgbClr val="C0392B"/>
          </a:solidFill>
          <a:ln/>
        </p:spPr>
        <p:txBody>
          <a:bodyPr/>
          <a:lstStyle/>
          <a:p>
            <a:endParaRPr lang="fr-FR"/>
          </a:p>
        </p:txBody>
      </p:sp>
      <p:sp>
        <p:nvSpPr>
          <p:cNvPr id="4" name="Text 2"/>
          <p:cNvSpPr/>
          <p:nvPr/>
        </p:nvSpPr>
        <p:spPr>
          <a:xfrm>
            <a:off x="274320" y="6675120"/>
            <a:ext cx="9601200" cy="182880"/>
          </a:xfrm>
          <a:prstGeom prst="rect">
            <a:avLst/>
          </a:prstGeom>
          <a:noFill/>
          <a:ln/>
        </p:spPr>
        <p:txBody>
          <a:bodyPr wrap="square" rtlCol="0" anchor="ctr"/>
          <a:lstStyle/>
          <a:p>
            <a:pPr marL="0" indent="0">
              <a:buNone/>
            </a:pPr>
            <a:r>
              <a:rPr lang="fr-FR" sz="800" dirty="0">
                <a:solidFill>
                  <a:srgbClr val="FFFFFF"/>
                </a:solidFill>
                <a:latin typeface="Calibri" pitchFamily="34" charset="0"/>
                <a:ea typeface="Calibri" pitchFamily="34" charset="-122"/>
                <a:cs typeface="Calibri" pitchFamily="34" charset="-120"/>
              </a:rPr>
              <a:t>La Petite Maison de l’Épouvante —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marL="0" indent="0" algn="r">
              <a:buNone/>
            </a:pPr>
            <a:r>
              <a:rPr lang="en-US" sz="1800" b="1" dirty="0">
                <a:solidFill>
                  <a:srgbClr val="1A1A1A"/>
                </a:solidFill>
                <a:latin typeface="Calibri" pitchFamily="34" charset="0"/>
                <a:ea typeface="Calibri" pitchFamily="34" charset="-122"/>
                <a:cs typeface="Calibri" pitchFamily="34" charset="-120"/>
              </a:rPr>
              <a:t>7</a:t>
            </a:r>
            <a:endParaRPr lang="en-US" sz="1800" dirty="0"/>
          </a:p>
        </p:txBody>
      </p:sp>
      <p:sp>
        <p:nvSpPr>
          <p:cNvPr id="6" name="Text 4"/>
          <p:cNvSpPr/>
          <p:nvPr/>
        </p:nvSpPr>
        <p:spPr>
          <a:xfrm>
            <a:off x="365760" y="91440"/>
            <a:ext cx="10972800" cy="292608"/>
          </a:xfrm>
          <a:prstGeom prst="rect">
            <a:avLst/>
          </a:prstGeom>
          <a:noFill/>
          <a:ln/>
        </p:spPr>
        <p:txBody>
          <a:bodyPr wrap="square" rtlCol="0" anchor="ctr"/>
          <a:lstStyle/>
          <a:p>
            <a:pPr marL="0" indent="0">
              <a:buNone/>
            </a:pPr>
            <a:r>
              <a:rPr lang="en-US" sz="900" b="1" kern="0" spc="200" dirty="0">
                <a:solidFill>
                  <a:srgbClr val="E74C3C"/>
                </a:solidFill>
                <a:latin typeface="Calibri" pitchFamily="34" charset="0"/>
                <a:ea typeface="Calibri" pitchFamily="34" charset="-122"/>
                <a:cs typeface="Calibri" pitchFamily="34" charset="-120"/>
              </a:rPr>
              <a:t>CI/CD — GITHUB ACTIONS</a:t>
            </a:r>
            <a:endParaRPr lang="en-US" sz="900" dirty="0"/>
          </a:p>
        </p:txBody>
      </p:sp>
      <p:sp>
        <p:nvSpPr>
          <p:cNvPr id="7" name="Shape 5"/>
          <p:cNvSpPr/>
          <p:nvPr/>
        </p:nvSpPr>
        <p:spPr>
          <a:xfrm>
            <a:off x="365760" y="402336"/>
            <a:ext cx="2377440" cy="45720"/>
          </a:xfrm>
          <a:prstGeom prst="rect">
            <a:avLst/>
          </a:prstGeom>
          <a:solidFill>
            <a:srgbClr val="C0392B"/>
          </a:solidFill>
          <a:ln/>
        </p:spPr>
        <p:txBody>
          <a:bodyPr/>
          <a:lstStyle/>
          <a:p>
            <a:endParaRPr lang="fr-FR"/>
          </a:p>
        </p:txBody>
      </p:sp>
      <p:sp>
        <p:nvSpPr>
          <p:cNvPr id="8" name="Text 6"/>
          <p:cNvSpPr/>
          <p:nvPr/>
        </p:nvSpPr>
        <p:spPr>
          <a:xfrm>
            <a:off x="365760" y="475488"/>
            <a:ext cx="11430000" cy="594360"/>
          </a:xfrm>
          <a:prstGeom prst="rect">
            <a:avLst/>
          </a:prstGeom>
          <a:noFill/>
          <a:ln/>
        </p:spPr>
        <p:txBody>
          <a:bodyPr wrap="square" rtlCol="0" anchor="ctr"/>
          <a:lstStyle/>
          <a:p>
            <a:pPr marL="0" indent="0">
              <a:buNone/>
            </a:pPr>
            <a:r>
              <a:rPr lang="en-US" sz="2200" b="1" dirty="0">
                <a:solidFill>
                  <a:srgbClr val="1A1A1A"/>
                </a:solidFill>
                <a:latin typeface="Palatino Linotype" pitchFamily="34" charset="0"/>
                <a:ea typeface="Palatino Linotype" pitchFamily="34" charset="-122"/>
                <a:cs typeface="Palatino Linotype" pitchFamily="34" charset="-120"/>
              </a:rPr>
              <a:t>Pipeline 11 jobs</a:t>
            </a:r>
            <a:endParaRPr lang="en-US" sz="2200" dirty="0"/>
          </a:p>
        </p:txBody>
      </p:sp>
      <p:sp>
        <p:nvSpPr>
          <p:cNvPr id="9" name="Text 7"/>
          <p:cNvSpPr/>
          <p:nvPr/>
        </p:nvSpPr>
        <p:spPr>
          <a:xfrm>
            <a:off x="457200" y="1261872"/>
            <a:ext cx="1508760" cy="274320"/>
          </a:xfrm>
          <a:prstGeom prst="rect">
            <a:avLst/>
          </a:prstGeom>
          <a:noFill/>
          <a:ln/>
        </p:spPr>
        <p:txBody>
          <a:bodyPr wrap="square" rtlCol="0" anchor="ctr"/>
          <a:lstStyle/>
          <a:p>
            <a:pPr marL="0" indent="0" algn="ctr">
              <a:buNone/>
            </a:pPr>
            <a:r>
              <a:rPr lang="en-US" sz="750" b="1" kern="0" spc="30" dirty="0">
                <a:solidFill>
                  <a:srgbClr val="555555"/>
                </a:solidFill>
                <a:latin typeface="Calibri" pitchFamily="34" charset="0"/>
                <a:ea typeface="Calibri" pitchFamily="34" charset="-122"/>
                <a:cs typeface="Calibri" pitchFamily="34" charset="-120"/>
              </a:rPr>
              <a:t>① INSTALL</a:t>
            </a:r>
            <a:endParaRPr lang="en-US" sz="750" dirty="0"/>
          </a:p>
        </p:txBody>
      </p:sp>
      <p:sp>
        <p:nvSpPr>
          <p:cNvPr id="10" name="Shape 8"/>
          <p:cNvSpPr/>
          <p:nvPr/>
        </p:nvSpPr>
        <p:spPr>
          <a:xfrm>
            <a:off x="708660" y="1536192"/>
            <a:ext cx="1005840" cy="27432"/>
          </a:xfrm>
          <a:prstGeom prst="rect">
            <a:avLst/>
          </a:prstGeom>
          <a:solidFill>
            <a:srgbClr val="C0392B"/>
          </a:solidFill>
          <a:ln/>
        </p:spPr>
        <p:txBody>
          <a:bodyPr/>
          <a:lstStyle/>
          <a:p>
            <a:endParaRPr lang="fr-FR"/>
          </a:p>
        </p:txBody>
      </p:sp>
      <p:sp>
        <p:nvSpPr>
          <p:cNvPr id="11" name="Shape 9"/>
          <p:cNvSpPr/>
          <p:nvPr/>
        </p:nvSpPr>
        <p:spPr>
          <a:xfrm>
            <a:off x="457200" y="3474720"/>
            <a:ext cx="1508760" cy="640080"/>
          </a:xfrm>
          <a:prstGeom prst="rect">
            <a:avLst/>
          </a:prstGeom>
          <a:solidFill>
            <a:srgbClr val="F5F5F5"/>
          </a:solidFill>
          <a:ln w="19050">
            <a:solidFill>
              <a:srgbClr val="C0392B"/>
            </a:solidFill>
            <a:prstDash val="solid"/>
          </a:ln>
        </p:spPr>
        <p:txBody>
          <a:bodyPr/>
          <a:lstStyle/>
          <a:p>
            <a:endParaRPr lang="fr-FR"/>
          </a:p>
        </p:txBody>
      </p:sp>
      <p:sp>
        <p:nvSpPr>
          <p:cNvPr id="12" name="Text 10"/>
          <p:cNvSpPr/>
          <p:nvPr/>
        </p:nvSpPr>
        <p:spPr>
          <a:xfrm>
            <a:off x="457200" y="3502152"/>
            <a:ext cx="1508760" cy="585216"/>
          </a:xfrm>
          <a:prstGeom prst="rect">
            <a:avLst/>
          </a:prstGeom>
          <a:noFill/>
          <a:ln/>
        </p:spPr>
        <p:txBody>
          <a:bodyPr wrap="square" rtlCol="0" anchor="ctr"/>
          <a:lstStyle/>
          <a:p>
            <a:pPr marL="0" indent="0" algn="ctr">
              <a:buNone/>
            </a:pPr>
            <a:r>
              <a:rPr lang="en-US" sz="900" dirty="0">
                <a:solidFill>
                  <a:srgbClr val="27AE60"/>
                </a:solidFill>
                <a:latin typeface="Calibri" pitchFamily="34" charset="0"/>
                <a:ea typeface="Calibri" pitchFamily="34" charset="-122"/>
                <a:cs typeface="Calibri" pitchFamily="34" charset="-120"/>
              </a:rPr>
              <a:t>install</a:t>
            </a:r>
            <a:endParaRPr lang="en-US" sz="900" dirty="0"/>
          </a:p>
        </p:txBody>
      </p:sp>
      <p:sp>
        <p:nvSpPr>
          <p:cNvPr id="13" name="Text 11"/>
          <p:cNvSpPr/>
          <p:nvPr/>
        </p:nvSpPr>
        <p:spPr>
          <a:xfrm>
            <a:off x="1984248" y="3630168"/>
            <a:ext cx="329184" cy="329184"/>
          </a:xfrm>
          <a:prstGeom prst="rect">
            <a:avLst/>
          </a:prstGeom>
          <a:noFill/>
          <a:ln/>
        </p:spPr>
        <p:txBody>
          <a:bodyPr wrap="square" rtlCol="0" anchor="ctr"/>
          <a:lstStyle/>
          <a:p>
            <a:pPr marL="0" indent="0" algn="ctr">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2331720" y="1261872"/>
            <a:ext cx="1508760" cy="274320"/>
          </a:xfrm>
          <a:prstGeom prst="rect">
            <a:avLst/>
          </a:prstGeom>
          <a:noFill/>
          <a:ln/>
        </p:spPr>
        <p:txBody>
          <a:bodyPr wrap="square" rtlCol="0" anchor="ctr"/>
          <a:lstStyle/>
          <a:p>
            <a:pPr marL="0" indent="0" algn="ctr">
              <a:buNone/>
            </a:pPr>
            <a:r>
              <a:rPr lang="en-US" sz="750" b="1" kern="0" spc="30" dirty="0">
                <a:solidFill>
                  <a:srgbClr val="555555"/>
                </a:solidFill>
                <a:latin typeface="Calibri" pitchFamily="34" charset="0"/>
                <a:ea typeface="Calibri" pitchFamily="34" charset="-122"/>
                <a:cs typeface="Calibri" pitchFamily="34" charset="-120"/>
              </a:rPr>
              <a:t>② SECURITY · TESTS</a:t>
            </a:r>
            <a:endParaRPr lang="en-US" sz="750" dirty="0"/>
          </a:p>
        </p:txBody>
      </p:sp>
      <p:sp>
        <p:nvSpPr>
          <p:cNvPr id="15" name="Shape 13"/>
          <p:cNvSpPr/>
          <p:nvPr/>
        </p:nvSpPr>
        <p:spPr>
          <a:xfrm>
            <a:off x="2583180" y="1536192"/>
            <a:ext cx="1005840" cy="27432"/>
          </a:xfrm>
          <a:prstGeom prst="rect">
            <a:avLst/>
          </a:prstGeom>
          <a:solidFill>
            <a:srgbClr val="C0392B"/>
          </a:solidFill>
          <a:ln/>
        </p:spPr>
        <p:txBody>
          <a:bodyPr/>
          <a:lstStyle/>
          <a:p>
            <a:endParaRPr lang="fr-FR"/>
          </a:p>
        </p:txBody>
      </p:sp>
      <p:sp>
        <p:nvSpPr>
          <p:cNvPr id="16" name="Shape 14"/>
          <p:cNvSpPr/>
          <p:nvPr/>
        </p:nvSpPr>
        <p:spPr>
          <a:xfrm>
            <a:off x="2331720" y="2377440"/>
            <a:ext cx="1508760" cy="640080"/>
          </a:xfrm>
          <a:prstGeom prst="rect">
            <a:avLst/>
          </a:prstGeom>
          <a:solidFill>
            <a:srgbClr val="F5F5F5"/>
          </a:solidFill>
          <a:ln w="19050">
            <a:solidFill>
              <a:srgbClr val="C0392B"/>
            </a:solidFill>
            <a:prstDash val="solid"/>
          </a:ln>
        </p:spPr>
        <p:txBody>
          <a:bodyPr/>
          <a:lstStyle/>
          <a:p>
            <a:endParaRPr lang="fr-FR"/>
          </a:p>
        </p:txBody>
      </p:sp>
      <p:sp>
        <p:nvSpPr>
          <p:cNvPr id="17" name="Text 15"/>
          <p:cNvSpPr/>
          <p:nvPr/>
        </p:nvSpPr>
        <p:spPr>
          <a:xfrm>
            <a:off x="2331720" y="2404872"/>
            <a:ext cx="1508760" cy="585216"/>
          </a:xfrm>
          <a:prstGeom prst="rect">
            <a:avLst/>
          </a:prstGeom>
          <a:noFill/>
          <a:ln/>
        </p:spPr>
        <p:txBody>
          <a:bodyPr wrap="square" rtlCol="0" anchor="ctr"/>
          <a:lstStyle/>
          <a:p>
            <a:pPr marL="0" indent="0" algn="ctr">
              <a:buNone/>
            </a:pPr>
            <a:r>
              <a:rPr lang="en-US" sz="900" dirty="0">
                <a:solidFill>
                  <a:srgbClr val="E74C3C"/>
                </a:solidFill>
                <a:latin typeface="Calibri" pitchFamily="34" charset="0"/>
                <a:ea typeface="Calibri" pitchFamily="34" charset="-122"/>
                <a:cs typeface="Calibri" pitchFamily="34" charset="-120"/>
              </a:rPr>
              <a:t>sast</a:t>
            </a:r>
            <a:endParaRPr lang="en-US" sz="900" dirty="0"/>
          </a:p>
          <a:p>
            <a:pPr marL="0" indent="0" algn="ctr">
              <a:buNone/>
            </a:pPr>
            <a:r>
              <a:rPr lang="en-US" sz="900" dirty="0">
                <a:solidFill>
                  <a:srgbClr val="E74C3C"/>
                </a:solidFill>
                <a:latin typeface="Calibri" pitchFamily="34" charset="0"/>
                <a:ea typeface="Calibri" pitchFamily="34" charset="-122"/>
                <a:cs typeface="Calibri" pitchFamily="34" charset="-120"/>
              </a:rPr>
              <a:t>npm-audit</a:t>
            </a:r>
            <a:endParaRPr lang="en-US" sz="900" dirty="0"/>
          </a:p>
        </p:txBody>
      </p:sp>
      <p:sp>
        <p:nvSpPr>
          <p:cNvPr id="18" name="Shape 16"/>
          <p:cNvSpPr/>
          <p:nvPr/>
        </p:nvSpPr>
        <p:spPr>
          <a:xfrm>
            <a:off x="2331720" y="3108960"/>
            <a:ext cx="1508760" cy="640080"/>
          </a:xfrm>
          <a:prstGeom prst="rect">
            <a:avLst/>
          </a:prstGeom>
          <a:solidFill>
            <a:srgbClr val="F5F5F5"/>
          </a:solidFill>
          <a:ln w="19050">
            <a:solidFill>
              <a:srgbClr val="C0392B"/>
            </a:solidFill>
            <a:prstDash val="solid"/>
          </a:ln>
        </p:spPr>
        <p:txBody>
          <a:bodyPr/>
          <a:lstStyle/>
          <a:p>
            <a:endParaRPr lang="fr-FR"/>
          </a:p>
        </p:txBody>
      </p:sp>
      <p:sp>
        <p:nvSpPr>
          <p:cNvPr id="19" name="Text 17"/>
          <p:cNvSpPr/>
          <p:nvPr/>
        </p:nvSpPr>
        <p:spPr>
          <a:xfrm>
            <a:off x="2331720" y="3136392"/>
            <a:ext cx="1508760" cy="585216"/>
          </a:xfrm>
          <a:prstGeom prst="rect">
            <a:avLst/>
          </a:prstGeom>
          <a:noFill/>
          <a:ln/>
        </p:spPr>
        <p:txBody>
          <a:bodyPr wrap="square" rtlCol="0" anchor="ctr"/>
          <a:lstStyle/>
          <a:p>
            <a:pPr marL="0" indent="0" algn="ctr">
              <a:buNone/>
            </a:pPr>
            <a:r>
              <a:rPr lang="en-US" sz="900" dirty="0">
                <a:solidFill>
                  <a:srgbClr val="E74C3C"/>
                </a:solidFill>
                <a:latin typeface="Calibri" pitchFamily="34" charset="0"/>
                <a:ea typeface="Calibri" pitchFamily="34" charset="-122"/>
                <a:cs typeface="Calibri" pitchFamily="34" charset="-120"/>
              </a:rPr>
              <a:t>trivy</a:t>
            </a:r>
            <a:endParaRPr lang="en-US" sz="900" dirty="0"/>
          </a:p>
          <a:p>
            <a:pPr marL="0" indent="0" algn="ctr">
              <a:buNone/>
            </a:pPr>
            <a:r>
              <a:rPr lang="en-US" sz="900" dirty="0">
                <a:solidFill>
                  <a:srgbClr val="E74C3C"/>
                </a:solidFill>
                <a:latin typeface="Calibri" pitchFamily="34" charset="0"/>
                <a:ea typeface="Calibri" pitchFamily="34" charset="-122"/>
                <a:cs typeface="Calibri" pitchFamily="34" charset="-120"/>
              </a:rPr>
              <a:t>fs-audit</a:t>
            </a:r>
            <a:endParaRPr lang="en-US" sz="900" dirty="0"/>
          </a:p>
        </p:txBody>
      </p:sp>
      <p:sp>
        <p:nvSpPr>
          <p:cNvPr id="20" name="Shape 18"/>
          <p:cNvSpPr/>
          <p:nvPr/>
        </p:nvSpPr>
        <p:spPr>
          <a:xfrm>
            <a:off x="2331720" y="3840480"/>
            <a:ext cx="1508760" cy="640080"/>
          </a:xfrm>
          <a:prstGeom prst="rect">
            <a:avLst/>
          </a:prstGeom>
          <a:solidFill>
            <a:srgbClr val="F5F5F5"/>
          </a:solidFill>
          <a:ln w="19050">
            <a:solidFill>
              <a:srgbClr val="C0392B"/>
            </a:solidFill>
            <a:prstDash val="solid"/>
          </a:ln>
        </p:spPr>
        <p:txBody>
          <a:bodyPr/>
          <a:lstStyle/>
          <a:p>
            <a:endParaRPr lang="fr-FR"/>
          </a:p>
        </p:txBody>
      </p:sp>
      <p:sp>
        <p:nvSpPr>
          <p:cNvPr id="21" name="Text 19"/>
          <p:cNvSpPr/>
          <p:nvPr/>
        </p:nvSpPr>
        <p:spPr>
          <a:xfrm>
            <a:off x="2331720" y="3867912"/>
            <a:ext cx="1508760" cy="585216"/>
          </a:xfrm>
          <a:prstGeom prst="rect">
            <a:avLst/>
          </a:prstGeom>
          <a:noFill/>
          <a:ln/>
        </p:spPr>
        <p:txBody>
          <a:bodyPr wrap="square" rtlCol="0" anchor="ctr"/>
          <a:lstStyle/>
          <a:p>
            <a:pPr marL="0" indent="0" algn="ctr">
              <a:buNone/>
            </a:pPr>
            <a:r>
              <a:rPr lang="en-US" sz="900" dirty="0">
                <a:solidFill>
                  <a:srgbClr val="27AE60"/>
                </a:solidFill>
                <a:latin typeface="Calibri" pitchFamily="34" charset="0"/>
                <a:ea typeface="Calibri" pitchFamily="34" charset="-122"/>
                <a:cs typeface="Calibri" pitchFamily="34" charset="-120"/>
              </a:rPr>
              <a:t>unit</a:t>
            </a:r>
            <a:endParaRPr lang="en-US" sz="900" dirty="0"/>
          </a:p>
          <a:p>
            <a:pPr marL="0" indent="0" algn="ctr">
              <a:buNone/>
            </a:pPr>
            <a:r>
              <a:rPr lang="en-US" sz="900" dirty="0">
                <a:solidFill>
                  <a:srgbClr val="27AE60"/>
                </a:solidFill>
                <a:latin typeface="Calibri" pitchFamily="34" charset="0"/>
                <a:ea typeface="Calibri" pitchFamily="34" charset="-122"/>
                <a:cs typeface="Calibri" pitchFamily="34" charset="-120"/>
              </a:rPr>
              <a:t>test</a:t>
            </a:r>
            <a:endParaRPr lang="en-US" sz="900" dirty="0"/>
          </a:p>
        </p:txBody>
      </p:sp>
      <p:sp>
        <p:nvSpPr>
          <p:cNvPr id="22" name="Shape 20"/>
          <p:cNvSpPr/>
          <p:nvPr/>
        </p:nvSpPr>
        <p:spPr>
          <a:xfrm>
            <a:off x="2331720" y="4572000"/>
            <a:ext cx="1508760" cy="640080"/>
          </a:xfrm>
          <a:prstGeom prst="rect">
            <a:avLst/>
          </a:prstGeom>
          <a:solidFill>
            <a:srgbClr val="F5F5F5"/>
          </a:solidFill>
          <a:ln w="19050">
            <a:solidFill>
              <a:srgbClr val="C0392B"/>
            </a:solidFill>
            <a:prstDash val="solid"/>
          </a:ln>
        </p:spPr>
        <p:txBody>
          <a:bodyPr/>
          <a:lstStyle/>
          <a:p>
            <a:endParaRPr lang="fr-FR"/>
          </a:p>
        </p:txBody>
      </p:sp>
      <p:sp>
        <p:nvSpPr>
          <p:cNvPr id="23" name="Text 21"/>
          <p:cNvSpPr/>
          <p:nvPr/>
        </p:nvSpPr>
        <p:spPr>
          <a:xfrm>
            <a:off x="2331720" y="4599432"/>
            <a:ext cx="1508760" cy="585216"/>
          </a:xfrm>
          <a:prstGeom prst="rect">
            <a:avLst/>
          </a:prstGeom>
          <a:noFill/>
          <a:ln/>
        </p:spPr>
        <p:txBody>
          <a:bodyPr wrap="square" rtlCol="0" anchor="ctr"/>
          <a:lstStyle/>
          <a:p>
            <a:pPr marL="0" indent="0" algn="ctr">
              <a:buNone/>
            </a:pPr>
            <a:r>
              <a:rPr lang="en-US" sz="900" dirty="0">
                <a:solidFill>
                  <a:srgbClr val="27AE60"/>
                </a:solidFill>
                <a:latin typeface="Calibri" pitchFamily="34" charset="0"/>
                <a:ea typeface="Calibri" pitchFamily="34" charset="-122"/>
                <a:cs typeface="Calibri" pitchFamily="34" charset="-120"/>
              </a:rPr>
              <a:t>e2e</a:t>
            </a:r>
            <a:endParaRPr lang="en-US" sz="900" dirty="0"/>
          </a:p>
          <a:p>
            <a:pPr marL="0" indent="0" algn="ctr">
              <a:buNone/>
            </a:pPr>
            <a:r>
              <a:rPr lang="en-US" sz="900" dirty="0">
                <a:solidFill>
                  <a:srgbClr val="27AE60"/>
                </a:solidFill>
                <a:latin typeface="Calibri" pitchFamily="34" charset="0"/>
                <a:ea typeface="Calibri" pitchFamily="34" charset="-122"/>
                <a:cs typeface="Calibri" pitchFamily="34" charset="-120"/>
              </a:rPr>
              <a:t>test</a:t>
            </a:r>
            <a:endParaRPr lang="en-US" sz="900" dirty="0"/>
          </a:p>
        </p:txBody>
      </p:sp>
      <p:sp>
        <p:nvSpPr>
          <p:cNvPr id="24" name="Text 22"/>
          <p:cNvSpPr/>
          <p:nvPr/>
        </p:nvSpPr>
        <p:spPr>
          <a:xfrm>
            <a:off x="3858768" y="3630168"/>
            <a:ext cx="329184" cy="329184"/>
          </a:xfrm>
          <a:prstGeom prst="rect">
            <a:avLst/>
          </a:prstGeom>
          <a:noFill/>
          <a:ln/>
        </p:spPr>
        <p:txBody>
          <a:bodyPr wrap="square" rtlCol="0" anchor="ctr"/>
          <a:lstStyle/>
          <a:p>
            <a:pPr marL="0" indent="0" algn="ctr">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25" name="Text 23"/>
          <p:cNvSpPr/>
          <p:nvPr/>
        </p:nvSpPr>
        <p:spPr>
          <a:xfrm>
            <a:off x="4206240" y="1261872"/>
            <a:ext cx="1508760" cy="274320"/>
          </a:xfrm>
          <a:prstGeom prst="rect">
            <a:avLst/>
          </a:prstGeom>
          <a:noFill/>
          <a:ln/>
        </p:spPr>
        <p:txBody>
          <a:bodyPr wrap="square" rtlCol="0" anchor="ctr"/>
          <a:lstStyle/>
          <a:p>
            <a:pPr marL="0" indent="0" algn="ctr">
              <a:buNone/>
            </a:pPr>
            <a:r>
              <a:rPr lang="en-US" sz="750" b="1" kern="0" spc="30" dirty="0">
                <a:solidFill>
                  <a:srgbClr val="555555"/>
                </a:solidFill>
                <a:latin typeface="Calibri" pitchFamily="34" charset="0"/>
                <a:ea typeface="Calibri" pitchFamily="34" charset="-122"/>
                <a:cs typeface="Calibri" pitchFamily="34" charset="-120"/>
              </a:rPr>
              <a:t>③ QUALITY</a:t>
            </a:r>
            <a:endParaRPr lang="en-US" sz="750" dirty="0"/>
          </a:p>
        </p:txBody>
      </p:sp>
      <p:sp>
        <p:nvSpPr>
          <p:cNvPr id="26" name="Shape 24"/>
          <p:cNvSpPr/>
          <p:nvPr/>
        </p:nvSpPr>
        <p:spPr>
          <a:xfrm>
            <a:off x="4457700" y="1536192"/>
            <a:ext cx="1005840" cy="27432"/>
          </a:xfrm>
          <a:prstGeom prst="rect">
            <a:avLst/>
          </a:prstGeom>
          <a:solidFill>
            <a:srgbClr val="C0392B"/>
          </a:solidFill>
          <a:ln/>
        </p:spPr>
        <p:txBody>
          <a:bodyPr/>
          <a:lstStyle/>
          <a:p>
            <a:endParaRPr lang="fr-FR"/>
          </a:p>
        </p:txBody>
      </p:sp>
      <p:sp>
        <p:nvSpPr>
          <p:cNvPr id="27" name="Shape 25"/>
          <p:cNvSpPr/>
          <p:nvPr/>
        </p:nvSpPr>
        <p:spPr>
          <a:xfrm>
            <a:off x="4206240" y="3108960"/>
            <a:ext cx="1508760" cy="640080"/>
          </a:xfrm>
          <a:prstGeom prst="rect">
            <a:avLst/>
          </a:prstGeom>
          <a:solidFill>
            <a:srgbClr val="F5F5F5"/>
          </a:solidFill>
          <a:ln w="19050">
            <a:solidFill>
              <a:srgbClr val="C0392B"/>
            </a:solidFill>
            <a:prstDash val="solid"/>
          </a:ln>
        </p:spPr>
        <p:txBody>
          <a:bodyPr/>
          <a:lstStyle/>
          <a:p>
            <a:endParaRPr lang="fr-FR"/>
          </a:p>
        </p:txBody>
      </p:sp>
      <p:sp>
        <p:nvSpPr>
          <p:cNvPr id="28" name="Text 26"/>
          <p:cNvSpPr/>
          <p:nvPr/>
        </p:nvSpPr>
        <p:spPr>
          <a:xfrm>
            <a:off x="4206240" y="3136392"/>
            <a:ext cx="1508760" cy="585216"/>
          </a:xfrm>
          <a:prstGeom prst="rect">
            <a:avLst/>
          </a:prstGeom>
          <a:noFill/>
          <a:ln/>
        </p:spPr>
        <p:txBody>
          <a:bodyPr wrap="square" rtlCol="0" anchor="ctr"/>
          <a:lstStyle/>
          <a:p>
            <a:pPr marL="0" indent="0" algn="ctr">
              <a:buNone/>
            </a:pPr>
            <a:r>
              <a:rPr lang="en-US" sz="900" dirty="0">
                <a:solidFill>
                  <a:srgbClr val="F39C12"/>
                </a:solidFill>
                <a:latin typeface="Calibri" pitchFamily="34" charset="0"/>
                <a:ea typeface="Calibri" pitchFamily="34" charset="-122"/>
                <a:cs typeface="Calibri" pitchFamily="34" charset="-120"/>
              </a:rPr>
              <a:t>sonar</a:t>
            </a:r>
            <a:endParaRPr lang="en-US" sz="900" dirty="0"/>
          </a:p>
          <a:p>
            <a:pPr marL="0" indent="0" algn="ctr">
              <a:buNone/>
            </a:pPr>
            <a:r>
              <a:rPr lang="en-US" sz="900" dirty="0">
                <a:solidFill>
                  <a:srgbClr val="F39C12"/>
                </a:solidFill>
                <a:latin typeface="Calibri" pitchFamily="34" charset="0"/>
                <a:ea typeface="Calibri" pitchFamily="34" charset="-122"/>
                <a:cs typeface="Calibri" pitchFamily="34" charset="-120"/>
              </a:rPr>
              <a:t>audit</a:t>
            </a:r>
            <a:endParaRPr lang="en-US" sz="900" dirty="0"/>
          </a:p>
        </p:txBody>
      </p:sp>
      <p:sp>
        <p:nvSpPr>
          <p:cNvPr id="29" name="Shape 27"/>
          <p:cNvSpPr/>
          <p:nvPr/>
        </p:nvSpPr>
        <p:spPr>
          <a:xfrm>
            <a:off x="4206240" y="3840480"/>
            <a:ext cx="1508760" cy="640080"/>
          </a:xfrm>
          <a:prstGeom prst="rect">
            <a:avLst/>
          </a:prstGeom>
          <a:solidFill>
            <a:srgbClr val="F5F5F5"/>
          </a:solidFill>
          <a:ln w="19050">
            <a:solidFill>
              <a:srgbClr val="C0392B"/>
            </a:solidFill>
            <a:prstDash val="solid"/>
          </a:ln>
        </p:spPr>
        <p:txBody>
          <a:bodyPr/>
          <a:lstStyle/>
          <a:p>
            <a:endParaRPr lang="fr-FR"/>
          </a:p>
        </p:txBody>
      </p:sp>
      <p:sp>
        <p:nvSpPr>
          <p:cNvPr id="30" name="Text 28"/>
          <p:cNvSpPr/>
          <p:nvPr/>
        </p:nvSpPr>
        <p:spPr>
          <a:xfrm>
            <a:off x="4206240" y="3867912"/>
            <a:ext cx="1508760" cy="585216"/>
          </a:xfrm>
          <a:prstGeom prst="rect">
            <a:avLst/>
          </a:prstGeom>
          <a:noFill/>
          <a:ln/>
        </p:spPr>
        <p:txBody>
          <a:bodyPr wrap="square" rtlCol="0" anchor="ctr"/>
          <a:lstStyle/>
          <a:p>
            <a:pPr marL="0" indent="0" algn="ctr">
              <a:buNone/>
            </a:pPr>
            <a:r>
              <a:rPr lang="en-US" sz="900" dirty="0">
                <a:solidFill>
                  <a:srgbClr val="3498DB"/>
                </a:solidFill>
                <a:latin typeface="Calibri" pitchFamily="34" charset="0"/>
                <a:ea typeface="Calibri" pitchFamily="34" charset="-122"/>
                <a:cs typeface="Calibri" pitchFamily="34" charset="-120"/>
              </a:rPr>
              <a:t>k6</a:t>
            </a:r>
            <a:endParaRPr lang="en-US" sz="900" dirty="0"/>
          </a:p>
          <a:p>
            <a:pPr marL="0" indent="0" algn="ctr">
              <a:buNone/>
            </a:pPr>
            <a:r>
              <a:rPr lang="en-US" sz="900" dirty="0">
                <a:solidFill>
                  <a:srgbClr val="3498DB"/>
                </a:solidFill>
                <a:latin typeface="Calibri" pitchFamily="34" charset="0"/>
                <a:ea typeface="Calibri" pitchFamily="34" charset="-122"/>
                <a:cs typeface="Calibri" pitchFamily="34" charset="-120"/>
              </a:rPr>
              <a:t>smoke-test</a:t>
            </a:r>
            <a:endParaRPr lang="en-US" sz="900" dirty="0"/>
          </a:p>
        </p:txBody>
      </p:sp>
      <p:sp>
        <p:nvSpPr>
          <p:cNvPr id="31" name="Text 29"/>
          <p:cNvSpPr/>
          <p:nvPr/>
        </p:nvSpPr>
        <p:spPr>
          <a:xfrm>
            <a:off x="5733288" y="3630168"/>
            <a:ext cx="329184" cy="329184"/>
          </a:xfrm>
          <a:prstGeom prst="rect">
            <a:avLst/>
          </a:prstGeom>
          <a:noFill/>
          <a:ln/>
        </p:spPr>
        <p:txBody>
          <a:bodyPr wrap="square" rtlCol="0" anchor="ctr"/>
          <a:lstStyle/>
          <a:p>
            <a:pPr marL="0" indent="0" algn="ctr">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32" name="Text 30"/>
          <p:cNvSpPr/>
          <p:nvPr/>
        </p:nvSpPr>
        <p:spPr>
          <a:xfrm>
            <a:off x="6080760" y="1261872"/>
            <a:ext cx="1508760" cy="274320"/>
          </a:xfrm>
          <a:prstGeom prst="rect">
            <a:avLst/>
          </a:prstGeom>
          <a:noFill/>
          <a:ln/>
        </p:spPr>
        <p:txBody>
          <a:bodyPr wrap="square" rtlCol="0" anchor="ctr"/>
          <a:lstStyle/>
          <a:p>
            <a:pPr marL="0" indent="0" algn="ctr">
              <a:buNone/>
            </a:pPr>
            <a:r>
              <a:rPr lang="en-US" sz="750" b="1" kern="0" spc="30" dirty="0">
                <a:solidFill>
                  <a:srgbClr val="555555"/>
                </a:solidFill>
                <a:latin typeface="Calibri" pitchFamily="34" charset="0"/>
                <a:ea typeface="Calibri" pitchFamily="34" charset="-122"/>
                <a:cs typeface="Calibri" pitchFamily="34" charset="-120"/>
              </a:rPr>
              <a:t>④ BUILD</a:t>
            </a:r>
            <a:endParaRPr lang="en-US" sz="750" dirty="0"/>
          </a:p>
        </p:txBody>
      </p:sp>
      <p:sp>
        <p:nvSpPr>
          <p:cNvPr id="33" name="Shape 31"/>
          <p:cNvSpPr/>
          <p:nvPr/>
        </p:nvSpPr>
        <p:spPr>
          <a:xfrm>
            <a:off x="6332220" y="1536192"/>
            <a:ext cx="1005840" cy="27432"/>
          </a:xfrm>
          <a:prstGeom prst="rect">
            <a:avLst/>
          </a:prstGeom>
          <a:solidFill>
            <a:srgbClr val="C0392B"/>
          </a:solidFill>
          <a:ln/>
        </p:spPr>
        <p:txBody>
          <a:bodyPr/>
          <a:lstStyle/>
          <a:p>
            <a:endParaRPr lang="fr-FR"/>
          </a:p>
        </p:txBody>
      </p:sp>
      <p:sp>
        <p:nvSpPr>
          <p:cNvPr id="34" name="Shape 32"/>
          <p:cNvSpPr/>
          <p:nvPr/>
        </p:nvSpPr>
        <p:spPr>
          <a:xfrm>
            <a:off x="6080760" y="3474720"/>
            <a:ext cx="1508760" cy="640080"/>
          </a:xfrm>
          <a:prstGeom prst="rect">
            <a:avLst/>
          </a:prstGeom>
          <a:solidFill>
            <a:srgbClr val="F5F5F5"/>
          </a:solidFill>
          <a:ln w="19050">
            <a:solidFill>
              <a:srgbClr val="C0392B"/>
            </a:solidFill>
            <a:prstDash val="solid"/>
          </a:ln>
        </p:spPr>
        <p:txBody>
          <a:bodyPr/>
          <a:lstStyle/>
          <a:p>
            <a:endParaRPr lang="fr-FR"/>
          </a:p>
        </p:txBody>
      </p:sp>
      <p:sp>
        <p:nvSpPr>
          <p:cNvPr id="35" name="Text 33"/>
          <p:cNvSpPr/>
          <p:nvPr/>
        </p:nvSpPr>
        <p:spPr>
          <a:xfrm>
            <a:off x="6080760" y="3502152"/>
            <a:ext cx="1508760" cy="585216"/>
          </a:xfrm>
          <a:prstGeom prst="rect">
            <a:avLst/>
          </a:prstGeom>
          <a:noFill/>
          <a:ln/>
        </p:spPr>
        <p:txBody>
          <a:bodyPr wrap="square" rtlCol="0" anchor="ctr"/>
          <a:lstStyle/>
          <a:p>
            <a:pPr marL="0" indent="0" algn="ctr">
              <a:buNone/>
            </a:pPr>
            <a:r>
              <a:rPr lang="en-US" sz="900" dirty="0">
                <a:solidFill>
                  <a:srgbClr val="F39C12"/>
                </a:solidFill>
                <a:latin typeface="Calibri" pitchFamily="34" charset="0"/>
                <a:ea typeface="Calibri" pitchFamily="34" charset="-122"/>
                <a:cs typeface="Calibri" pitchFamily="34" charset="-120"/>
              </a:rPr>
              <a:t>build-image</a:t>
            </a:r>
            <a:endParaRPr lang="en-US" sz="900" dirty="0"/>
          </a:p>
          <a:p>
            <a:pPr marL="0" indent="0" algn="ctr">
              <a:buNone/>
            </a:pPr>
            <a:r>
              <a:rPr lang="en-US" sz="900" dirty="0">
                <a:solidFill>
                  <a:srgbClr val="F39C12"/>
                </a:solidFill>
                <a:latin typeface="Calibri" pitchFamily="34" charset="0"/>
                <a:ea typeface="Calibri" pitchFamily="34" charset="-122"/>
                <a:cs typeface="Calibri" pitchFamily="34" charset="-120"/>
              </a:rPr>
              <a:t>runner self-hosted</a:t>
            </a:r>
            <a:endParaRPr lang="en-US" sz="900" dirty="0"/>
          </a:p>
        </p:txBody>
      </p:sp>
      <p:sp>
        <p:nvSpPr>
          <p:cNvPr id="36" name="Text 34"/>
          <p:cNvSpPr/>
          <p:nvPr/>
        </p:nvSpPr>
        <p:spPr>
          <a:xfrm>
            <a:off x="7607808" y="3630168"/>
            <a:ext cx="329184" cy="329184"/>
          </a:xfrm>
          <a:prstGeom prst="rect">
            <a:avLst/>
          </a:prstGeom>
          <a:noFill/>
          <a:ln/>
        </p:spPr>
        <p:txBody>
          <a:bodyPr wrap="square" rtlCol="0" anchor="ctr"/>
          <a:lstStyle/>
          <a:p>
            <a:pPr marL="0" indent="0" algn="ctr">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37" name="Text 35"/>
          <p:cNvSpPr/>
          <p:nvPr/>
        </p:nvSpPr>
        <p:spPr>
          <a:xfrm>
            <a:off x="7955280" y="1261872"/>
            <a:ext cx="1508760" cy="274320"/>
          </a:xfrm>
          <a:prstGeom prst="rect">
            <a:avLst/>
          </a:prstGeom>
          <a:noFill/>
          <a:ln/>
        </p:spPr>
        <p:txBody>
          <a:bodyPr wrap="square" rtlCol="0" anchor="ctr"/>
          <a:lstStyle/>
          <a:p>
            <a:pPr marL="0" indent="0" algn="ctr">
              <a:buNone/>
            </a:pPr>
            <a:r>
              <a:rPr lang="en-US" sz="750" b="1" kern="0" spc="30" dirty="0">
                <a:solidFill>
                  <a:srgbClr val="555555"/>
                </a:solidFill>
                <a:latin typeface="Calibri" pitchFamily="34" charset="0"/>
                <a:ea typeface="Calibri" pitchFamily="34" charset="-122"/>
                <a:cs typeface="Calibri" pitchFamily="34" charset="-120"/>
              </a:rPr>
              <a:t>⑤ SCAN</a:t>
            </a:r>
            <a:endParaRPr lang="en-US" sz="750" dirty="0"/>
          </a:p>
        </p:txBody>
      </p:sp>
      <p:sp>
        <p:nvSpPr>
          <p:cNvPr id="38" name="Shape 36"/>
          <p:cNvSpPr/>
          <p:nvPr/>
        </p:nvSpPr>
        <p:spPr>
          <a:xfrm>
            <a:off x="8206740" y="1536192"/>
            <a:ext cx="1005840" cy="27432"/>
          </a:xfrm>
          <a:prstGeom prst="rect">
            <a:avLst/>
          </a:prstGeom>
          <a:solidFill>
            <a:srgbClr val="C0392B"/>
          </a:solidFill>
          <a:ln/>
        </p:spPr>
        <p:txBody>
          <a:bodyPr/>
          <a:lstStyle/>
          <a:p>
            <a:endParaRPr lang="fr-FR"/>
          </a:p>
        </p:txBody>
      </p:sp>
      <p:sp>
        <p:nvSpPr>
          <p:cNvPr id="39" name="Shape 37"/>
          <p:cNvSpPr/>
          <p:nvPr/>
        </p:nvSpPr>
        <p:spPr>
          <a:xfrm>
            <a:off x="7955280" y="3474720"/>
            <a:ext cx="1508760" cy="640080"/>
          </a:xfrm>
          <a:prstGeom prst="rect">
            <a:avLst/>
          </a:prstGeom>
          <a:solidFill>
            <a:srgbClr val="F5F5F5"/>
          </a:solidFill>
          <a:ln w="19050">
            <a:solidFill>
              <a:srgbClr val="C0392B"/>
            </a:solidFill>
            <a:prstDash val="solid"/>
          </a:ln>
        </p:spPr>
        <p:txBody>
          <a:bodyPr/>
          <a:lstStyle/>
          <a:p>
            <a:endParaRPr lang="fr-FR"/>
          </a:p>
        </p:txBody>
      </p:sp>
      <p:sp>
        <p:nvSpPr>
          <p:cNvPr id="40" name="Text 38"/>
          <p:cNvSpPr/>
          <p:nvPr/>
        </p:nvSpPr>
        <p:spPr>
          <a:xfrm>
            <a:off x="7955280" y="3502152"/>
            <a:ext cx="1508760" cy="585216"/>
          </a:xfrm>
          <a:prstGeom prst="rect">
            <a:avLst/>
          </a:prstGeom>
          <a:noFill/>
          <a:ln/>
        </p:spPr>
        <p:txBody>
          <a:bodyPr wrap="square" rtlCol="0" anchor="ctr"/>
          <a:lstStyle/>
          <a:p>
            <a:pPr marL="0" indent="0" algn="ctr">
              <a:buNone/>
            </a:pPr>
            <a:r>
              <a:rPr lang="en-US" sz="900" dirty="0">
                <a:solidFill>
                  <a:srgbClr val="E74C3C"/>
                </a:solidFill>
                <a:latin typeface="Calibri" pitchFamily="34" charset="0"/>
                <a:ea typeface="Calibri" pitchFamily="34" charset="-122"/>
                <a:cs typeface="Calibri" pitchFamily="34" charset="-120"/>
              </a:rPr>
              <a:t>trivy</a:t>
            </a:r>
            <a:endParaRPr lang="en-US" sz="900" dirty="0"/>
          </a:p>
          <a:p>
            <a:pPr marL="0" indent="0" algn="ctr">
              <a:buNone/>
            </a:pPr>
            <a:r>
              <a:rPr lang="en-US" sz="900" dirty="0">
                <a:solidFill>
                  <a:srgbClr val="E74C3C"/>
                </a:solidFill>
                <a:latin typeface="Calibri" pitchFamily="34" charset="0"/>
                <a:ea typeface="Calibri" pitchFamily="34" charset="-122"/>
                <a:cs typeface="Calibri" pitchFamily="34" charset="-120"/>
              </a:rPr>
              <a:t>image-scan</a:t>
            </a:r>
            <a:endParaRPr lang="en-US" sz="900" dirty="0"/>
          </a:p>
        </p:txBody>
      </p:sp>
      <p:sp>
        <p:nvSpPr>
          <p:cNvPr id="41" name="Text 39"/>
          <p:cNvSpPr/>
          <p:nvPr/>
        </p:nvSpPr>
        <p:spPr>
          <a:xfrm>
            <a:off x="9482328" y="3630168"/>
            <a:ext cx="329184" cy="329184"/>
          </a:xfrm>
          <a:prstGeom prst="rect">
            <a:avLst/>
          </a:prstGeom>
          <a:noFill/>
          <a:ln/>
        </p:spPr>
        <p:txBody>
          <a:bodyPr wrap="square" rtlCol="0" anchor="ctr"/>
          <a:lstStyle/>
          <a:p>
            <a:pPr marL="0" indent="0" algn="ctr">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42" name="Text 40"/>
          <p:cNvSpPr/>
          <p:nvPr/>
        </p:nvSpPr>
        <p:spPr>
          <a:xfrm>
            <a:off x="9829800" y="1261872"/>
            <a:ext cx="1508760" cy="274320"/>
          </a:xfrm>
          <a:prstGeom prst="rect">
            <a:avLst/>
          </a:prstGeom>
          <a:noFill/>
          <a:ln/>
        </p:spPr>
        <p:txBody>
          <a:bodyPr wrap="square" rtlCol="0" anchor="ctr"/>
          <a:lstStyle/>
          <a:p>
            <a:pPr marL="0" indent="0" algn="ctr">
              <a:buNone/>
            </a:pPr>
            <a:r>
              <a:rPr lang="en-US" sz="750" b="1" kern="0" spc="30" dirty="0">
                <a:solidFill>
                  <a:srgbClr val="555555"/>
                </a:solidFill>
                <a:latin typeface="Calibri" pitchFamily="34" charset="0"/>
                <a:ea typeface="Calibri" pitchFamily="34" charset="-122"/>
                <a:cs typeface="Calibri" pitchFamily="34" charset="-120"/>
              </a:rPr>
              <a:t>⑥ DEPLOY</a:t>
            </a:r>
            <a:endParaRPr lang="en-US" sz="750" dirty="0"/>
          </a:p>
        </p:txBody>
      </p:sp>
      <p:sp>
        <p:nvSpPr>
          <p:cNvPr id="43" name="Shape 41"/>
          <p:cNvSpPr/>
          <p:nvPr/>
        </p:nvSpPr>
        <p:spPr>
          <a:xfrm>
            <a:off x="10081260" y="1536192"/>
            <a:ext cx="1005840" cy="27432"/>
          </a:xfrm>
          <a:prstGeom prst="rect">
            <a:avLst/>
          </a:prstGeom>
          <a:solidFill>
            <a:srgbClr val="C0392B"/>
          </a:solidFill>
          <a:ln/>
        </p:spPr>
        <p:txBody>
          <a:bodyPr/>
          <a:lstStyle/>
          <a:p>
            <a:endParaRPr lang="fr-FR"/>
          </a:p>
        </p:txBody>
      </p:sp>
      <p:sp>
        <p:nvSpPr>
          <p:cNvPr id="44" name="Shape 42"/>
          <p:cNvSpPr/>
          <p:nvPr/>
        </p:nvSpPr>
        <p:spPr>
          <a:xfrm>
            <a:off x="9829800" y="3108960"/>
            <a:ext cx="1508760" cy="640080"/>
          </a:xfrm>
          <a:prstGeom prst="rect">
            <a:avLst/>
          </a:prstGeom>
          <a:solidFill>
            <a:srgbClr val="F5F5F5"/>
          </a:solidFill>
          <a:ln w="19050">
            <a:solidFill>
              <a:srgbClr val="C0392B"/>
            </a:solidFill>
            <a:prstDash val="solid"/>
          </a:ln>
        </p:spPr>
        <p:txBody>
          <a:bodyPr/>
          <a:lstStyle/>
          <a:p>
            <a:endParaRPr lang="fr-FR"/>
          </a:p>
        </p:txBody>
      </p:sp>
      <p:sp>
        <p:nvSpPr>
          <p:cNvPr id="45" name="Text 43"/>
          <p:cNvSpPr/>
          <p:nvPr/>
        </p:nvSpPr>
        <p:spPr>
          <a:xfrm>
            <a:off x="9829800" y="3136392"/>
            <a:ext cx="1508760" cy="585216"/>
          </a:xfrm>
          <a:prstGeom prst="rect">
            <a:avLst/>
          </a:prstGeom>
          <a:noFill/>
          <a:ln/>
        </p:spPr>
        <p:txBody>
          <a:bodyPr wrap="square" rtlCol="0" anchor="ctr"/>
          <a:lstStyle/>
          <a:p>
            <a:pPr marL="0" indent="0" algn="ctr">
              <a:buNone/>
            </a:pPr>
            <a:r>
              <a:rPr lang="en-US" sz="900" dirty="0">
                <a:solidFill>
                  <a:srgbClr val="27AE60"/>
                </a:solidFill>
                <a:latin typeface="Calibri" pitchFamily="34" charset="0"/>
                <a:ea typeface="Calibri" pitchFamily="34" charset="-122"/>
                <a:cs typeface="Calibri" pitchFamily="34" charset="-120"/>
              </a:rPr>
              <a:t>staging</a:t>
            </a:r>
            <a:endParaRPr lang="en-US" sz="900" dirty="0"/>
          </a:p>
          <a:p>
            <a:pPr marL="0" indent="0" algn="ctr">
              <a:buNone/>
            </a:pPr>
            <a:r>
              <a:rPr lang="en-US" sz="900" dirty="0">
                <a:solidFill>
                  <a:srgbClr val="27AE60"/>
                </a:solidFill>
                <a:latin typeface="Calibri" pitchFamily="34" charset="0"/>
                <a:ea typeface="Calibri" pitchFamily="34" charset="-122"/>
                <a:cs typeface="Calibri" pitchFamily="34" charset="-120"/>
              </a:rPr>
              <a:t>:8089</a:t>
            </a:r>
            <a:endParaRPr lang="en-US" sz="900" dirty="0"/>
          </a:p>
        </p:txBody>
      </p:sp>
      <p:sp>
        <p:nvSpPr>
          <p:cNvPr id="46" name="Shape 44"/>
          <p:cNvSpPr/>
          <p:nvPr/>
        </p:nvSpPr>
        <p:spPr>
          <a:xfrm>
            <a:off x="9829800" y="3840480"/>
            <a:ext cx="1508760" cy="640080"/>
          </a:xfrm>
          <a:prstGeom prst="rect">
            <a:avLst/>
          </a:prstGeom>
          <a:solidFill>
            <a:srgbClr val="F5F5F5"/>
          </a:solidFill>
          <a:ln w="19050">
            <a:solidFill>
              <a:srgbClr val="C0392B"/>
            </a:solidFill>
            <a:prstDash val="solid"/>
          </a:ln>
        </p:spPr>
        <p:txBody>
          <a:bodyPr/>
          <a:lstStyle/>
          <a:p>
            <a:endParaRPr lang="fr-FR"/>
          </a:p>
        </p:txBody>
      </p:sp>
      <p:sp>
        <p:nvSpPr>
          <p:cNvPr id="47" name="Text 45"/>
          <p:cNvSpPr/>
          <p:nvPr/>
        </p:nvSpPr>
        <p:spPr>
          <a:xfrm>
            <a:off x="9829800" y="3867912"/>
            <a:ext cx="1508760" cy="585216"/>
          </a:xfrm>
          <a:prstGeom prst="rect">
            <a:avLst/>
          </a:prstGeom>
          <a:noFill/>
          <a:ln/>
        </p:spPr>
        <p:txBody>
          <a:bodyPr wrap="square" rtlCol="0" anchor="ctr"/>
          <a:lstStyle/>
          <a:p>
            <a:pPr marL="0" indent="0" algn="ctr">
              <a:buNone/>
            </a:pPr>
            <a:r>
              <a:rPr lang="en-US" sz="900" dirty="0">
                <a:solidFill>
                  <a:srgbClr val="27AE60"/>
                </a:solidFill>
                <a:latin typeface="Calibri" pitchFamily="34" charset="0"/>
                <a:ea typeface="Calibri" pitchFamily="34" charset="-122"/>
                <a:cs typeface="Calibri" pitchFamily="34" charset="-120"/>
              </a:rPr>
              <a:t>production</a:t>
            </a:r>
            <a:endParaRPr lang="en-US" sz="900" dirty="0"/>
          </a:p>
          <a:p>
            <a:pPr marL="0" indent="0" algn="ctr">
              <a:buNone/>
            </a:pPr>
            <a:r>
              <a:rPr lang="en-US" sz="900" dirty="0">
                <a:solidFill>
                  <a:srgbClr val="27AE60"/>
                </a:solidFill>
                <a:latin typeface="Calibri" pitchFamily="34" charset="0"/>
                <a:ea typeface="Calibri" pitchFamily="34" charset="-122"/>
                <a:cs typeface="Calibri" pitchFamily="34" charset="-120"/>
              </a:rPr>
              <a:t>:8088</a:t>
            </a:r>
            <a:endParaRPr lang="en-US" sz="900" dirty="0"/>
          </a:p>
        </p:txBody>
      </p:sp>
      <p:sp>
        <p:nvSpPr>
          <p:cNvPr id="48" name="Shape 46"/>
          <p:cNvSpPr/>
          <p:nvPr/>
        </p:nvSpPr>
        <p:spPr>
          <a:xfrm>
            <a:off x="274320" y="6263640"/>
            <a:ext cx="228600" cy="164592"/>
          </a:xfrm>
          <a:prstGeom prst="rect">
            <a:avLst/>
          </a:prstGeom>
          <a:solidFill>
            <a:srgbClr val="27AE60"/>
          </a:solidFill>
          <a:ln>
            <a:noFill/>
          </a:ln>
        </p:spPr>
        <p:txBody>
          <a:bodyPr/>
          <a:lstStyle/>
          <a:p>
            <a:endParaRPr lang="fr-FR"/>
          </a:p>
        </p:txBody>
      </p:sp>
      <p:sp>
        <p:nvSpPr>
          <p:cNvPr id="49" name="Text 47"/>
          <p:cNvSpPr/>
          <p:nvPr/>
        </p:nvSpPr>
        <p:spPr>
          <a:xfrm>
            <a:off x="548640" y="6245352"/>
            <a:ext cx="1828800" cy="201168"/>
          </a:xfrm>
          <a:prstGeom prst="rect">
            <a:avLst/>
          </a:prstGeom>
          <a:noFill/>
          <a:ln/>
        </p:spPr>
        <p:txBody>
          <a:bodyPr wrap="square" rtlCol="0" anchor="ctr"/>
          <a:lstStyle/>
          <a:p>
            <a:pPr marL="0" indent="0">
              <a:buNone/>
            </a:pPr>
            <a:r>
              <a:rPr lang="en-US" sz="800" dirty="0">
                <a:solidFill>
                  <a:srgbClr val="555555"/>
                </a:solidFill>
                <a:latin typeface="Calibri" pitchFamily="34" charset="0"/>
                <a:ea typeface="Calibri" pitchFamily="34" charset="-122"/>
                <a:cs typeface="Calibri" pitchFamily="34" charset="-120"/>
              </a:rPr>
              <a:t>Tests / Build</a:t>
            </a:r>
            <a:endParaRPr lang="en-US" sz="800" dirty="0"/>
          </a:p>
        </p:txBody>
      </p:sp>
      <p:sp>
        <p:nvSpPr>
          <p:cNvPr id="50" name="Shape 48"/>
          <p:cNvSpPr/>
          <p:nvPr/>
        </p:nvSpPr>
        <p:spPr>
          <a:xfrm>
            <a:off x="2743200" y="6263640"/>
            <a:ext cx="228600" cy="164592"/>
          </a:xfrm>
          <a:prstGeom prst="rect">
            <a:avLst/>
          </a:prstGeom>
          <a:solidFill>
            <a:srgbClr val="E74C3C"/>
          </a:solidFill>
          <a:ln>
            <a:noFill/>
          </a:ln>
        </p:spPr>
        <p:txBody>
          <a:bodyPr/>
          <a:lstStyle/>
          <a:p>
            <a:endParaRPr lang="fr-FR"/>
          </a:p>
        </p:txBody>
      </p:sp>
      <p:sp>
        <p:nvSpPr>
          <p:cNvPr id="51" name="Text 49"/>
          <p:cNvSpPr/>
          <p:nvPr/>
        </p:nvSpPr>
        <p:spPr>
          <a:xfrm>
            <a:off x="3017520" y="6245352"/>
            <a:ext cx="1828800" cy="201168"/>
          </a:xfrm>
          <a:prstGeom prst="rect">
            <a:avLst/>
          </a:prstGeom>
          <a:noFill/>
          <a:ln/>
        </p:spPr>
        <p:txBody>
          <a:bodyPr wrap="square" rtlCol="0" anchor="ctr"/>
          <a:lstStyle/>
          <a:p>
            <a:pPr marL="0" indent="0">
              <a:buNone/>
            </a:pPr>
            <a:r>
              <a:rPr lang="en-US" sz="800" dirty="0">
                <a:solidFill>
                  <a:srgbClr val="555555"/>
                </a:solidFill>
                <a:latin typeface="Calibri" pitchFamily="34" charset="0"/>
                <a:ea typeface="Calibri" pitchFamily="34" charset="-122"/>
                <a:cs typeface="Calibri" pitchFamily="34" charset="-120"/>
              </a:rPr>
              <a:t>Sécurité / Scan</a:t>
            </a:r>
            <a:endParaRPr lang="en-US" sz="800" dirty="0"/>
          </a:p>
        </p:txBody>
      </p:sp>
      <p:sp>
        <p:nvSpPr>
          <p:cNvPr id="52" name="Shape 50"/>
          <p:cNvSpPr/>
          <p:nvPr/>
        </p:nvSpPr>
        <p:spPr>
          <a:xfrm>
            <a:off x="5303520" y="6263640"/>
            <a:ext cx="228600" cy="164592"/>
          </a:xfrm>
          <a:prstGeom prst="rect">
            <a:avLst/>
          </a:prstGeom>
          <a:solidFill>
            <a:srgbClr val="F39C12"/>
          </a:solidFill>
          <a:ln>
            <a:noFill/>
          </a:ln>
        </p:spPr>
        <p:txBody>
          <a:bodyPr/>
          <a:lstStyle/>
          <a:p>
            <a:endParaRPr lang="fr-FR"/>
          </a:p>
        </p:txBody>
      </p:sp>
      <p:sp>
        <p:nvSpPr>
          <p:cNvPr id="53" name="Text 51"/>
          <p:cNvSpPr/>
          <p:nvPr/>
        </p:nvSpPr>
        <p:spPr>
          <a:xfrm>
            <a:off x="5577840" y="6245352"/>
            <a:ext cx="2286000" cy="201168"/>
          </a:xfrm>
          <a:prstGeom prst="rect">
            <a:avLst/>
          </a:prstGeom>
          <a:noFill/>
          <a:ln/>
        </p:spPr>
        <p:txBody>
          <a:bodyPr wrap="square" rtlCol="0" anchor="ctr"/>
          <a:lstStyle/>
          <a:p>
            <a:pPr marL="0" indent="0">
              <a:buNone/>
            </a:pPr>
            <a:r>
              <a:rPr lang="en-US" sz="800" dirty="0">
                <a:solidFill>
                  <a:srgbClr val="555555"/>
                </a:solidFill>
                <a:latin typeface="Calibri" pitchFamily="34" charset="0"/>
                <a:ea typeface="Calibri" pitchFamily="34" charset="-122"/>
                <a:cs typeface="Calibri" pitchFamily="34" charset="-120"/>
              </a:rPr>
              <a:t>Self-hosted runner</a:t>
            </a:r>
            <a:endParaRPr lang="en-US" sz="800" dirty="0"/>
          </a:p>
        </p:txBody>
      </p:sp>
    </p:spTree>
    <p:extLst>
      <p:ext uri="{BB962C8B-B14F-4D97-AF65-F5344CB8AC3E}">
        <p14:creationId xmlns:p14="http://schemas.microsoft.com/office/powerpoint/2010/main" val="836082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txBody>
          <a:bodyPr/>
          <a:lstStyle/>
          <a:p>
            <a:endParaRPr lang="fr-FR"/>
          </a:p>
        </p:txBody>
      </p:sp>
      <p:sp>
        <p:nvSpPr>
          <p:cNvPr id="3" name="Shape 1"/>
          <p:cNvSpPr/>
          <p:nvPr/>
        </p:nvSpPr>
        <p:spPr>
          <a:xfrm>
            <a:off x="0" y="6675120"/>
            <a:ext cx="12192000" cy="182880"/>
          </a:xfrm>
          <a:prstGeom prst="rect">
            <a:avLst/>
          </a:prstGeom>
          <a:solidFill>
            <a:srgbClr val="C0392B"/>
          </a:solidFill>
          <a:ln/>
        </p:spPr>
        <p:txBody>
          <a:bodyPr/>
          <a:lstStyle/>
          <a:p>
            <a:endParaRPr lang="fr-FR"/>
          </a:p>
        </p:txBody>
      </p:sp>
      <p:sp>
        <p:nvSpPr>
          <p:cNvPr id="4" name="Text 2"/>
          <p:cNvSpPr/>
          <p:nvPr/>
        </p:nvSpPr>
        <p:spPr>
          <a:xfrm>
            <a:off x="274320" y="6675120"/>
            <a:ext cx="9601200" cy="182880"/>
          </a:xfrm>
          <a:prstGeom prst="rect">
            <a:avLst/>
          </a:prstGeom>
          <a:noFill/>
          <a:ln/>
        </p:spPr>
        <p:txBody>
          <a:bodyPr wrap="square" rtlCol="0" anchor="ctr"/>
          <a:lstStyle/>
          <a:p>
            <a:pPr marL="0" indent="0">
              <a:buNone/>
            </a:pPr>
            <a:r>
              <a:rPr lang="fr-FR" sz="800" dirty="0">
                <a:solidFill>
                  <a:srgbClr val="FFFFFF"/>
                </a:solidFill>
                <a:latin typeface="Calibri" pitchFamily="34" charset="0"/>
                <a:ea typeface="Calibri" pitchFamily="34" charset="-122"/>
                <a:cs typeface="Calibri" pitchFamily="34" charset="-120"/>
              </a:rPr>
              <a:t>La Petite Maison de l’Épouvante —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marL="0" indent="0" algn="r">
              <a:buNone/>
            </a:pPr>
            <a:r>
              <a:rPr lang="en-US" sz="1800" b="1" dirty="0">
                <a:solidFill>
                  <a:srgbClr val="1A1A1A"/>
                </a:solidFill>
                <a:latin typeface="Calibri" pitchFamily="34" charset="0"/>
                <a:ea typeface="Calibri" pitchFamily="34" charset="-122"/>
                <a:cs typeface="Calibri" pitchFamily="34" charset="-120"/>
              </a:rPr>
              <a:t>8</a:t>
            </a:r>
            <a:endParaRPr lang="en-US" sz="1800" dirty="0"/>
          </a:p>
        </p:txBody>
      </p:sp>
      <p:sp>
        <p:nvSpPr>
          <p:cNvPr id="6" name="Shape 4"/>
          <p:cNvSpPr/>
          <p:nvPr/>
        </p:nvSpPr>
        <p:spPr>
          <a:xfrm>
            <a:off x="365760" y="1051560"/>
            <a:ext cx="2377440" cy="54864"/>
          </a:xfrm>
          <a:prstGeom prst="rect">
            <a:avLst/>
          </a:prstGeom>
          <a:solidFill>
            <a:srgbClr val="C0392B"/>
          </a:solidFill>
          <a:ln/>
        </p:spPr>
        <p:txBody>
          <a:bodyPr/>
          <a:lstStyle/>
          <a:p>
            <a:endParaRPr lang="fr-FR"/>
          </a:p>
        </p:txBody>
      </p:sp>
      <p:sp>
        <p:nvSpPr>
          <p:cNvPr id="7" name="Text 5"/>
          <p:cNvSpPr/>
          <p:nvPr/>
        </p:nvSpPr>
        <p:spPr>
          <a:xfrm>
            <a:off x="365760" y="640080"/>
            <a:ext cx="10972800" cy="548640"/>
          </a:xfrm>
          <a:prstGeom prst="rect">
            <a:avLst/>
          </a:prstGeom>
          <a:noFill/>
          <a:ln/>
        </p:spPr>
        <p:txBody>
          <a:bodyPr wrap="square" rtlCol="0" anchor="ctr"/>
          <a:lstStyle/>
          <a:p>
            <a:pPr marL="0" indent="0">
              <a:buNone/>
            </a:pPr>
            <a:r>
              <a:rPr lang="en-US" sz="1100" b="1" kern="0" spc="200" dirty="0">
                <a:solidFill>
                  <a:srgbClr val="E74C3C"/>
                </a:solidFill>
                <a:latin typeface="Calibri" pitchFamily="34" charset="0"/>
                <a:ea typeface="Calibri" pitchFamily="34" charset="-122"/>
                <a:cs typeface="Calibri" pitchFamily="34" charset="-120"/>
              </a:rPr>
              <a:t>EQUIPE &amp; MONTEE EN COMPETENCES</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marL="0" indent="0">
              <a:buNone/>
            </a:pPr>
            <a:r>
              <a:rPr lang="en-US" sz="3400" b="1" dirty="0">
                <a:solidFill>
                  <a:srgbClr val="1A1A1A"/>
                </a:solidFill>
                <a:latin typeface="Palatino Linotype" pitchFamily="34" charset="0"/>
                <a:ea typeface="Palatino Linotype" pitchFamily="34" charset="-122"/>
                <a:cs typeface="Palatino Linotype" pitchFamily="34" charset="-120"/>
              </a:rPr>
              <a:t>Cartographie des compétences</a:t>
            </a:r>
            <a:endParaRPr lang="en-US" sz="3400" dirty="0"/>
          </a:p>
        </p:txBody>
      </p:sp>
      <p:sp>
        <p:nvSpPr>
          <p:cNvPr id="9" name="Shape 7"/>
          <p:cNvSpPr/>
          <p:nvPr/>
        </p:nvSpPr>
        <p:spPr>
          <a:xfrm>
            <a:off x="225839" y="2743200"/>
            <a:ext cx="2743200" cy="2560320"/>
          </a:xfrm>
          <a:prstGeom prst="rect">
            <a:avLst/>
          </a:prstGeom>
          <a:solidFill>
            <a:srgbClr val="F5F5F5"/>
          </a:solidFill>
          <a:ln w="19050">
            <a:solidFill>
              <a:srgbClr val="C0392B"/>
            </a:solidFill>
            <a:prstDash val="solid"/>
          </a:ln>
        </p:spPr>
        <p:txBody>
          <a:bodyPr/>
          <a:lstStyle/>
          <a:p>
            <a:endParaRPr lang="fr-FR"/>
          </a:p>
        </p:txBody>
      </p:sp>
      <p:sp>
        <p:nvSpPr>
          <p:cNvPr id="10" name="Text 8"/>
          <p:cNvSpPr/>
          <p:nvPr/>
        </p:nvSpPr>
        <p:spPr>
          <a:xfrm>
            <a:off x="362999" y="2834640"/>
            <a:ext cx="2468880" cy="457200"/>
          </a:xfrm>
          <a:prstGeom prst="rect">
            <a:avLst/>
          </a:prstGeom>
          <a:noFill/>
          <a:ln/>
        </p:spPr>
        <p:txBody>
          <a:bodyPr wrap="square" rtlCol="0" anchor="ctr"/>
          <a:lstStyle/>
          <a:p>
            <a:pPr marL="0" indent="0" algn="r">
              <a:buNone/>
            </a:pPr>
            <a:r>
              <a:rPr lang="en-US" sz="2200" b="1" dirty="0">
                <a:solidFill>
                  <a:srgbClr val="E74C3C"/>
                </a:solidFill>
                <a:latin typeface="Palatino Linotype" pitchFamily="34" charset="0"/>
                <a:ea typeface="Palatino Linotype" pitchFamily="34" charset="-122"/>
                <a:cs typeface="Palatino Linotype" pitchFamily="34" charset="-120"/>
              </a:rPr>
              <a:t>×1</a:t>
            </a:r>
            <a:endParaRPr lang="en-US" sz="2200" dirty="0"/>
          </a:p>
        </p:txBody>
      </p:sp>
      <p:sp>
        <p:nvSpPr>
          <p:cNvPr id="11" name="Text 9"/>
          <p:cNvSpPr/>
          <p:nvPr/>
        </p:nvSpPr>
        <p:spPr>
          <a:xfrm>
            <a:off x="362999" y="3291840"/>
            <a:ext cx="2468880" cy="457200"/>
          </a:xfrm>
          <a:prstGeom prst="rect">
            <a:avLst/>
          </a:prstGeom>
          <a:noFill/>
          <a:ln/>
        </p:spPr>
        <p:txBody>
          <a:bodyPr wrap="square" rtlCol="0" anchor="ctr"/>
          <a:lstStyle/>
          <a:p>
            <a:pPr marL="0" indent="0" algn="ctr">
              <a:buNone/>
            </a:pPr>
            <a:r>
              <a:rPr lang="en-US" sz="1300" b="1" dirty="0">
                <a:solidFill>
                  <a:srgbClr val="1A1A1A"/>
                </a:solidFill>
                <a:latin typeface="Calibri" pitchFamily="34" charset="0"/>
                <a:ea typeface="Calibri" pitchFamily="34" charset="-122"/>
                <a:cs typeface="Calibri" pitchFamily="34" charset="-120"/>
              </a:rPr>
              <a:t>Lead Developer</a:t>
            </a:r>
            <a:endParaRPr lang="en-US" sz="1300" dirty="0"/>
          </a:p>
        </p:txBody>
      </p:sp>
      <p:sp>
        <p:nvSpPr>
          <p:cNvPr id="12" name="Shape 10"/>
          <p:cNvSpPr/>
          <p:nvPr/>
        </p:nvSpPr>
        <p:spPr>
          <a:xfrm>
            <a:off x="683039" y="3794760"/>
            <a:ext cx="1828800" cy="36576"/>
          </a:xfrm>
          <a:prstGeom prst="rect">
            <a:avLst/>
          </a:prstGeom>
          <a:solidFill>
            <a:srgbClr val="C0392B"/>
          </a:solidFill>
          <a:ln/>
        </p:spPr>
        <p:txBody>
          <a:bodyPr/>
          <a:lstStyle/>
          <a:p>
            <a:endParaRPr lang="fr-FR"/>
          </a:p>
        </p:txBody>
      </p:sp>
      <p:sp>
        <p:nvSpPr>
          <p:cNvPr id="13" name="Text 11"/>
          <p:cNvSpPr/>
          <p:nvPr/>
        </p:nvSpPr>
        <p:spPr>
          <a:xfrm>
            <a:off x="317279" y="3886200"/>
            <a:ext cx="2560320" cy="1097280"/>
          </a:xfrm>
          <a:prstGeom prst="rect">
            <a:avLst/>
          </a:prstGeom>
          <a:noFill/>
          <a:ln/>
        </p:spPr>
        <p:txBody>
          <a:bodyPr wrap="square" rtlCol="0" anchor="ctr"/>
          <a:lstStyle/>
          <a:p>
            <a:pPr marL="0" indent="0" algn="ctr">
              <a:buNone/>
            </a:pPr>
            <a:r>
              <a:rPr lang="en-US" sz="1200" dirty="0">
                <a:solidFill>
                  <a:srgbClr val="555555"/>
                </a:solidFill>
                <a:latin typeface="Calibri" pitchFamily="34" charset="0"/>
                <a:ea typeface="Calibri" pitchFamily="34" charset="-122"/>
                <a:cs typeface="Calibri" pitchFamily="34" charset="-120"/>
              </a:rPr>
              <a:t>Architecture · CI/CD</a:t>
            </a:r>
            <a:endParaRPr lang="en-US" sz="1200" dirty="0"/>
          </a:p>
          <a:p>
            <a:pPr marL="0" indent="0" algn="ctr">
              <a:buNone/>
            </a:pPr>
            <a:r>
              <a:rPr lang="en-US" sz="1200" dirty="0">
                <a:solidFill>
                  <a:srgbClr val="555555"/>
                </a:solidFill>
                <a:latin typeface="Calibri" pitchFamily="34" charset="0"/>
                <a:ea typeface="Calibri" pitchFamily="34" charset="-122"/>
                <a:cs typeface="Calibri" pitchFamily="34" charset="-120"/>
              </a:rPr>
              <a:t>Sécurité · DevSecOps</a:t>
            </a:r>
            <a:endParaRPr lang="en-US" sz="1200" dirty="0"/>
          </a:p>
        </p:txBody>
      </p:sp>
      <p:sp>
        <p:nvSpPr>
          <p:cNvPr id="14" name="Shape 12"/>
          <p:cNvSpPr/>
          <p:nvPr/>
        </p:nvSpPr>
        <p:spPr>
          <a:xfrm>
            <a:off x="3243359" y="2743200"/>
            <a:ext cx="2743200" cy="2560320"/>
          </a:xfrm>
          <a:prstGeom prst="rect">
            <a:avLst/>
          </a:prstGeom>
          <a:solidFill>
            <a:srgbClr val="F5F5F5"/>
          </a:solidFill>
          <a:ln w="19050">
            <a:solidFill>
              <a:srgbClr val="C0392B"/>
            </a:solidFill>
            <a:prstDash val="solid"/>
          </a:ln>
        </p:spPr>
        <p:txBody>
          <a:bodyPr/>
          <a:lstStyle/>
          <a:p>
            <a:endParaRPr lang="fr-FR"/>
          </a:p>
        </p:txBody>
      </p:sp>
      <p:sp>
        <p:nvSpPr>
          <p:cNvPr id="15" name="Text 13"/>
          <p:cNvSpPr/>
          <p:nvPr/>
        </p:nvSpPr>
        <p:spPr>
          <a:xfrm>
            <a:off x="3380519" y="2834640"/>
            <a:ext cx="2468880" cy="457200"/>
          </a:xfrm>
          <a:prstGeom prst="rect">
            <a:avLst/>
          </a:prstGeom>
          <a:noFill/>
          <a:ln/>
        </p:spPr>
        <p:txBody>
          <a:bodyPr wrap="square" rtlCol="0" anchor="ctr"/>
          <a:lstStyle/>
          <a:p>
            <a:pPr marL="0" indent="0" algn="r">
              <a:buNone/>
            </a:pPr>
            <a:r>
              <a:rPr lang="en-US" sz="2200" b="1" dirty="0">
                <a:solidFill>
                  <a:srgbClr val="E74C3C"/>
                </a:solidFill>
                <a:latin typeface="Palatino Linotype" pitchFamily="34" charset="0"/>
                <a:ea typeface="Palatino Linotype" pitchFamily="34" charset="-122"/>
                <a:cs typeface="Palatino Linotype" pitchFamily="34" charset="-120"/>
              </a:rPr>
              <a:t>×2</a:t>
            </a:r>
            <a:endParaRPr lang="en-US" sz="2200" dirty="0"/>
          </a:p>
        </p:txBody>
      </p:sp>
      <p:sp>
        <p:nvSpPr>
          <p:cNvPr id="16" name="Text 14"/>
          <p:cNvSpPr/>
          <p:nvPr/>
        </p:nvSpPr>
        <p:spPr>
          <a:xfrm>
            <a:off x="3380519" y="3291840"/>
            <a:ext cx="2468880" cy="457200"/>
          </a:xfrm>
          <a:prstGeom prst="rect">
            <a:avLst/>
          </a:prstGeom>
          <a:noFill/>
          <a:ln/>
        </p:spPr>
        <p:txBody>
          <a:bodyPr wrap="square" rtlCol="0" anchor="ctr"/>
          <a:lstStyle/>
          <a:p>
            <a:pPr marL="0" indent="0" algn="ctr">
              <a:buNone/>
            </a:pPr>
            <a:r>
              <a:rPr lang="en-US" sz="1300" b="1" dirty="0">
                <a:solidFill>
                  <a:srgbClr val="1A1A1A"/>
                </a:solidFill>
                <a:latin typeface="Calibri" pitchFamily="34" charset="0"/>
                <a:ea typeface="Calibri" pitchFamily="34" charset="-122"/>
                <a:cs typeface="Calibri" pitchFamily="34" charset="-120"/>
              </a:rPr>
              <a:t>Dev Backend</a:t>
            </a:r>
            <a:endParaRPr lang="en-US" sz="1300" dirty="0"/>
          </a:p>
        </p:txBody>
      </p:sp>
      <p:sp>
        <p:nvSpPr>
          <p:cNvPr id="17" name="Shape 15"/>
          <p:cNvSpPr/>
          <p:nvPr/>
        </p:nvSpPr>
        <p:spPr>
          <a:xfrm>
            <a:off x="3700559" y="3794760"/>
            <a:ext cx="1828800" cy="36576"/>
          </a:xfrm>
          <a:prstGeom prst="rect">
            <a:avLst/>
          </a:prstGeom>
          <a:solidFill>
            <a:srgbClr val="C0392B"/>
          </a:solidFill>
          <a:ln/>
        </p:spPr>
        <p:txBody>
          <a:bodyPr/>
          <a:lstStyle/>
          <a:p>
            <a:endParaRPr lang="fr-FR"/>
          </a:p>
        </p:txBody>
      </p:sp>
      <p:sp>
        <p:nvSpPr>
          <p:cNvPr id="18" name="Text 16"/>
          <p:cNvSpPr/>
          <p:nvPr/>
        </p:nvSpPr>
        <p:spPr>
          <a:xfrm>
            <a:off x="3334799" y="3886200"/>
            <a:ext cx="2560320" cy="1097280"/>
          </a:xfrm>
          <a:prstGeom prst="rect">
            <a:avLst/>
          </a:prstGeom>
          <a:noFill/>
          <a:ln/>
        </p:spPr>
        <p:txBody>
          <a:bodyPr wrap="square" rtlCol="0" anchor="ctr"/>
          <a:lstStyle/>
          <a:p>
            <a:pPr marL="0" indent="0" algn="ctr">
              <a:buNone/>
            </a:pPr>
            <a:r>
              <a:rPr lang="en-US" sz="1200" dirty="0">
                <a:solidFill>
                  <a:srgbClr val="555555"/>
                </a:solidFill>
                <a:latin typeface="Calibri" pitchFamily="34" charset="0"/>
                <a:ea typeface="Calibri" pitchFamily="34" charset="-122"/>
                <a:cs typeface="Calibri" pitchFamily="34" charset="-120"/>
              </a:rPr>
              <a:t>PHP/Symfony · API</a:t>
            </a:r>
            <a:endParaRPr lang="en-US" sz="1200" dirty="0"/>
          </a:p>
          <a:p>
            <a:pPr marL="0" indent="0" algn="ctr">
              <a:buNone/>
            </a:pPr>
            <a:r>
              <a:rPr lang="en-US" sz="1200" dirty="0">
                <a:solidFill>
                  <a:srgbClr val="555555"/>
                </a:solidFill>
                <a:latin typeface="Calibri" pitchFamily="34" charset="0"/>
                <a:ea typeface="Calibri" pitchFamily="34" charset="-122"/>
                <a:cs typeface="Calibri" pitchFamily="34" charset="-120"/>
              </a:rPr>
              <a:t>Tests unitaires</a:t>
            </a:r>
            <a:endParaRPr lang="en-US" sz="1200" dirty="0"/>
          </a:p>
        </p:txBody>
      </p:sp>
      <p:sp>
        <p:nvSpPr>
          <p:cNvPr id="19" name="Shape 17"/>
          <p:cNvSpPr/>
          <p:nvPr/>
        </p:nvSpPr>
        <p:spPr>
          <a:xfrm>
            <a:off x="6260879" y="2743200"/>
            <a:ext cx="2743200" cy="2560320"/>
          </a:xfrm>
          <a:prstGeom prst="rect">
            <a:avLst/>
          </a:prstGeom>
          <a:solidFill>
            <a:srgbClr val="F5F5F5"/>
          </a:solidFill>
          <a:ln w="19050">
            <a:solidFill>
              <a:srgbClr val="C0392B"/>
            </a:solidFill>
            <a:prstDash val="solid"/>
          </a:ln>
        </p:spPr>
        <p:txBody>
          <a:bodyPr/>
          <a:lstStyle/>
          <a:p>
            <a:endParaRPr lang="fr-FR"/>
          </a:p>
        </p:txBody>
      </p:sp>
      <p:sp>
        <p:nvSpPr>
          <p:cNvPr id="20" name="Text 18"/>
          <p:cNvSpPr/>
          <p:nvPr/>
        </p:nvSpPr>
        <p:spPr>
          <a:xfrm>
            <a:off x="6398039" y="2834640"/>
            <a:ext cx="2468880" cy="457200"/>
          </a:xfrm>
          <a:prstGeom prst="rect">
            <a:avLst/>
          </a:prstGeom>
          <a:noFill/>
          <a:ln/>
        </p:spPr>
        <p:txBody>
          <a:bodyPr wrap="square" rtlCol="0" anchor="ctr"/>
          <a:lstStyle/>
          <a:p>
            <a:pPr marL="0" indent="0" algn="r">
              <a:buNone/>
            </a:pPr>
            <a:r>
              <a:rPr lang="en-US" sz="2200" b="1" dirty="0">
                <a:solidFill>
                  <a:srgbClr val="E74C3C"/>
                </a:solidFill>
                <a:latin typeface="Palatino Linotype" pitchFamily="34" charset="0"/>
                <a:ea typeface="Palatino Linotype" pitchFamily="34" charset="-122"/>
                <a:cs typeface="Palatino Linotype" pitchFamily="34" charset="-120"/>
              </a:rPr>
              <a:t>×1</a:t>
            </a:r>
            <a:endParaRPr lang="en-US" sz="2200" dirty="0"/>
          </a:p>
        </p:txBody>
      </p:sp>
      <p:sp>
        <p:nvSpPr>
          <p:cNvPr id="21" name="Text 19"/>
          <p:cNvSpPr/>
          <p:nvPr/>
        </p:nvSpPr>
        <p:spPr>
          <a:xfrm>
            <a:off x="6398039" y="3291840"/>
            <a:ext cx="2468880" cy="457200"/>
          </a:xfrm>
          <a:prstGeom prst="rect">
            <a:avLst/>
          </a:prstGeom>
          <a:noFill/>
          <a:ln/>
        </p:spPr>
        <p:txBody>
          <a:bodyPr wrap="square" rtlCol="0" anchor="ctr"/>
          <a:lstStyle/>
          <a:p>
            <a:pPr marL="0" indent="0" algn="ctr">
              <a:buNone/>
            </a:pPr>
            <a:r>
              <a:rPr lang="en-US" sz="1300" b="1" dirty="0">
                <a:solidFill>
                  <a:srgbClr val="1A1A1A"/>
                </a:solidFill>
                <a:latin typeface="Calibri" pitchFamily="34" charset="0"/>
                <a:ea typeface="Calibri" pitchFamily="34" charset="-122"/>
                <a:cs typeface="Calibri" pitchFamily="34" charset="-120"/>
              </a:rPr>
              <a:t>Dev Frontend</a:t>
            </a:r>
            <a:endParaRPr lang="en-US" sz="1300" dirty="0"/>
          </a:p>
        </p:txBody>
      </p:sp>
      <p:sp>
        <p:nvSpPr>
          <p:cNvPr id="22" name="Shape 20"/>
          <p:cNvSpPr/>
          <p:nvPr/>
        </p:nvSpPr>
        <p:spPr>
          <a:xfrm>
            <a:off x="6718079" y="3794760"/>
            <a:ext cx="1828800" cy="36576"/>
          </a:xfrm>
          <a:prstGeom prst="rect">
            <a:avLst/>
          </a:prstGeom>
          <a:solidFill>
            <a:srgbClr val="C0392B"/>
          </a:solidFill>
          <a:ln/>
        </p:spPr>
        <p:txBody>
          <a:bodyPr/>
          <a:lstStyle/>
          <a:p>
            <a:endParaRPr lang="fr-FR"/>
          </a:p>
        </p:txBody>
      </p:sp>
      <p:sp>
        <p:nvSpPr>
          <p:cNvPr id="23" name="Text 21"/>
          <p:cNvSpPr/>
          <p:nvPr/>
        </p:nvSpPr>
        <p:spPr>
          <a:xfrm>
            <a:off x="6352319" y="3886200"/>
            <a:ext cx="2560320" cy="1097280"/>
          </a:xfrm>
          <a:prstGeom prst="rect">
            <a:avLst/>
          </a:prstGeom>
          <a:noFill/>
          <a:ln/>
        </p:spPr>
        <p:txBody>
          <a:bodyPr wrap="square" rtlCol="0" anchor="ctr"/>
          <a:lstStyle/>
          <a:p>
            <a:pPr marL="0" indent="0" algn="ctr">
              <a:buNone/>
            </a:pPr>
            <a:r>
              <a:rPr lang="en-US" sz="1200" dirty="0">
                <a:solidFill>
                  <a:srgbClr val="555555"/>
                </a:solidFill>
                <a:latin typeface="Calibri" pitchFamily="34" charset="0"/>
                <a:ea typeface="Calibri" pitchFamily="34" charset="-122"/>
                <a:cs typeface="Calibri" pitchFamily="34" charset="-120"/>
              </a:rPr>
              <a:t>JS/Stimulus · UX</a:t>
            </a:r>
            <a:endParaRPr lang="en-US" sz="1200" dirty="0"/>
          </a:p>
          <a:p>
            <a:pPr marL="0" indent="0" algn="ctr">
              <a:buNone/>
            </a:pPr>
            <a:r>
              <a:rPr lang="en-US" sz="1200" dirty="0">
                <a:solidFill>
                  <a:srgbClr val="555555"/>
                </a:solidFill>
                <a:latin typeface="Calibri" pitchFamily="34" charset="0"/>
                <a:ea typeface="Calibri" pitchFamily="34" charset="-122"/>
                <a:cs typeface="Calibri" pitchFamily="34" charset="-120"/>
              </a:rPr>
              <a:t>Asset Mapper</a:t>
            </a:r>
            <a:endParaRPr lang="en-US" sz="1200" dirty="0"/>
          </a:p>
        </p:txBody>
      </p:sp>
      <p:sp>
        <p:nvSpPr>
          <p:cNvPr id="24" name="Shape 22"/>
          <p:cNvSpPr/>
          <p:nvPr/>
        </p:nvSpPr>
        <p:spPr>
          <a:xfrm>
            <a:off x="9278399" y="2743200"/>
            <a:ext cx="2743200" cy="2560320"/>
          </a:xfrm>
          <a:prstGeom prst="rect">
            <a:avLst/>
          </a:prstGeom>
          <a:solidFill>
            <a:srgbClr val="F5F5F5"/>
          </a:solidFill>
          <a:ln w="19050">
            <a:solidFill>
              <a:srgbClr val="C0392B"/>
            </a:solidFill>
            <a:prstDash val="solid"/>
          </a:ln>
        </p:spPr>
        <p:txBody>
          <a:bodyPr/>
          <a:lstStyle/>
          <a:p>
            <a:endParaRPr lang="fr-FR"/>
          </a:p>
        </p:txBody>
      </p:sp>
      <p:sp>
        <p:nvSpPr>
          <p:cNvPr id="25" name="Text 23"/>
          <p:cNvSpPr/>
          <p:nvPr/>
        </p:nvSpPr>
        <p:spPr>
          <a:xfrm>
            <a:off x="9415559" y="2834640"/>
            <a:ext cx="2468880" cy="457200"/>
          </a:xfrm>
          <a:prstGeom prst="rect">
            <a:avLst/>
          </a:prstGeom>
          <a:noFill/>
          <a:ln/>
        </p:spPr>
        <p:txBody>
          <a:bodyPr wrap="square" rtlCol="0" anchor="ctr"/>
          <a:lstStyle/>
          <a:p>
            <a:pPr marL="0" indent="0" algn="r">
              <a:buNone/>
            </a:pPr>
            <a:r>
              <a:rPr lang="en-US" sz="2200" b="1" dirty="0">
                <a:solidFill>
                  <a:srgbClr val="E74C3C"/>
                </a:solidFill>
                <a:latin typeface="Palatino Linotype" pitchFamily="34" charset="0"/>
                <a:ea typeface="Palatino Linotype" pitchFamily="34" charset="-122"/>
                <a:cs typeface="Palatino Linotype" pitchFamily="34" charset="-120"/>
              </a:rPr>
              <a:t>×1</a:t>
            </a:r>
            <a:endParaRPr lang="en-US" sz="2200" dirty="0"/>
          </a:p>
        </p:txBody>
      </p:sp>
      <p:sp>
        <p:nvSpPr>
          <p:cNvPr id="26" name="Text 24"/>
          <p:cNvSpPr/>
          <p:nvPr/>
        </p:nvSpPr>
        <p:spPr>
          <a:xfrm>
            <a:off x="9415559" y="3291840"/>
            <a:ext cx="2468880" cy="457200"/>
          </a:xfrm>
          <a:prstGeom prst="rect">
            <a:avLst/>
          </a:prstGeom>
          <a:noFill/>
          <a:ln/>
        </p:spPr>
        <p:txBody>
          <a:bodyPr wrap="square" rtlCol="0" anchor="ctr"/>
          <a:lstStyle/>
          <a:p>
            <a:pPr marL="0" indent="0" algn="ctr">
              <a:buNone/>
            </a:pPr>
            <a:r>
              <a:rPr lang="en-US" sz="1300" b="1" dirty="0">
                <a:solidFill>
                  <a:srgbClr val="1A1A1A"/>
                </a:solidFill>
                <a:latin typeface="Calibri" pitchFamily="34" charset="0"/>
                <a:ea typeface="Calibri" pitchFamily="34" charset="-122"/>
                <a:cs typeface="Calibri" pitchFamily="34" charset="-120"/>
              </a:rPr>
              <a:t>DevOps</a:t>
            </a:r>
            <a:endParaRPr lang="en-US" sz="1300" dirty="0"/>
          </a:p>
        </p:txBody>
      </p:sp>
      <p:sp>
        <p:nvSpPr>
          <p:cNvPr id="27" name="Shape 25"/>
          <p:cNvSpPr/>
          <p:nvPr/>
        </p:nvSpPr>
        <p:spPr>
          <a:xfrm>
            <a:off x="9735599" y="3794760"/>
            <a:ext cx="1828800" cy="36576"/>
          </a:xfrm>
          <a:prstGeom prst="rect">
            <a:avLst/>
          </a:prstGeom>
          <a:solidFill>
            <a:srgbClr val="C0392B"/>
          </a:solidFill>
          <a:ln/>
        </p:spPr>
        <p:txBody>
          <a:bodyPr/>
          <a:lstStyle/>
          <a:p>
            <a:endParaRPr lang="fr-FR"/>
          </a:p>
        </p:txBody>
      </p:sp>
      <p:sp>
        <p:nvSpPr>
          <p:cNvPr id="28" name="Text 26"/>
          <p:cNvSpPr/>
          <p:nvPr/>
        </p:nvSpPr>
        <p:spPr>
          <a:xfrm>
            <a:off x="9369839" y="3886200"/>
            <a:ext cx="2560320" cy="1097280"/>
          </a:xfrm>
          <a:prstGeom prst="rect">
            <a:avLst/>
          </a:prstGeom>
          <a:noFill/>
          <a:ln/>
        </p:spPr>
        <p:txBody>
          <a:bodyPr wrap="square" rtlCol="0" anchor="ctr"/>
          <a:lstStyle/>
          <a:p>
            <a:pPr marL="0" indent="0" algn="ctr">
              <a:buNone/>
            </a:pPr>
            <a:r>
              <a:rPr lang="en-US" sz="1200" dirty="0">
                <a:solidFill>
                  <a:srgbClr val="555555"/>
                </a:solidFill>
                <a:latin typeface="Calibri" pitchFamily="34" charset="0"/>
                <a:ea typeface="Calibri" pitchFamily="34" charset="-122"/>
                <a:cs typeface="Calibri" pitchFamily="34" charset="-120"/>
              </a:rPr>
              <a:t>Docker · K8s</a:t>
            </a:r>
            <a:endParaRPr lang="en-US" sz="1200" dirty="0"/>
          </a:p>
          <a:p>
            <a:pPr marL="0" indent="0" algn="ctr">
              <a:buNone/>
            </a:pPr>
            <a:r>
              <a:rPr lang="en-US" sz="1200" dirty="0">
                <a:solidFill>
                  <a:srgbClr val="555555"/>
                </a:solidFill>
                <a:latin typeface="Calibri" pitchFamily="34" charset="0"/>
                <a:ea typeface="Calibri" pitchFamily="34" charset="-122"/>
                <a:cs typeface="Calibri" pitchFamily="34" charset="-120"/>
              </a:rPr>
              <a:t>GitHub Actions</a:t>
            </a:r>
            <a:endParaRPr lang="en-US" sz="1200" dirty="0"/>
          </a:p>
        </p:txBody>
      </p:sp>
      <p:sp>
        <p:nvSpPr>
          <p:cNvPr id="29" name="Shape 27"/>
          <p:cNvSpPr/>
          <p:nvPr/>
        </p:nvSpPr>
        <p:spPr>
          <a:xfrm>
            <a:off x="225839" y="5486400"/>
            <a:ext cx="11795760" cy="822960"/>
          </a:xfrm>
          <a:prstGeom prst="rect">
            <a:avLst/>
          </a:prstGeom>
          <a:solidFill>
            <a:srgbClr val="F5F5F5"/>
          </a:solidFill>
          <a:ln w="19050">
            <a:solidFill>
              <a:srgbClr val="C0392B"/>
            </a:solidFill>
            <a:prstDash val="solid"/>
          </a:ln>
        </p:spPr>
        <p:txBody>
          <a:bodyPr/>
          <a:lstStyle/>
          <a:p>
            <a:endParaRPr lang="fr-FR"/>
          </a:p>
        </p:txBody>
      </p:sp>
      <p:sp>
        <p:nvSpPr>
          <p:cNvPr id="30" name="Text 28"/>
          <p:cNvSpPr/>
          <p:nvPr/>
        </p:nvSpPr>
        <p:spPr>
          <a:xfrm>
            <a:off x="457200" y="5577840"/>
            <a:ext cx="2743200" cy="502920"/>
          </a:xfrm>
          <a:prstGeom prst="rect">
            <a:avLst/>
          </a:prstGeom>
          <a:noFill/>
          <a:ln/>
        </p:spPr>
        <p:txBody>
          <a:bodyPr wrap="square" rtlCol="0" anchor="ctr"/>
          <a:lstStyle/>
          <a:p>
            <a:pPr marL="0" indent="0">
              <a:buNone/>
            </a:pPr>
            <a:r>
              <a:rPr lang="en-US" sz="1200" b="1" dirty="0">
                <a:solidFill>
                  <a:srgbClr val="F39C12"/>
                </a:solidFill>
                <a:latin typeface="Calibri" pitchFamily="34" charset="0"/>
                <a:ea typeface="Calibri" pitchFamily="34" charset="-122"/>
                <a:cs typeface="Calibri" pitchFamily="34" charset="-120"/>
              </a:rPr>
              <a:t>Formation proposée :</a:t>
            </a:r>
            <a:endParaRPr lang="en-US" sz="1200" dirty="0"/>
          </a:p>
        </p:txBody>
      </p:sp>
      <p:sp>
        <p:nvSpPr>
          <p:cNvPr id="31" name="Text 29"/>
          <p:cNvSpPr/>
          <p:nvPr/>
        </p:nvSpPr>
        <p:spPr>
          <a:xfrm>
            <a:off x="3200400" y="5577840"/>
            <a:ext cx="8595360" cy="5029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Certification Kubernetes CKA pour le DevOps — 3 mois · 100% en ligne · Linux Foundation</a:t>
            </a:r>
            <a:endParaRPr lang="en-US" sz="1200" dirty="0"/>
          </a:p>
        </p:txBody>
      </p:sp>
    </p:spTree>
    <p:extLst>
      <p:ext uri="{BB962C8B-B14F-4D97-AF65-F5344CB8AC3E}">
        <p14:creationId xmlns:p14="http://schemas.microsoft.com/office/powerpoint/2010/main" val="2968227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3200400"/>
            <a:ext cx="12192000" cy="73152"/>
          </a:xfrm>
          <a:prstGeom prst="rect">
            <a:avLst/>
          </a:prstGeom>
          <a:solidFill>
            <a:srgbClr val="C0392B"/>
          </a:solidFill>
          <a:ln/>
        </p:spPr>
        <p:txBody>
          <a:bodyPr/>
          <a:lstStyle/>
          <a:p>
            <a:endParaRPr lang="fr-FR"/>
          </a:p>
        </p:txBody>
      </p:sp>
      <p:sp>
        <p:nvSpPr>
          <p:cNvPr id="3" name="Text 1"/>
          <p:cNvSpPr/>
          <p:nvPr/>
        </p:nvSpPr>
        <p:spPr>
          <a:xfrm>
            <a:off x="0" y="1828800"/>
            <a:ext cx="12192000" cy="640080"/>
          </a:xfrm>
          <a:prstGeom prst="rect">
            <a:avLst/>
          </a:prstGeom>
          <a:noFill/>
          <a:ln/>
        </p:spPr>
        <p:txBody>
          <a:bodyPr wrap="square" rtlCol="0" anchor="ctr"/>
          <a:lstStyle/>
          <a:p>
            <a:pPr marL="0" indent="0" algn="ctr">
              <a:buNone/>
            </a:pPr>
            <a:r>
              <a:rPr lang="en-US" sz="1400" b="1" kern="0" spc="600" dirty="0">
                <a:solidFill>
                  <a:srgbClr val="E74C3C"/>
                </a:solidFill>
                <a:latin typeface="Calibri" pitchFamily="34" charset="0"/>
                <a:ea typeface="Calibri" pitchFamily="34" charset="-122"/>
                <a:cs typeface="Calibri" pitchFamily="34" charset="-120"/>
              </a:rPr>
              <a:t>PARTIE 2</a:t>
            </a:r>
            <a:endParaRPr lang="en-US" sz="1400" dirty="0"/>
          </a:p>
        </p:txBody>
      </p:sp>
      <p:sp>
        <p:nvSpPr>
          <p:cNvPr id="4" name="Text 2"/>
          <p:cNvSpPr/>
          <p:nvPr/>
        </p:nvSpPr>
        <p:spPr>
          <a:xfrm>
            <a:off x="0" y="2560320"/>
            <a:ext cx="12192000" cy="1371600"/>
          </a:xfrm>
          <a:prstGeom prst="rect">
            <a:avLst/>
          </a:prstGeom>
          <a:noFill/>
          <a:ln/>
        </p:spPr>
        <p:txBody>
          <a:bodyPr wrap="square" rtlCol="0" anchor="ctr"/>
          <a:lstStyle/>
          <a:p>
            <a:pPr marL="0" indent="0" algn="ctr">
              <a:buNone/>
            </a:pPr>
            <a:r>
              <a:rPr lang="en-US" sz="4600" b="1" dirty="0">
                <a:solidFill>
                  <a:srgbClr val="1A1A1A"/>
                </a:solidFill>
                <a:latin typeface="Palatino Linotype" pitchFamily="34" charset="0"/>
                <a:ea typeface="Palatino Linotype" pitchFamily="34" charset="-122"/>
                <a:cs typeface="Palatino Linotype" pitchFamily="34" charset="-120"/>
              </a:rPr>
              <a:t>Développement &amp; Déploiement</a:t>
            </a:r>
            <a:endParaRPr lang="en-US" sz="4600" dirty="0"/>
          </a:p>
        </p:txBody>
      </p:sp>
      <p:sp>
        <p:nvSpPr>
          <p:cNvPr id="5" name="Text 3"/>
          <p:cNvSpPr/>
          <p:nvPr/>
        </p:nvSpPr>
        <p:spPr>
          <a:xfrm>
            <a:off x="0" y="4023360"/>
            <a:ext cx="12192000" cy="457200"/>
          </a:xfrm>
          <a:prstGeom prst="rect">
            <a:avLst/>
          </a:prstGeom>
          <a:noFill/>
          <a:ln/>
        </p:spPr>
        <p:txBody>
          <a:bodyPr wrap="square" rtlCol="0" anchor="ctr"/>
          <a:lstStyle/>
          <a:p>
            <a:pPr marL="0" indent="0" algn="ctr">
              <a:buNone/>
            </a:pPr>
            <a:r>
              <a:rPr lang="en-US" sz="1400" i="1" dirty="0">
                <a:solidFill>
                  <a:srgbClr val="555555"/>
                </a:solidFill>
                <a:latin typeface="Calibri" pitchFamily="34" charset="0"/>
                <a:ea typeface="Calibri" pitchFamily="34" charset="-122"/>
                <a:cs typeface="Calibri" pitchFamily="34" charset="-120"/>
              </a:rPr>
              <a:t>Backlog · Architecture BFF · POC · Disponibilité · Résultats</a:t>
            </a:r>
            <a:endParaRPr lang="en-US" sz="1400" dirty="0"/>
          </a:p>
        </p:txBody>
      </p:sp>
    </p:spTree>
    <p:extLst>
      <p:ext uri="{BB962C8B-B14F-4D97-AF65-F5344CB8AC3E}">
        <p14:creationId xmlns:p14="http://schemas.microsoft.com/office/powerpoint/2010/main" val="1966781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txBody>
          <a:bodyPr/>
          <a:lstStyle/>
          <a:p>
            <a:endParaRPr lang="fr-FR"/>
          </a:p>
        </p:txBody>
      </p:sp>
      <p:sp>
        <p:nvSpPr>
          <p:cNvPr id="3" name="Shape 1"/>
          <p:cNvSpPr/>
          <p:nvPr/>
        </p:nvSpPr>
        <p:spPr>
          <a:xfrm>
            <a:off x="0" y="6675120"/>
            <a:ext cx="12192000" cy="182880"/>
          </a:xfrm>
          <a:prstGeom prst="rect">
            <a:avLst/>
          </a:prstGeom>
          <a:solidFill>
            <a:srgbClr val="C0392B"/>
          </a:solidFill>
          <a:ln/>
        </p:spPr>
        <p:txBody>
          <a:bodyPr/>
          <a:lstStyle/>
          <a:p>
            <a:endParaRPr lang="fr-FR"/>
          </a:p>
        </p:txBody>
      </p:sp>
      <p:sp>
        <p:nvSpPr>
          <p:cNvPr id="4" name="Text 2"/>
          <p:cNvSpPr/>
          <p:nvPr/>
        </p:nvSpPr>
        <p:spPr>
          <a:xfrm>
            <a:off x="274320" y="6675120"/>
            <a:ext cx="9601200" cy="182880"/>
          </a:xfrm>
          <a:prstGeom prst="rect">
            <a:avLst/>
          </a:prstGeom>
          <a:noFill/>
          <a:ln/>
        </p:spPr>
        <p:txBody>
          <a:bodyPr wrap="square" rtlCol="0" anchor="ctr"/>
          <a:lstStyle/>
          <a:p>
            <a:pPr marL="0" indent="0">
              <a:buNone/>
            </a:pPr>
            <a:r>
              <a:rPr lang="fr-FR" sz="800" dirty="0">
                <a:solidFill>
                  <a:srgbClr val="FFFFFF"/>
                </a:solidFill>
                <a:latin typeface="Calibri" pitchFamily="34" charset="0"/>
                <a:ea typeface="Calibri" pitchFamily="34" charset="-122"/>
                <a:cs typeface="Calibri" pitchFamily="34" charset="-120"/>
              </a:rPr>
              <a:t>La Petite Maison de l’Épouvante —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marL="0" indent="0" algn="r">
              <a:buNone/>
            </a:pPr>
            <a:r>
              <a:rPr lang="en-US" sz="1800" b="1" dirty="0">
                <a:solidFill>
                  <a:srgbClr val="1A1A1A"/>
                </a:solidFill>
                <a:latin typeface="Calibri" pitchFamily="34" charset="0"/>
                <a:ea typeface="Calibri" pitchFamily="34" charset="-122"/>
                <a:cs typeface="Calibri" pitchFamily="34" charset="-120"/>
              </a:rPr>
              <a:t>10</a:t>
            </a:r>
            <a:endParaRPr lang="en-US" sz="1800" dirty="0"/>
          </a:p>
        </p:txBody>
      </p:sp>
      <p:sp>
        <p:nvSpPr>
          <p:cNvPr id="6" name="Shape 4"/>
          <p:cNvSpPr/>
          <p:nvPr/>
        </p:nvSpPr>
        <p:spPr>
          <a:xfrm>
            <a:off x="365760" y="1051560"/>
            <a:ext cx="2377440" cy="54864"/>
          </a:xfrm>
          <a:prstGeom prst="rect">
            <a:avLst/>
          </a:prstGeom>
          <a:solidFill>
            <a:srgbClr val="C0392B"/>
          </a:solidFill>
          <a:ln/>
        </p:spPr>
        <p:txBody>
          <a:bodyPr/>
          <a:lstStyle/>
          <a:p>
            <a:endParaRPr lang="fr-FR"/>
          </a:p>
        </p:txBody>
      </p:sp>
      <p:sp>
        <p:nvSpPr>
          <p:cNvPr id="7" name="Text 5"/>
          <p:cNvSpPr/>
          <p:nvPr/>
        </p:nvSpPr>
        <p:spPr>
          <a:xfrm>
            <a:off x="365760" y="640080"/>
            <a:ext cx="10972800" cy="548640"/>
          </a:xfrm>
          <a:prstGeom prst="rect">
            <a:avLst/>
          </a:prstGeom>
          <a:noFill/>
          <a:ln/>
        </p:spPr>
        <p:txBody>
          <a:bodyPr wrap="square" rtlCol="0" anchor="ctr"/>
          <a:lstStyle/>
          <a:p>
            <a:pPr marL="0" indent="0">
              <a:buNone/>
            </a:pPr>
            <a:r>
              <a:rPr lang="en-US" sz="1100" b="1" kern="0" spc="200" dirty="0">
                <a:solidFill>
                  <a:srgbClr val="E74C3C"/>
                </a:solidFill>
                <a:latin typeface="Calibri" pitchFamily="34" charset="0"/>
                <a:ea typeface="Calibri" pitchFamily="34" charset="-122"/>
                <a:cs typeface="Calibri" pitchFamily="34" charset="-120"/>
              </a:rPr>
              <a:t>ANALYSE DES EXIGENCES</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marL="0" indent="0">
              <a:buNone/>
            </a:pPr>
            <a:r>
              <a:rPr lang="en-US" sz="3400" b="1" dirty="0">
                <a:solidFill>
                  <a:srgbClr val="1A1A1A"/>
                </a:solidFill>
                <a:latin typeface="Palatino Linotype" pitchFamily="34" charset="0"/>
                <a:ea typeface="Palatino Linotype" pitchFamily="34" charset="-122"/>
                <a:cs typeface="Palatino Linotype" pitchFamily="34" charset="-120"/>
              </a:rPr>
              <a:t>4 User Stories — Backlog v1</a:t>
            </a:r>
            <a:endParaRPr lang="en-US" sz="3400" dirty="0"/>
          </a:p>
        </p:txBody>
      </p:sp>
      <p:sp>
        <p:nvSpPr>
          <p:cNvPr id="9" name="Shape 7"/>
          <p:cNvSpPr/>
          <p:nvPr/>
        </p:nvSpPr>
        <p:spPr>
          <a:xfrm>
            <a:off x="274320" y="2743200"/>
            <a:ext cx="5760720" cy="1737360"/>
          </a:xfrm>
          <a:prstGeom prst="rect">
            <a:avLst/>
          </a:prstGeom>
          <a:solidFill>
            <a:srgbClr val="F5F5F5"/>
          </a:solidFill>
          <a:ln w="19050">
            <a:solidFill>
              <a:srgbClr val="C0392B"/>
            </a:solidFill>
            <a:prstDash val="solid"/>
          </a:ln>
        </p:spPr>
        <p:txBody>
          <a:bodyPr/>
          <a:lstStyle/>
          <a:p>
            <a:endParaRPr lang="fr-FR"/>
          </a:p>
        </p:txBody>
      </p:sp>
      <p:sp>
        <p:nvSpPr>
          <p:cNvPr id="10" name="Text 8"/>
          <p:cNvSpPr/>
          <p:nvPr/>
        </p:nvSpPr>
        <p:spPr>
          <a:xfrm>
            <a:off x="411480" y="2834640"/>
            <a:ext cx="1097280" cy="411480"/>
          </a:xfrm>
          <a:prstGeom prst="rect">
            <a:avLst/>
          </a:prstGeom>
          <a:noFill/>
          <a:ln/>
        </p:spPr>
        <p:txBody>
          <a:bodyPr wrap="square" rtlCol="0" anchor="ctr"/>
          <a:lstStyle/>
          <a:p>
            <a:pPr marL="0" indent="0">
              <a:buNone/>
            </a:pPr>
            <a:r>
              <a:rPr lang="en-US" sz="1300" b="1" dirty="0">
                <a:solidFill>
                  <a:srgbClr val="E74C3C"/>
                </a:solidFill>
                <a:latin typeface="Calibri" pitchFamily="34" charset="0"/>
                <a:ea typeface="Calibri" pitchFamily="34" charset="-122"/>
                <a:cs typeface="Calibri" pitchFamily="34" charset="-120"/>
              </a:rPr>
              <a:t>US-01</a:t>
            </a:r>
            <a:endParaRPr lang="en-US" sz="1300" dirty="0"/>
          </a:p>
        </p:txBody>
      </p:sp>
      <p:sp>
        <p:nvSpPr>
          <p:cNvPr id="11" name="Text 9"/>
          <p:cNvSpPr/>
          <p:nvPr/>
        </p:nvSpPr>
        <p:spPr>
          <a:xfrm>
            <a:off x="4206240" y="2816352"/>
            <a:ext cx="1645920" cy="320040"/>
          </a:xfrm>
          <a:prstGeom prst="rect">
            <a:avLst/>
          </a:prstGeom>
          <a:noFill/>
          <a:ln/>
        </p:spPr>
        <p:txBody>
          <a:bodyPr wrap="square" rtlCol="0" anchor="ctr"/>
          <a:lstStyle/>
          <a:p>
            <a:pPr marL="0" indent="0" algn="r">
              <a:buNone/>
            </a:pPr>
            <a:r>
              <a:rPr lang="en-US" sz="800" b="1" dirty="0">
                <a:solidFill>
                  <a:srgbClr val="27AE60"/>
                </a:solidFill>
                <a:latin typeface="Calibri" pitchFamily="34" charset="0"/>
                <a:ea typeface="Calibri" pitchFamily="34" charset="-122"/>
                <a:cs typeface="Calibri" pitchFamily="34" charset="-120"/>
              </a:rPr>
              <a:t>IMPLEMENTED</a:t>
            </a:r>
            <a:endParaRPr lang="en-US" sz="800" dirty="0"/>
          </a:p>
        </p:txBody>
      </p:sp>
      <p:sp>
        <p:nvSpPr>
          <p:cNvPr id="12" name="Text 10"/>
          <p:cNvSpPr/>
          <p:nvPr/>
        </p:nvSpPr>
        <p:spPr>
          <a:xfrm>
            <a:off x="411480" y="3246120"/>
            <a:ext cx="5486400" cy="45720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Profil utilisateur agrégé</a:t>
            </a:r>
            <a:endParaRPr lang="en-US" sz="1400" dirty="0"/>
          </a:p>
        </p:txBody>
      </p:sp>
      <p:sp>
        <p:nvSpPr>
          <p:cNvPr id="13" name="Text 11"/>
          <p:cNvSpPr/>
          <p:nvPr/>
        </p:nvSpPr>
        <p:spPr>
          <a:xfrm>
            <a:off x="411480" y="3703320"/>
            <a:ext cx="5486400" cy="640080"/>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BFF · GET /api/profile/{id}</a:t>
            </a:r>
            <a:endParaRPr lang="en-US" sz="1100" dirty="0"/>
          </a:p>
          <a:p>
            <a:pPr marL="0" indent="0">
              <a:buNone/>
            </a:pPr>
            <a:r>
              <a:rPr lang="en-US" sz="1100" dirty="0">
                <a:solidFill>
                  <a:srgbClr val="555555"/>
                </a:solidFill>
                <a:latin typeface="Calibri" pitchFamily="34" charset="0"/>
                <a:ea typeface="Calibri" pitchFamily="34" charset="-122"/>
                <a:cs typeface="Calibri" pitchFamily="34" charset="-120"/>
              </a:rPr>
              <a:t>Cache 60s · statut 206 si service KO</a:t>
            </a:r>
            <a:endParaRPr lang="en-US" sz="1100" dirty="0"/>
          </a:p>
        </p:txBody>
      </p:sp>
      <p:sp>
        <p:nvSpPr>
          <p:cNvPr id="14" name="Shape 12"/>
          <p:cNvSpPr/>
          <p:nvPr/>
        </p:nvSpPr>
        <p:spPr>
          <a:xfrm>
            <a:off x="6309360" y="2743200"/>
            <a:ext cx="5760720" cy="1737360"/>
          </a:xfrm>
          <a:prstGeom prst="rect">
            <a:avLst/>
          </a:prstGeom>
          <a:solidFill>
            <a:srgbClr val="F5F5F5"/>
          </a:solidFill>
          <a:ln w="19050">
            <a:solidFill>
              <a:srgbClr val="C0392B"/>
            </a:solidFill>
            <a:prstDash val="solid"/>
          </a:ln>
        </p:spPr>
        <p:txBody>
          <a:bodyPr/>
          <a:lstStyle/>
          <a:p>
            <a:endParaRPr lang="fr-FR"/>
          </a:p>
        </p:txBody>
      </p:sp>
      <p:sp>
        <p:nvSpPr>
          <p:cNvPr id="15" name="Text 13"/>
          <p:cNvSpPr/>
          <p:nvPr/>
        </p:nvSpPr>
        <p:spPr>
          <a:xfrm>
            <a:off x="6446520" y="2834640"/>
            <a:ext cx="1097280" cy="411480"/>
          </a:xfrm>
          <a:prstGeom prst="rect">
            <a:avLst/>
          </a:prstGeom>
          <a:noFill/>
          <a:ln/>
        </p:spPr>
        <p:txBody>
          <a:bodyPr wrap="square" rtlCol="0" anchor="ctr"/>
          <a:lstStyle/>
          <a:p>
            <a:pPr marL="0" indent="0">
              <a:buNone/>
            </a:pPr>
            <a:r>
              <a:rPr lang="en-US" sz="1300" b="1" dirty="0">
                <a:solidFill>
                  <a:srgbClr val="E74C3C"/>
                </a:solidFill>
                <a:latin typeface="Calibri" pitchFamily="34" charset="0"/>
                <a:ea typeface="Calibri" pitchFamily="34" charset="-122"/>
                <a:cs typeface="Calibri" pitchFamily="34" charset="-120"/>
              </a:rPr>
              <a:t>US-02</a:t>
            </a:r>
            <a:endParaRPr lang="en-US" sz="1300" dirty="0"/>
          </a:p>
        </p:txBody>
      </p:sp>
      <p:sp>
        <p:nvSpPr>
          <p:cNvPr id="16" name="Text 14"/>
          <p:cNvSpPr/>
          <p:nvPr/>
        </p:nvSpPr>
        <p:spPr>
          <a:xfrm>
            <a:off x="10241280" y="2816352"/>
            <a:ext cx="1645920" cy="320040"/>
          </a:xfrm>
          <a:prstGeom prst="rect">
            <a:avLst/>
          </a:prstGeom>
          <a:noFill/>
          <a:ln/>
        </p:spPr>
        <p:txBody>
          <a:bodyPr wrap="square" rtlCol="0" anchor="ctr"/>
          <a:lstStyle/>
          <a:p>
            <a:pPr marL="0" indent="0" algn="r">
              <a:buNone/>
            </a:pPr>
            <a:r>
              <a:rPr lang="en-US" sz="800" b="1" dirty="0">
                <a:solidFill>
                  <a:srgbClr val="27AE60"/>
                </a:solidFill>
                <a:latin typeface="Calibri" pitchFamily="34" charset="0"/>
                <a:ea typeface="Calibri" pitchFamily="34" charset="-122"/>
                <a:cs typeface="Calibri" pitchFamily="34" charset="-120"/>
              </a:rPr>
              <a:t>IMPLEMENTED</a:t>
            </a:r>
            <a:endParaRPr lang="en-US" sz="800" dirty="0"/>
          </a:p>
        </p:txBody>
      </p:sp>
      <p:sp>
        <p:nvSpPr>
          <p:cNvPr id="17" name="Text 15"/>
          <p:cNvSpPr/>
          <p:nvPr/>
        </p:nvSpPr>
        <p:spPr>
          <a:xfrm>
            <a:off x="6446520" y="3246120"/>
            <a:ext cx="5486400" cy="45720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Authentification Keycloak</a:t>
            </a:r>
            <a:endParaRPr lang="en-US" sz="1400" dirty="0"/>
          </a:p>
        </p:txBody>
      </p:sp>
      <p:sp>
        <p:nvSpPr>
          <p:cNvPr id="18" name="Text 16"/>
          <p:cNvSpPr/>
          <p:nvPr/>
        </p:nvSpPr>
        <p:spPr>
          <a:xfrm>
            <a:off x="6446520" y="3703320"/>
            <a:ext cx="5486400" cy="640080"/>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OAuth2/OIDC · Authorization Code</a:t>
            </a:r>
            <a:endParaRPr lang="en-US" sz="1100" dirty="0"/>
          </a:p>
          <a:p>
            <a:pPr marL="0" indent="0">
              <a:buNone/>
            </a:pPr>
            <a:r>
              <a:rPr lang="en-US" sz="1100" dirty="0">
                <a:solidFill>
                  <a:srgbClr val="555555"/>
                </a:solidFill>
                <a:latin typeface="Calibri" pitchFamily="34" charset="0"/>
                <a:ea typeface="Calibri" pitchFamily="34" charset="-122"/>
                <a:cs typeface="Calibri" pitchFamily="34" charset="-120"/>
              </a:rPr>
              <a:t>State CSRF · JWT claims</a:t>
            </a:r>
            <a:endParaRPr lang="en-US" sz="1100" dirty="0"/>
          </a:p>
        </p:txBody>
      </p:sp>
      <p:sp>
        <p:nvSpPr>
          <p:cNvPr id="19" name="Shape 17"/>
          <p:cNvSpPr/>
          <p:nvPr/>
        </p:nvSpPr>
        <p:spPr>
          <a:xfrm>
            <a:off x="274320" y="4709160"/>
            <a:ext cx="5760720" cy="1737360"/>
          </a:xfrm>
          <a:prstGeom prst="rect">
            <a:avLst/>
          </a:prstGeom>
          <a:solidFill>
            <a:srgbClr val="F5F5F5"/>
          </a:solidFill>
          <a:ln w="19050">
            <a:solidFill>
              <a:srgbClr val="C0392B"/>
            </a:solidFill>
            <a:prstDash val="solid"/>
          </a:ln>
        </p:spPr>
        <p:txBody>
          <a:bodyPr/>
          <a:lstStyle/>
          <a:p>
            <a:endParaRPr lang="fr-FR"/>
          </a:p>
        </p:txBody>
      </p:sp>
      <p:sp>
        <p:nvSpPr>
          <p:cNvPr id="20" name="Text 18"/>
          <p:cNvSpPr/>
          <p:nvPr/>
        </p:nvSpPr>
        <p:spPr>
          <a:xfrm>
            <a:off x="411480" y="4800600"/>
            <a:ext cx="1097280" cy="411480"/>
          </a:xfrm>
          <a:prstGeom prst="rect">
            <a:avLst/>
          </a:prstGeom>
          <a:noFill/>
          <a:ln/>
        </p:spPr>
        <p:txBody>
          <a:bodyPr wrap="square" rtlCol="0" anchor="ctr"/>
          <a:lstStyle/>
          <a:p>
            <a:pPr marL="0" indent="0">
              <a:buNone/>
            </a:pPr>
            <a:r>
              <a:rPr lang="en-US" sz="1300" b="1" dirty="0">
                <a:solidFill>
                  <a:srgbClr val="E74C3C"/>
                </a:solidFill>
                <a:latin typeface="Calibri" pitchFamily="34" charset="0"/>
                <a:ea typeface="Calibri" pitchFamily="34" charset="-122"/>
                <a:cs typeface="Calibri" pitchFamily="34" charset="-120"/>
              </a:rPr>
              <a:t>US-03</a:t>
            </a:r>
            <a:endParaRPr lang="en-US" sz="1300" dirty="0"/>
          </a:p>
        </p:txBody>
      </p:sp>
      <p:sp>
        <p:nvSpPr>
          <p:cNvPr id="21" name="Text 19"/>
          <p:cNvSpPr/>
          <p:nvPr/>
        </p:nvSpPr>
        <p:spPr>
          <a:xfrm>
            <a:off x="4206240" y="4782312"/>
            <a:ext cx="1645920" cy="320040"/>
          </a:xfrm>
          <a:prstGeom prst="rect">
            <a:avLst/>
          </a:prstGeom>
          <a:noFill/>
          <a:ln/>
        </p:spPr>
        <p:txBody>
          <a:bodyPr wrap="square" rtlCol="0" anchor="ctr"/>
          <a:lstStyle/>
          <a:p>
            <a:pPr marL="0" indent="0" algn="r">
              <a:buNone/>
            </a:pPr>
            <a:r>
              <a:rPr lang="en-US" sz="800" b="1" dirty="0">
                <a:solidFill>
                  <a:srgbClr val="27AE60"/>
                </a:solidFill>
                <a:latin typeface="Calibri" pitchFamily="34" charset="0"/>
                <a:ea typeface="Calibri" pitchFamily="34" charset="-122"/>
                <a:cs typeface="Calibri" pitchFamily="34" charset="-120"/>
              </a:rPr>
              <a:t>IMPLEMENTED</a:t>
            </a:r>
            <a:endParaRPr lang="en-US" sz="800" dirty="0"/>
          </a:p>
        </p:txBody>
      </p:sp>
      <p:sp>
        <p:nvSpPr>
          <p:cNvPr id="22" name="Text 20"/>
          <p:cNvSpPr/>
          <p:nvPr/>
        </p:nvSpPr>
        <p:spPr>
          <a:xfrm>
            <a:off x="411480" y="5212080"/>
            <a:ext cx="5486400" cy="45720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Catalogue produits</a:t>
            </a:r>
            <a:endParaRPr lang="en-US" sz="1400" dirty="0"/>
          </a:p>
        </p:txBody>
      </p:sp>
      <p:sp>
        <p:nvSpPr>
          <p:cNvPr id="23" name="Text 21"/>
          <p:cNvSpPr/>
          <p:nvPr/>
        </p:nvSpPr>
        <p:spPr>
          <a:xfrm>
            <a:off x="411480" y="5669280"/>
            <a:ext cx="5486400" cy="640080"/>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GET /api/products</a:t>
            </a:r>
            <a:endParaRPr lang="en-US" sz="1100" dirty="0"/>
          </a:p>
          <a:p>
            <a:pPr marL="0" indent="0">
              <a:buNone/>
            </a:pPr>
            <a:r>
              <a:rPr lang="en-US" sz="1100" dirty="0">
                <a:solidFill>
                  <a:srgbClr val="555555"/>
                </a:solidFill>
                <a:latin typeface="Calibri" pitchFamily="34" charset="0"/>
                <a:ea typeface="Calibri" pitchFamily="34" charset="-122"/>
                <a:cs typeface="Calibri" pitchFamily="34" charset="-120"/>
              </a:rPr>
              <a:t>Sans authentification</a:t>
            </a:r>
            <a:endParaRPr lang="en-US" sz="1100" dirty="0"/>
          </a:p>
        </p:txBody>
      </p:sp>
      <p:sp>
        <p:nvSpPr>
          <p:cNvPr id="24" name="Shape 22"/>
          <p:cNvSpPr/>
          <p:nvPr/>
        </p:nvSpPr>
        <p:spPr>
          <a:xfrm>
            <a:off x="6309360" y="4709160"/>
            <a:ext cx="5760720" cy="1737360"/>
          </a:xfrm>
          <a:prstGeom prst="rect">
            <a:avLst/>
          </a:prstGeom>
          <a:solidFill>
            <a:srgbClr val="F5F5F5"/>
          </a:solidFill>
          <a:ln w="19050">
            <a:solidFill>
              <a:srgbClr val="C0392B"/>
            </a:solidFill>
            <a:prstDash val="solid"/>
          </a:ln>
        </p:spPr>
        <p:txBody>
          <a:bodyPr/>
          <a:lstStyle/>
          <a:p>
            <a:endParaRPr lang="fr-FR"/>
          </a:p>
        </p:txBody>
      </p:sp>
      <p:sp>
        <p:nvSpPr>
          <p:cNvPr id="25" name="Text 23"/>
          <p:cNvSpPr/>
          <p:nvPr/>
        </p:nvSpPr>
        <p:spPr>
          <a:xfrm>
            <a:off x="6446520" y="4800600"/>
            <a:ext cx="1097280" cy="411480"/>
          </a:xfrm>
          <a:prstGeom prst="rect">
            <a:avLst/>
          </a:prstGeom>
          <a:noFill/>
          <a:ln/>
        </p:spPr>
        <p:txBody>
          <a:bodyPr wrap="square" rtlCol="0" anchor="ctr"/>
          <a:lstStyle/>
          <a:p>
            <a:pPr marL="0" indent="0">
              <a:buNone/>
            </a:pPr>
            <a:r>
              <a:rPr lang="en-US" sz="1300" b="1" dirty="0">
                <a:solidFill>
                  <a:srgbClr val="E74C3C"/>
                </a:solidFill>
                <a:latin typeface="Calibri" pitchFamily="34" charset="0"/>
                <a:ea typeface="Calibri" pitchFamily="34" charset="-122"/>
                <a:cs typeface="Calibri" pitchFamily="34" charset="-120"/>
              </a:rPr>
              <a:t>US-04</a:t>
            </a:r>
            <a:endParaRPr lang="en-US" sz="1300" dirty="0"/>
          </a:p>
        </p:txBody>
      </p:sp>
      <p:sp>
        <p:nvSpPr>
          <p:cNvPr id="26" name="Text 24"/>
          <p:cNvSpPr/>
          <p:nvPr/>
        </p:nvSpPr>
        <p:spPr>
          <a:xfrm>
            <a:off x="10241280" y="4782312"/>
            <a:ext cx="1645920" cy="320040"/>
          </a:xfrm>
          <a:prstGeom prst="rect">
            <a:avLst/>
          </a:prstGeom>
          <a:noFill/>
          <a:ln/>
        </p:spPr>
        <p:txBody>
          <a:bodyPr wrap="square" rtlCol="0" anchor="ctr"/>
          <a:lstStyle/>
          <a:p>
            <a:pPr marL="0" indent="0" algn="r">
              <a:buNone/>
            </a:pPr>
            <a:r>
              <a:rPr lang="en-US" sz="800" b="1" dirty="0">
                <a:solidFill>
                  <a:srgbClr val="27AE60"/>
                </a:solidFill>
                <a:latin typeface="Calibri" pitchFamily="34" charset="0"/>
                <a:ea typeface="Calibri" pitchFamily="34" charset="-122"/>
                <a:cs typeface="Calibri" pitchFamily="34" charset="-120"/>
              </a:rPr>
              <a:t>IMPLEMENTED</a:t>
            </a:r>
            <a:endParaRPr lang="en-US" sz="800" dirty="0"/>
          </a:p>
        </p:txBody>
      </p:sp>
      <p:sp>
        <p:nvSpPr>
          <p:cNvPr id="27" name="Text 25"/>
          <p:cNvSpPr/>
          <p:nvPr/>
        </p:nvSpPr>
        <p:spPr>
          <a:xfrm>
            <a:off x="6446520" y="5212080"/>
            <a:ext cx="5486400" cy="45720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Notification asynchrone</a:t>
            </a:r>
            <a:endParaRPr lang="en-US" sz="1400" dirty="0"/>
          </a:p>
        </p:txBody>
      </p:sp>
      <p:sp>
        <p:nvSpPr>
          <p:cNvPr id="28" name="Text 26"/>
          <p:cNvSpPr/>
          <p:nvPr/>
        </p:nvSpPr>
        <p:spPr>
          <a:xfrm>
            <a:off x="6446520" y="5669280"/>
            <a:ext cx="5486400" cy="640080"/>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Symfony Messenger</a:t>
            </a:r>
            <a:endParaRPr lang="en-US" sz="1100" dirty="0"/>
          </a:p>
          <a:p>
            <a:pPr marL="0" indent="0">
              <a:buNone/>
            </a:pPr>
            <a:r>
              <a:rPr lang="en-US" sz="1100" dirty="0">
                <a:solidFill>
                  <a:srgbClr val="555555"/>
                </a:solidFill>
                <a:latin typeface="Calibri" pitchFamily="34" charset="0"/>
                <a:ea typeface="Calibri" pitchFamily="34" charset="-122"/>
                <a:cs typeface="Calibri" pitchFamily="34" charset="-120"/>
              </a:rPr>
              <a:t>GhostAlert + Login events</a:t>
            </a:r>
            <a:endParaRPr lang="en-US" sz="1100" dirty="0"/>
          </a:p>
        </p:txBody>
      </p:sp>
    </p:spTree>
    <p:extLst>
      <p:ext uri="{BB962C8B-B14F-4D97-AF65-F5344CB8AC3E}">
        <p14:creationId xmlns:p14="http://schemas.microsoft.com/office/powerpoint/2010/main" val="1816889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txBody>
          <a:bodyPr/>
          <a:lstStyle/>
          <a:p>
            <a:endParaRPr lang="fr-FR"/>
          </a:p>
        </p:txBody>
      </p:sp>
      <p:sp>
        <p:nvSpPr>
          <p:cNvPr id="3" name="Shape 1"/>
          <p:cNvSpPr/>
          <p:nvPr/>
        </p:nvSpPr>
        <p:spPr>
          <a:xfrm>
            <a:off x="0" y="6675120"/>
            <a:ext cx="12192000" cy="182880"/>
          </a:xfrm>
          <a:prstGeom prst="rect">
            <a:avLst/>
          </a:prstGeom>
          <a:solidFill>
            <a:srgbClr val="C0392B"/>
          </a:solidFill>
          <a:ln/>
        </p:spPr>
        <p:txBody>
          <a:bodyPr/>
          <a:lstStyle/>
          <a:p>
            <a:endParaRPr lang="fr-FR"/>
          </a:p>
        </p:txBody>
      </p:sp>
      <p:sp>
        <p:nvSpPr>
          <p:cNvPr id="4" name="Text 2"/>
          <p:cNvSpPr/>
          <p:nvPr/>
        </p:nvSpPr>
        <p:spPr>
          <a:xfrm>
            <a:off x="274320" y="6675120"/>
            <a:ext cx="9601200" cy="182880"/>
          </a:xfrm>
          <a:prstGeom prst="rect">
            <a:avLst/>
          </a:prstGeom>
          <a:noFill/>
          <a:ln/>
        </p:spPr>
        <p:txBody>
          <a:bodyPr wrap="square" rtlCol="0" anchor="ctr"/>
          <a:lstStyle/>
          <a:p>
            <a:pPr marL="0" indent="0">
              <a:buNone/>
            </a:pPr>
            <a:r>
              <a:rPr lang="fr-FR" sz="800" dirty="0">
                <a:solidFill>
                  <a:srgbClr val="FFFFFF"/>
                </a:solidFill>
                <a:latin typeface="Calibri" pitchFamily="34" charset="0"/>
                <a:ea typeface="Calibri" pitchFamily="34" charset="-122"/>
                <a:cs typeface="Calibri" pitchFamily="34" charset="-120"/>
              </a:rPr>
              <a:t>La Petite Maison de l’Épouvante —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marL="0" indent="0" algn="r">
              <a:buNone/>
            </a:pPr>
            <a:r>
              <a:rPr lang="en-US" sz="1800" b="1" dirty="0">
                <a:solidFill>
                  <a:srgbClr val="1A1A1A"/>
                </a:solidFill>
                <a:latin typeface="Calibri" pitchFamily="34" charset="0"/>
                <a:ea typeface="Calibri" pitchFamily="34" charset="-122"/>
                <a:cs typeface="Calibri" pitchFamily="34" charset="-120"/>
              </a:rPr>
              <a:t>11</a:t>
            </a:r>
            <a:endParaRPr lang="en-US" sz="1800" dirty="0"/>
          </a:p>
        </p:txBody>
      </p:sp>
      <p:sp>
        <p:nvSpPr>
          <p:cNvPr id="6" name="Text 4"/>
          <p:cNvSpPr/>
          <p:nvPr/>
        </p:nvSpPr>
        <p:spPr>
          <a:xfrm>
            <a:off x="365760" y="91440"/>
            <a:ext cx="10972800" cy="292608"/>
          </a:xfrm>
          <a:prstGeom prst="rect">
            <a:avLst/>
          </a:prstGeom>
          <a:noFill/>
          <a:ln/>
        </p:spPr>
        <p:txBody>
          <a:bodyPr wrap="square" rtlCol="0" anchor="ctr"/>
          <a:lstStyle/>
          <a:p>
            <a:pPr marL="0" indent="0">
              <a:buNone/>
            </a:pPr>
            <a:r>
              <a:rPr lang="en-US" sz="900" b="1" kern="0" spc="200" dirty="0">
                <a:solidFill>
                  <a:srgbClr val="E74C3C"/>
                </a:solidFill>
                <a:latin typeface="Calibri" pitchFamily="34" charset="0"/>
                <a:ea typeface="Calibri" pitchFamily="34" charset="-122"/>
                <a:cs typeface="Calibri" pitchFamily="34" charset="-120"/>
              </a:rPr>
              <a:t>ARCHITECTURE TECHNIQUE</a:t>
            </a:r>
            <a:endParaRPr lang="en-US" sz="900" dirty="0"/>
          </a:p>
        </p:txBody>
      </p:sp>
      <p:sp>
        <p:nvSpPr>
          <p:cNvPr id="7" name="Shape 5"/>
          <p:cNvSpPr/>
          <p:nvPr/>
        </p:nvSpPr>
        <p:spPr>
          <a:xfrm>
            <a:off x="365760" y="402336"/>
            <a:ext cx="2377440" cy="45720"/>
          </a:xfrm>
          <a:prstGeom prst="rect">
            <a:avLst/>
          </a:prstGeom>
          <a:solidFill>
            <a:srgbClr val="C0392B"/>
          </a:solidFill>
          <a:ln/>
        </p:spPr>
        <p:txBody>
          <a:bodyPr/>
          <a:lstStyle/>
          <a:p>
            <a:endParaRPr lang="fr-FR"/>
          </a:p>
        </p:txBody>
      </p:sp>
      <p:sp>
        <p:nvSpPr>
          <p:cNvPr id="8" name="Text 6"/>
          <p:cNvSpPr/>
          <p:nvPr/>
        </p:nvSpPr>
        <p:spPr>
          <a:xfrm>
            <a:off x="365760" y="475488"/>
            <a:ext cx="11430000" cy="594360"/>
          </a:xfrm>
          <a:prstGeom prst="rect">
            <a:avLst/>
          </a:prstGeom>
          <a:noFill/>
          <a:ln/>
        </p:spPr>
        <p:txBody>
          <a:bodyPr wrap="square" rtlCol="0" anchor="ctr"/>
          <a:lstStyle/>
          <a:p>
            <a:pPr marL="0" indent="0">
              <a:buNone/>
            </a:pPr>
            <a:r>
              <a:rPr lang="en-US" sz="2200" b="1" dirty="0">
                <a:solidFill>
                  <a:srgbClr val="1A1A1A"/>
                </a:solidFill>
                <a:latin typeface="Palatino Linotype" pitchFamily="34" charset="0"/>
                <a:ea typeface="Palatino Linotype" pitchFamily="34" charset="-122"/>
                <a:cs typeface="Palatino Linotype" pitchFamily="34" charset="-120"/>
              </a:rPr>
              <a:t>API Gateway / BFF Pattern</a:t>
            </a:r>
            <a:endParaRPr lang="en-US" sz="2200" dirty="0"/>
          </a:p>
        </p:txBody>
      </p:sp>
      <p:sp>
        <p:nvSpPr>
          <p:cNvPr id="9" name="Text 7"/>
          <p:cNvSpPr/>
          <p:nvPr/>
        </p:nvSpPr>
        <p:spPr>
          <a:xfrm>
            <a:off x="320040" y="1188720"/>
            <a:ext cx="1828800" cy="274320"/>
          </a:xfrm>
          <a:prstGeom prst="rect">
            <a:avLst/>
          </a:prstGeom>
          <a:noFill/>
          <a:ln/>
        </p:spPr>
        <p:txBody>
          <a:bodyPr wrap="square" rtlCol="0" anchor="ctr"/>
          <a:lstStyle/>
          <a:p>
            <a:pPr marL="0" indent="0" algn="ctr">
              <a:buNone/>
            </a:pPr>
            <a:r>
              <a:rPr lang="en-US" sz="800" b="1" kern="0" spc="100" dirty="0">
                <a:solidFill>
                  <a:srgbClr val="E74C3C"/>
                </a:solidFill>
                <a:latin typeface="Calibri" pitchFamily="34" charset="0"/>
                <a:ea typeface="Calibri" pitchFamily="34" charset="-122"/>
                <a:cs typeface="Calibri" pitchFamily="34" charset="-120"/>
              </a:rPr>
              <a:t>ENTRÉE</a:t>
            </a:r>
            <a:endParaRPr lang="en-US" sz="800" dirty="0"/>
          </a:p>
        </p:txBody>
      </p:sp>
      <p:sp>
        <p:nvSpPr>
          <p:cNvPr id="10" name="Shape 8"/>
          <p:cNvSpPr/>
          <p:nvPr/>
        </p:nvSpPr>
        <p:spPr>
          <a:xfrm>
            <a:off x="731520" y="1463040"/>
            <a:ext cx="1005840" cy="36576"/>
          </a:xfrm>
          <a:prstGeom prst="rect">
            <a:avLst/>
          </a:prstGeom>
          <a:solidFill>
            <a:srgbClr val="C0392B"/>
          </a:solidFill>
          <a:ln/>
        </p:spPr>
        <p:txBody>
          <a:bodyPr/>
          <a:lstStyle/>
          <a:p>
            <a:endParaRPr lang="fr-FR"/>
          </a:p>
        </p:txBody>
      </p:sp>
      <p:sp>
        <p:nvSpPr>
          <p:cNvPr id="11" name="Text 9"/>
          <p:cNvSpPr/>
          <p:nvPr/>
        </p:nvSpPr>
        <p:spPr>
          <a:xfrm>
            <a:off x="2478024" y="1188720"/>
            <a:ext cx="1828800" cy="274320"/>
          </a:xfrm>
          <a:prstGeom prst="rect">
            <a:avLst/>
          </a:prstGeom>
          <a:noFill/>
          <a:ln/>
        </p:spPr>
        <p:txBody>
          <a:bodyPr wrap="square" rtlCol="0" anchor="ctr"/>
          <a:lstStyle/>
          <a:p>
            <a:pPr marL="0" indent="0" algn="ctr">
              <a:buNone/>
            </a:pPr>
            <a:r>
              <a:rPr lang="en-US" sz="800" b="1" kern="0" spc="100" dirty="0">
                <a:solidFill>
                  <a:srgbClr val="E74C3C"/>
                </a:solidFill>
                <a:latin typeface="Calibri" pitchFamily="34" charset="0"/>
                <a:ea typeface="Calibri" pitchFamily="34" charset="-122"/>
                <a:cs typeface="Calibri" pitchFamily="34" charset="-120"/>
              </a:rPr>
              <a:t>GATEWAY / BFF</a:t>
            </a:r>
            <a:endParaRPr lang="en-US" sz="800" dirty="0"/>
          </a:p>
        </p:txBody>
      </p:sp>
      <p:sp>
        <p:nvSpPr>
          <p:cNvPr id="12" name="Shape 10"/>
          <p:cNvSpPr/>
          <p:nvPr/>
        </p:nvSpPr>
        <p:spPr>
          <a:xfrm>
            <a:off x="2889504" y="1463040"/>
            <a:ext cx="1005840" cy="36576"/>
          </a:xfrm>
          <a:prstGeom prst="rect">
            <a:avLst/>
          </a:prstGeom>
          <a:solidFill>
            <a:srgbClr val="C0392B"/>
          </a:solidFill>
          <a:ln/>
        </p:spPr>
        <p:txBody>
          <a:bodyPr/>
          <a:lstStyle/>
          <a:p>
            <a:endParaRPr lang="fr-FR"/>
          </a:p>
        </p:txBody>
      </p:sp>
      <p:sp>
        <p:nvSpPr>
          <p:cNvPr id="13" name="Text 11"/>
          <p:cNvSpPr/>
          <p:nvPr/>
        </p:nvSpPr>
        <p:spPr>
          <a:xfrm>
            <a:off x="4636008" y="1188720"/>
            <a:ext cx="1828800" cy="274320"/>
          </a:xfrm>
          <a:prstGeom prst="rect">
            <a:avLst/>
          </a:prstGeom>
          <a:noFill/>
          <a:ln/>
        </p:spPr>
        <p:txBody>
          <a:bodyPr wrap="square" rtlCol="0" anchor="ctr"/>
          <a:lstStyle/>
          <a:p>
            <a:pPr marL="0" indent="0" algn="ctr">
              <a:buNone/>
            </a:pPr>
            <a:r>
              <a:rPr lang="en-US" sz="800" b="1" kern="0" spc="100" dirty="0">
                <a:solidFill>
                  <a:srgbClr val="E74C3C"/>
                </a:solidFill>
                <a:latin typeface="Calibri" pitchFamily="34" charset="0"/>
                <a:ea typeface="Calibri" pitchFamily="34" charset="-122"/>
                <a:cs typeface="Calibri" pitchFamily="34" charset="-120"/>
              </a:rPr>
              <a:t>SERVICES</a:t>
            </a:r>
            <a:endParaRPr lang="en-US" sz="800" dirty="0"/>
          </a:p>
        </p:txBody>
      </p:sp>
      <p:sp>
        <p:nvSpPr>
          <p:cNvPr id="14" name="Shape 12"/>
          <p:cNvSpPr/>
          <p:nvPr/>
        </p:nvSpPr>
        <p:spPr>
          <a:xfrm>
            <a:off x="5047488" y="1463040"/>
            <a:ext cx="1005840" cy="36576"/>
          </a:xfrm>
          <a:prstGeom prst="rect">
            <a:avLst/>
          </a:prstGeom>
          <a:solidFill>
            <a:srgbClr val="C0392B"/>
          </a:solidFill>
          <a:ln/>
        </p:spPr>
        <p:txBody>
          <a:bodyPr/>
          <a:lstStyle/>
          <a:p>
            <a:endParaRPr lang="fr-FR"/>
          </a:p>
        </p:txBody>
      </p:sp>
      <p:sp>
        <p:nvSpPr>
          <p:cNvPr id="15" name="Text 13"/>
          <p:cNvSpPr/>
          <p:nvPr/>
        </p:nvSpPr>
        <p:spPr>
          <a:xfrm>
            <a:off x="6793992" y="1188720"/>
            <a:ext cx="1828800" cy="274320"/>
          </a:xfrm>
          <a:prstGeom prst="rect">
            <a:avLst/>
          </a:prstGeom>
          <a:noFill/>
          <a:ln/>
        </p:spPr>
        <p:txBody>
          <a:bodyPr wrap="square" rtlCol="0" anchor="ctr"/>
          <a:lstStyle/>
          <a:p>
            <a:pPr marL="0" indent="0" algn="ctr">
              <a:buNone/>
            </a:pPr>
            <a:r>
              <a:rPr lang="en-US" sz="800" b="1" kern="0" spc="100" dirty="0">
                <a:solidFill>
                  <a:srgbClr val="E74C3C"/>
                </a:solidFill>
                <a:latin typeface="Calibri" pitchFamily="34" charset="0"/>
                <a:ea typeface="Calibri" pitchFamily="34" charset="-122"/>
                <a:cs typeface="Calibri" pitchFamily="34" charset="-120"/>
              </a:rPr>
              <a:t>APPLICATION</a:t>
            </a:r>
            <a:endParaRPr lang="en-US" sz="800" dirty="0"/>
          </a:p>
        </p:txBody>
      </p:sp>
      <p:sp>
        <p:nvSpPr>
          <p:cNvPr id="16" name="Shape 14"/>
          <p:cNvSpPr/>
          <p:nvPr/>
        </p:nvSpPr>
        <p:spPr>
          <a:xfrm>
            <a:off x="7205472" y="1463040"/>
            <a:ext cx="1005840" cy="36576"/>
          </a:xfrm>
          <a:prstGeom prst="rect">
            <a:avLst/>
          </a:prstGeom>
          <a:solidFill>
            <a:srgbClr val="C0392B"/>
          </a:solidFill>
          <a:ln/>
        </p:spPr>
        <p:txBody>
          <a:bodyPr/>
          <a:lstStyle/>
          <a:p>
            <a:endParaRPr lang="fr-FR"/>
          </a:p>
        </p:txBody>
      </p:sp>
      <p:sp>
        <p:nvSpPr>
          <p:cNvPr id="17" name="Text 15"/>
          <p:cNvSpPr/>
          <p:nvPr/>
        </p:nvSpPr>
        <p:spPr>
          <a:xfrm>
            <a:off x="8951976" y="1188720"/>
            <a:ext cx="2962656" cy="274320"/>
          </a:xfrm>
          <a:prstGeom prst="rect">
            <a:avLst/>
          </a:prstGeom>
          <a:noFill/>
          <a:ln/>
        </p:spPr>
        <p:txBody>
          <a:bodyPr wrap="square" rtlCol="0" anchor="ctr"/>
          <a:lstStyle/>
          <a:p>
            <a:pPr marL="0" indent="0" algn="ctr">
              <a:buNone/>
            </a:pPr>
            <a:r>
              <a:rPr lang="en-US" sz="800" b="1" kern="0" spc="100" dirty="0">
                <a:solidFill>
                  <a:srgbClr val="E74C3C"/>
                </a:solidFill>
                <a:latin typeface="Calibri" pitchFamily="34" charset="0"/>
                <a:ea typeface="Calibri" pitchFamily="34" charset="-122"/>
                <a:cs typeface="Calibri" pitchFamily="34" charset="-120"/>
              </a:rPr>
              <a:t>INFRASTRUCTURE</a:t>
            </a:r>
            <a:endParaRPr lang="en-US" sz="800" dirty="0"/>
          </a:p>
        </p:txBody>
      </p:sp>
      <p:sp>
        <p:nvSpPr>
          <p:cNvPr id="18" name="Shape 16"/>
          <p:cNvSpPr/>
          <p:nvPr/>
        </p:nvSpPr>
        <p:spPr>
          <a:xfrm>
            <a:off x="9930384" y="1463040"/>
            <a:ext cx="1005840" cy="36576"/>
          </a:xfrm>
          <a:prstGeom prst="rect">
            <a:avLst/>
          </a:prstGeom>
          <a:solidFill>
            <a:srgbClr val="C0392B"/>
          </a:solidFill>
          <a:ln/>
        </p:spPr>
        <p:txBody>
          <a:bodyPr/>
          <a:lstStyle/>
          <a:p>
            <a:endParaRPr lang="fr-FR"/>
          </a:p>
        </p:txBody>
      </p:sp>
      <p:sp>
        <p:nvSpPr>
          <p:cNvPr id="19" name="Shape 17"/>
          <p:cNvSpPr/>
          <p:nvPr/>
        </p:nvSpPr>
        <p:spPr>
          <a:xfrm>
            <a:off x="320040" y="2011680"/>
            <a:ext cx="1828800" cy="731520"/>
          </a:xfrm>
          <a:prstGeom prst="rect">
            <a:avLst/>
          </a:prstGeom>
          <a:solidFill>
            <a:srgbClr val="F5F5F5"/>
          </a:solidFill>
          <a:ln w="19050">
            <a:solidFill>
              <a:srgbClr val="C0392B"/>
            </a:solidFill>
            <a:prstDash val="solid"/>
          </a:ln>
        </p:spPr>
        <p:txBody>
          <a:bodyPr/>
          <a:lstStyle/>
          <a:p>
            <a:endParaRPr lang="fr-FR"/>
          </a:p>
        </p:txBody>
      </p:sp>
      <p:sp>
        <p:nvSpPr>
          <p:cNvPr id="20" name="Text 18"/>
          <p:cNvSpPr/>
          <p:nvPr/>
        </p:nvSpPr>
        <p:spPr>
          <a:xfrm>
            <a:off x="320040" y="2011680"/>
            <a:ext cx="1828800" cy="731520"/>
          </a:xfrm>
          <a:prstGeom prst="rect">
            <a:avLst/>
          </a:prstGeom>
          <a:noFill/>
          <a:ln/>
        </p:spPr>
        <p:txBody>
          <a:bodyPr wrap="square" rtlCol="0" anchor="ctr"/>
          <a:lstStyle/>
          <a:p>
            <a:pPr marL="0" indent="0" algn="ctr">
              <a:buNone/>
            </a:pPr>
            <a:r>
              <a:rPr lang="en-US" sz="900" b="1" dirty="0">
                <a:solidFill>
                  <a:srgbClr val="1A1A1A"/>
                </a:solidFill>
                <a:latin typeface="Calibri" pitchFamily="34" charset="0"/>
                <a:ea typeface="Calibri" pitchFamily="34" charset="-122"/>
                <a:cs typeface="Calibri" pitchFamily="34" charset="-120"/>
              </a:rPr>
              <a:t>CLIENT</a:t>
            </a:r>
            <a:endParaRPr lang="en-US" sz="900" dirty="0"/>
          </a:p>
          <a:p>
            <a:pPr marL="0" indent="0" algn="ctr">
              <a:buNone/>
            </a:pPr>
            <a:r>
              <a:rPr lang="en-US" sz="900" b="1" dirty="0">
                <a:solidFill>
                  <a:srgbClr val="1A1A1A"/>
                </a:solidFill>
                <a:latin typeface="Calibri" pitchFamily="34" charset="0"/>
                <a:ea typeface="Calibri" pitchFamily="34" charset="-122"/>
                <a:cs typeface="Calibri" pitchFamily="34" charset="-120"/>
              </a:rPr>
              <a:t>(Navigateur)</a:t>
            </a:r>
            <a:endParaRPr lang="en-US" sz="900" dirty="0"/>
          </a:p>
        </p:txBody>
      </p:sp>
      <p:sp>
        <p:nvSpPr>
          <p:cNvPr id="21" name="Shape 19"/>
          <p:cNvSpPr/>
          <p:nvPr/>
        </p:nvSpPr>
        <p:spPr>
          <a:xfrm>
            <a:off x="320040" y="2971800"/>
            <a:ext cx="1828800" cy="731520"/>
          </a:xfrm>
          <a:prstGeom prst="rect">
            <a:avLst/>
          </a:prstGeom>
          <a:solidFill>
            <a:srgbClr val="F5F5F5"/>
          </a:solidFill>
          <a:ln w="19050">
            <a:solidFill>
              <a:srgbClr val="C0392B"/>
            </a:solidFill>
            <a:prstDash val="solid"/>
          </a:ln>
        </p:spPr>
        <p:txBody>
          <a:bodyPr/>
          <a:lstStyle/>
          <a:p>
            <a:endParaRPr lang="fr-FR"/>
          </a:p>
        </p:txBody>
      </p:sp>
      <p:sp>
        <p:nvSpPr>
          <p:cNvPr id="22" name="Text 20"/>
          <p:cNvSpPr/>
          <p:nvPr/>
        </p:nvSpPr>
        <p:spPr>
          <a:xfrm>
            <a:off x="320040" y="2971800"/>
            <a:ext cx="1828800" cy="731520"/>
          </a:xfrm>
          <a:prstGeom prst="rect">
            <a:avLst/>
          </a:prstGeom>
          <a:noFill/>
          <a:ln/>
        </p:spPr>
        <p:txBody>
          <a:bodyPr wrap="square" rtlCol="0" anchor="ctr"/>
          <a:lstStyle/>
          <a:p>
            <a:pPr marL="0" indent="0" algn="ctr">
              <a:buNone/>
            </a:pPr>
            <a:r>
              <a:rPr lang="en-US" sz="900" dirty="0" err="1">
                <a:solidFill>
                  <a:srgbClr val="E74C3C"/>
                </a:solidFill>
                <a:latin typeface="Calibri" pitchFamily="34" charset="0"/>
                <a:ea typeface="Calibri" pitchFamily="34" charset="-122"/>
                <a:cs typeface="Calibri" pitchFamily="34" charset="-120"/>
              </a:rPr>
              <a:t>Keycloak</a:t>
            </a:r>
            <a:endParaRPr lang="en-US" sz="900" dirty="0">
              <a:solidFill>
                <a:srgbClr val="E74C3C"/>
              </a:solidFill>
              <a:latin typeface="Calibri" pitchFamily="34" charset="0"/>
              <a:ea typeface="Calibri" pitchFamily="34" charset="-122"/>
              <a:cs typeface="Calibri" pitchFamily="34" charset="-120"/>
            </a:endParaRPr>
          </a:p>
          <a:p>
            <a:pPr marL="0" indent="0" algn="ctr">
              <a:buNone/>
            </a:pPr>
            <a:r>
              <a:rPr lang="en-US" sz="900" dirty="0">
                <a:solidFill>
                  <a:srgbClr val="E74C3C"/>
                </a:solidFill>
                <a:latin typeface="Calibri" pitchFamily="34" charset="0"/>
                <a:ea typeface="Calibri" pitchFamily="34" charset="-122"/>
                <a:cs typeface="Calibri" pitchFamily="34" charset="-120"/>
              </a:rPr>
              <a:t>(</a:t>
            </a:r>
            <a:r>
              <a:rPr lang="en-US" sz="900" dirty="0" err="1">
                <a:solidFill>
                  <a:srgbClr val="E74C3C"/>
                </a:solidFill>
                <a:latin typeface="Calibri" pitchFamily="34" charset="0"/>
                <a:ea typeface="Calibri" pitchFamily="34" charset="-122"/>
                <a:cs typeface="Calibri" pitchFamily="34" charset="-120"/>
              </a:rPr>
              <a:t>Authentification</a:t>
            </a:r>
            <a:r>
              <a:rPr lang="en-US" sz="900" dirty="0">
                <a:solidFill>
                  <a:srgbClr val="E74C3C"/>
                </a:solidFill>
                <a:latin typeface="Calibri" pitchFamily="34" charset="0"/>
                <a:ea typeface="Calibri" pitchFamily="34" charset="-122"/>
                <a:cs typeface="Calibri" pitchFamily="34" charset="-120"/>
              </a:rPr>
              <a:t>)</a:t>
            </a:r>
            <a:endParaRPr lang="en-US" sz="900" dirty="0"/>
          </a:p>
        </p:txBody>
      </p:sp>
      <p:sp>
        <p:nvSpPr>
          <p:cNvPr id="23" name="Shape 21"/>
          <p:cNvSpPr/>
          <p:nvPr/>
        </p:nvSpPr>
        <p:spPr>
          <a:xfrm>
            <a:off x="2478024" y="1920240"/>
            <a:ext cx="1828800" cy="1920240"/>
          </a:xfrm>
          <a:prstGeom prst="rect">
            <a:avLst/>
          </a:prstGeom>
          <a:solidFill>
            <a:srgbClr val="F5F5F5"/>
          </a:solidFill>
          <a:ln w="19050">
            <a:solidFill>
              <a:srgbClr val="C0392B"/>
            </a:solidFill>
            <a:prstDash val="solid"/>
          </a:ln>
        </p:spPr>
        <p:txBody>
          <a:bodyPr/>
          <a:lstStyle/>
          <a:p>
            <a:endParaRPr lang="fr-FR"/>
          </a:p>
        </p:txBody>
      </p:sp>
      <p:sp>
        <p:nvSpPr>
          <p:cNvPr id="24" name="Text 22"/>
          <p:cNvSpPr/>
          <p:nvPr/>
        </p:nvSpPr>
        <p:spPr>
          <a:xfrm>
            <a:off x="2478024" y="1920240"/>
            <a:ext cx="1828800" cy="1920240"/>
          </a:xfrm>
          <a:prstGeom prst="rect">
            <a:avLst/>
          </a:prstGeom>
          <a:noFill/>
          <a:ln/>
        </p:spPr>
        <p:txBody>
          <a:bodyPr wrap="square" rtlCol="0" anchor="ctr"/>
          <a:lstStyle/>
          <a:p>
            <a:pPr marL="0" indent="0" algn="ctr">
              <a:buNone/>
            </a:pPr>
            <a:r>
              <a:rPr lang="en-US" sz="900" dirty="0">
                <a:solidFill>
                  <a:srgbClr val="F39C12"/>
                </a:solidFill>
                <a:latin typeface="Calibri" pitchFamily="34" charset="0"/>
                <a:ea typeface="Calibri" pitchFamily="34" charset="-122"/>
                <a:cs typeface="Calibri" pitchFamily="34" charset="-120"/>
              </a:rPr>
              <a:t>API Gateway / BFF</a:t>
            </a:r>
            <a:endParaRPr lang="en-US" sz="900" dirty="0"/>
          </a:p>
          <a:p>
            <a:pPr marL="0" indent="0" algn="ctr">
              <a:buNone/>
            </a:pPr>
            <a:r>
              <a:rPr lang="en-US" sz="900" dirty="0">
                <a:solidFill>
                  <a:srgbClr val="F39C12"/>
                </a:solidFill>
                <a:latin typeface="Calibri" pitchFamily="34" charset="0"/>
                <a:ea typeface="Calibri" pitchFamily="34" charset="-122"/>
                <a:cs typeface="Calibri" pitchFamily="34" charset="-120"/>
              </a:rPr>
              <a:t>Cache filesystem 60s</a:t>
            </a:r>
            <a:endParaRPr lang="en-US" sz="900" dirty="0"/>
          </a:p>
          <a:p>
            <a:pPr marL="0" indent="0" algn="ctr">
              <a:buNone/>
            </a:pPr>
            <a:r>
              <a:rPr lang="en-US" sz="900" dirty="0">
                <a:solidFill>
                  <a:srgbClr val="F39C12"/>
                </a:solidFill>
                <a:latin typeface="Calibri" pitchFamily="34" charset="0"/>
                <a:ea typeface="Calibri" pitchFamily="34" charset="-122"/>
                <a:cs typeface="Calibri" pitchFamily="34" charset="-120"/>
              </a:rPr>
              <a:t>206 si service KO</a:t>
            </a:r>
            <a:endParaRPr lang="en-US" sz="900" dirty="0"/>
          </a:p>
        </p:txBody>
      </p:sp>
      <p:sp>
        <p:nvSpPr>
          <p:cNvPr id="25" name="Shape 23"/>
          <p:cNvSpPr/>
          <p:nvPr/>
        </p:nvSpPr>
        <p:spPr>
          <a:xfrm>
            <a:off x="4636008" y="2011680"/>
            <a:ext cx="1828800" cy="777240"/>
          </a:xfrm>
          <a:prstGeom prst="rect">
            <a:avLst/>
          </a:prstGeom>
          <a:solidFill>
            <a:srgbClr val="F5F5F5"/>
          </a:solidFill>
          <a:ln w="19050">
            <a:solidFill>
              <a:srgbClr val="C0392B"/>
            </a:solidFill>
            <a:prstDash val="solid"/>
          </a:ln>
        </p:spPr>
        <p:txBody>
          <a:bodyPr/>
          <a:lstStyle/>
          <a:p>
            <a:endParaRPr lang="fr-FR"/>
          </a:p>
        </p:txBody>
      </p:sp>
      <p:sp>
        <p:nvSpPr>
          <p:cNvPr id="26" name="Text 24"/>
          <p:cNvSpPr/>
          <p:nvPr/>
        </p:nvSpPr>
        <p:spPr>
          <a:xfrm>
            <a:off x="4636008" y="2011680"/>
            <a:ext cx="1828800" cy="777240"/>
          </a:xfrm>
          <a:prstGeom prst="rect">
            <a:avLst/>
          </a:prstGeom>
          <a:noFill/>
          <a:ln/>
        </p:spPr>
        <p:txBody>
          <a:bodyPr wrap="square" rtlCol="0" anchor="ctr"/>
          <a:lstStyle/>
          <a:p>
            <a:pPr marL="0" indent="0" algn="ctr">
              <a:buNone/>
            </a:pPr>
            <a:r>
              <a:rPr lang="en-US" sz="900" dirty="0">
                <a:solidFill>
                  <a:srgbClr val="1A1A1A"/>
                </a:solidFill>
                <a:latin typeface="Calibri" pitchFamily="34" charset="0"/>
                <a:ea typeface="Calibri" pitchFamily="34" charset="-122"/>
                <a:cs typeface="Calibri" pitchFamily="34" charset="-120"/>
              </a:rPr>
              <a:t>UserService</a:t>
            </a:r>
            <a:endParaRPr lang="en-US" sz="900" dirty="0"/>
          </a:p>
          <a:p>
            <a:pPr marL="0" indent="0" algn="ctr">
              <a:buNone/>
            </a:pPr>
            <a:r>
              <a:rPr lang="en-US" sz="900" dirty="0">
                <a:solidFill>
                  <a:srgbClr val="1A1A1A"/>
                </a:solidFill>
                <a:latin typeface="Calibri" pitchFamily="34" charset="0"/>
                <a:ea typeface="Calibri" pitchFamily="34" charset="-122"/>
                <a:cs typeface="Calibri" pitchFamily="34" charset="-120"/>
              </a:rPr>
              <a:t>/internal/users</a:t>
            </a:r>
            <a:endParaRPr lang="en-US" sz="900" dirty="0"/>
          </a:p>
        </p:txBody>
      </p:sp>
      <p:sp>
        <p:nvSpPr>
          <p:cNvPr id="27" name="Shape 25"/>
          <p:cNvSpPr/>
          <p:nvPr/>
        </p:nvSpPr>
        <p:spPr>
          <a:xfrm>
            <a:off x="4636008" y="3017520"/>
            <a:ext cx="1828800" cy="777240"/>
          </a:xfrm>
          <a:prstGeom prst="rect">
            <a:avLst/>
          </a:prstGeom>
          <a:solidFill>
            <a:srgbClr val="F5F5F5"/>
          </a:solidFill>
          <a:ln w="19050">
            <a:solidFill>
              <a:srgbClr val="C0392B"/>
            </a:solidFill>
            <a:prstDash val="solid"/>
          </a:ln>
        </p:spPr>
        <p:txBody>
          <a:bodyPr/>
          <a:lstStyle/>
          <a:p>
            <a:endParaRPr lang="fr-FR"/>
          </a:p>
        </p:txBody>
      </p:sp>
      <p:sp>
        <p:nvSpPr>
          <p:cNvPr id="28" name="Text 26"/>
          <p:cNvSpPr/>
          <p:nvPr/>
        </p:nvSpPr>
        <p:spPr>
          <a:xfrm>
            <a:off x="4636008" y="3017520"/>
            <a:ext cx="1828800" cy="777240"/>
          </a:xfrm>
          <a:prstGeom prst="rect">
            <a:avLst/>
          </a:prstGeom>
          <a:noFill/>
          <a:ln/>
        </p:spPr>
        <p:txBody>
          <a:bodyPr wrap="square" rtlCol="0" anchor="ctr"/>
          <a:lstStyle/>
          <a:p>
            <a:pPr marL="0" indent="0" algn="ctr">
              <a:buNone/>
            </a:pPr>
            <a:r>
              <a:rPr lang="en-US" sz="900" dirty="0">
                <a:solidFill>
                  <a:srgbClr val="1A1A1A"/>
                </a:solidFill>
                <a:latin typeface="Calibri" pitchFamily="34" charset="0"/>
                <a:ea typeface="Calibri" pitchFamily="34" charset="-122"/>
                <a:cs typeface="Calibri" pitchFamily="34" charset="-120"/>
              </a:rPr>
              <a:t>SubscriptionService</a:t>
            </a:r>
            <a:endParaRPr lang="en-US" sz="900" dirty="0"/>
          </a:p>
          <a:p>
            <a:pPr marL="0" indent="0" algn="ctr">
              <a:buNone/>
            </a:pPr>
            <a:r>
              <a:rPr lang="en-US" sz="900" dirty="0">
                <a:solidFill>
                  <a:srgbClr val="1A1A1A"/>
                </a:solidFill>
                <a:latin typeface="Calibri" pitchFamily="34" charset="0"/>
                <a:ea typeface="Calibri" pitchFamily="34" charset="-122"/>
                <a:cs typeface="Calibri" pitchFamily="34" charset="-120"/>
              </a:rPr>
              <a:t>/internal/subscriptions</a:t>
            </a:r>
            <a:endParaRPr lang="en-US" sz="900" dirty="0"/>
          </a:p>
        </p:txBody>
      </p:sp>
      <p:sp>
        <p:nvSpPr>
          <p:cNvPr id="29" name="Shape 27"/>
          <p:cNvSpPr/>
          <p:nvPr/>
        </p:nvSpPr>
        <p:spPr>
          <a:xfrm>
            <a:off x="6793992" y="1920240"/>
            <a:ext cx="1828800" cy="1920240"/>
          </a:xfrm>
          <a:prstGeom prst="rect">
            <a:avLst/>
          </a:prstGeom>
          <a:solidFill>
            <a:srgbClr val="F5F5F5"/>
          </a:solidFill>
          <a:ln w="19050">
            <a:solidFill>
              <a:srgbClr val="C0392B"/>
            </a:solidFill>
            <a:prstDash val="solid"/>
          </a:ln>
        </p:spPr>
        <p:txBody>
          <a:bodyPr/>
          <a:lstStyle/>
          <a:p>
            <a:endParaRPr lang="fr-FR"/>
          </a:p>
        </p:txBody>
      </p:sp>
      <p:sp>
        <p:nvSpPr>
          <p:cNvPr id="30" name="Text 28"/>
          <p:cNvSpPr/>
          <p:nvPr/>
        </p:nvSpPr>
        <p:spPr>
          <a:xfrm>
            <a:off x="6793992" y="1920240"/>
            <a:ext cx="1828800" cy="1920240"/>
          </a:xfrm>
          <a:prstGeom prst="rect">
            <a:avLst/>
          </a:prstGeom>
          <a:noFill/>
          <a:ln/>
        </p:spPr>
        <p:txBody>
          <a:bodyPr wrap="square" rtlCol="0" anchor="ctr"/>
          <a:lstStyle/>
          <a:p>
            <a:pPr marL="0" indent="0" algn="ctr">
              <a:buNone/>
            </a:pPr>
            <a:r>
              <a:rPr lang="en-US" sz="900" dirty="0">
                <a:solidFill>
                  <a:srgbClr val="1A1A1A"/>
                </a:solidFill>
                <a:latin typeface="Calibri" pitchFamily="34" charset="0"/>
                <a:ea typeface="Calibri" pitchFamily="34" charset="-122"/>
                <a:cs typeface="Calibri" pitchFamily="34" charset="-120"/>
              </a:rPr>
              <a:t>Symfony 6.4 / PHP 8.2</a:t>
            </a:r>
            <a:endParaRPr lang="en-US" sz="900" dirty="0"/>
          </a:p>
          <a:p>
            <a:pPr marL="0" indent="0" algn="ctr">
              <a:buNone/>
            </a:pPr>
            <a:endParaRPr lang="en-US" sz="900" dirty="0"/>
          </a:p>
          <a:p>
            <a:pPr marL="0" indent="0" algn="ctr">
              <a:buNone/>
            </a:pPr>
            <a:r>
              <a:rPr lang="en-US" sz="900" dirty="0">
                <a:solidFill>
                  <a:srgbClr val="1A1A1A"/>
                </a:solidFill>
                <a:latin typeface="Calibri" pitchFamily="34" charset="0"/>
                <a:ea typeface="Calibri" pitchFamily="34" charset="-122"/>
                <a:cs typeface="Calibri" pitchFamily="34" charset="-120"/>
              </a:rPr>
              <a:t>Controllers</a:t>
            </a:r>
            <a:endParaRPr lang="en-US" sz="900" dirty="0"/>
          </a:p>
          <a:p>
            <a:pPr marL="0" indent="0" algn="ctr">
              <a:buNone/>
            </a:pPr>
            <a:r>
              <a:rPr lang="en-US" sz="900" dirty="0">
                <a:solidFill>
                  <a:srgbClr val="1A1A1A"/>
                </a:solidFill>
                <a:latin typeface="Calibri" pitchFamily="34" charset="0"/>
                <a:ea typeface="Calibri" pitchFamily="34" charset="-122"/>
                <a:cs typeface="Calibri" pitchFamily="34" charset="-120"/>
              </a:rPr>
              <a:t>Messenger</a:t>
            </a:r>
            <a:endParaRPr lang="en-US" sz="900" dirty="0"/>
          </a:p>
          <a:p>
            <a:pPr marL="0" indent="0" algn="ctr">
              <a:buNone/>
            </a:pPr>
            <a:r>
              <a:rPr lang="en-US" sz="900" dirty="0">
                <a:solidFill>
                  <a:srgbClr val="1A1A1A"/>
                </a:solidFill>
                <a:latin typeface="Calibri" pitchFamily="34" charset="0"/>
                <a:ea typeface="Calibri" pitchFamily="34" charset="-122"/>
                <a:cs typeface="Calibri" pitchFamily="34" charset="-120"/>
              </a:rPr>
              <a:t>Security</a:t>
            </a:r>
            <a:endParaRPr lang="en-US" sz="900" dirty="0"/>
          </a:p>
        </p:txBody>
      </p:sp>
      <p:sp>
        <p:nvSpPr>
          <p:cNvPr id="31" name="Shape 29"/>
          <p:cNvSpPr/>
          <p:nvPr/>
        </p:nvSpPr>
        <p:spPr>
          <a:xfrm>
            <a:off x="8951976" y="1920240"/>
            <a:ext cx="2962656" cy="685800"/>
          </a:xfrm>
          <a:prstGeom prst="rect">
            <a:avLst/>
          </a:prstGeom>
          <a:solidFill>
            <a:srgbClr val="F5F5F5"/>
          </a:solidFill>
          <a:ln w="19050">
            <a:solidFill>
              <a:srgbClr val="C0392B"/>
            </a:solidFill>
            <a:prstDash val="solid"/>
          </a:ln>
        </p:spPr>
        <p:txBody>
          <a:bodyPr/>
          <a:lstStyle/>
          <a:p>
            <a:endParaRPr lang="fr-FR"/>
          </a:p>
        </p:txBody>
      </p:sp>
      <p:sp>
        <p:nvSpPr>
          <p:cNvPr id="32" name="Text 30"/>
          <p:cNvSpPr/>
          <p:nvPr/>
        </p:nvSpPr>
        <p:spPr>
          <a:xfrm>
            <a:off x="8951976" y="1920240"/>
            <a:ext cx="2962656" cy="685800"/>
          </a:xfrm>
          <a:prstGeom prst="rect">
            <a:avLst/>
          </a:prstGeom>
          <a:noFill/>
          <a:ln/>
        </p:spPr>
        <p:txBody>
          <a:bodyPr wrap="square" rtlCol="0" anchor="ctr"/>
          <a:lstStyle/>
          <a:p>
            <a:pPr marL="0" indent="0" algn="ctr">
              <a:buNone/>
            </a:pPr>
            <a:r>
              <a:rPr lang="en-US" sz="900" dirty="0">
                <a:solidFill>
                  <a:srgbClr val="555555"/>
                </a:solidFill>
                <a:latin typeface="Calibri" pitchFamily="34" charset="0"/>
                <a:ea typeface="Calibri" pitchFamily="34" charset="-122"/>
                <a:cs typeface="Calibri" pitchFamily="34" charset="-120"/>
              </a:rPr>
              <a:t>PostgreSQL · Doctrine</a:t>
            </a:r>
            <a:endParaRPr lang="en-US" sz="900" dirty="0"/>
          </a:p>
        </p:txBody>
      </p:sp>
      <p:sp>
        <p:nvSpPr>
          <p:cNvPr id="33" name="Shape 31"/>
          <p:cNvSpPr/>
          <p:nvPr/>
        </p:nvSpPr>
        <p:spPr>
          <a:xfrm>
            <a:off x="8951976" y="2834640"/>
            <a:ext cx="2962656" cy="685800"/>
          </a:xfrm>
          <a:prstGeom prst="rect">
            <a:avLst/>
          </a:prstGeom>
          <a:solidFill>
            <a:srgbClr val="F5F5F5"/>
          </a:solidFill>
          <a:ln w="19050">
            <a:solidFill>
              <a:srgbClr val="C0392B"/>
            </a:solidFill>
            <a:prstDash val="solid"/>
          </a:ln>
        </p:spPr>
        <p:txBody>
          <a:bodyPr/>
          <a:lstStyle/>
          <a:p>
            <a:endParaRPr lang="fr-FR"/>
          </a:p>
        </p:txBody>
      </p:sp>
      <p:sp>
        <p:nvSpPr>
          <p:cNvPr id="34" name="Text 32"/>
          <p:cNvSpPr/>
          <p:nvPr/>
        </p:nvSpPr>
        <p:spPr>
          <a:xfrm>
            <a:off x="8951976" y="2834640"/>
            <a:ext cx="2962656" cy="685800"/>
          </a:xfrm>
          <a:prstGeom prst="rect">
            <a:avLst/>
          </a:prstGeom>
          <a:noFill/>
          <a:ln/>
        </p:spPr>
        <p:txBody>
          <a:bodyPr wrap="square" rtlCol="0" anchor="ctr"/>
          <a:lstStyle/>
          <a:p>
            <a:pPr marL="0" indent="0" algn="ctr">
              <a:buNone/>
            </a:pPr>
            <a:r>
              <a:rPr lang="en-US" sz="900" dirty="0">
                <a:solidFill>
                  <a:srgbClr val="555555"/>
                </a:solidFill>
                <a:latin typeface="Calibri" pitchFamily="34" charset="0"/>
                <a:ea typeface="Calibri" pitchFamily="34" charset="-122"/>
                <a:cs typeface="Calibri" pitchFamily="34" charset="-120"/>
              </a:rPr>
              <a:t>Messenger · sync:// (AMQP en v2)</a:t>
            </a:r>
            <a:endParaRPr lang="en-US" sz="900" dirty="0"/>
          </a:p>
        </p:txBody>
      </p:sp>
      <p:sp>
        <p:nvSpPr>
          <p:cNvPr id="35" name="Shape 33"/>
          <p:cNvSpPr/>
          <p:nvPr/>
        </p:nvSpPr>
        <p:spPr>
          <a:xfrm>
            <a:off x="8951976" y="3749040"/>
            <a:ext cx="2962656" cy="685800"/>
          </a:xfrm>
          <a:prstGeom prst="rect">
            <a:avLst/>
          </a:prstGeom>
          <a:solidFill>
            <a:srgbClr val="F5F5F5"/>
          </a:solidFill>
          <a:ln w="19050">
            <a:solidFill>
              <a:srgbClr val="C0392B"/>
            </a:solidFill>
            <a:prstDash val="solid"/>
          </a:ln>
        </p:spPr>
        <p:txBody>
          <a:bodyPr/>
          <a:lstStyle/>
          <a:p>
            <a:endParaRPr lang="fr-FR"/>
          </a:p>
        </p:txBody>
      </p:sp>
      <p:sp>
        <p:nvSpPr>
          <p:cNvPr id="36" name="Text 34"/>
          <p:cNvSpPr/>
          <p:nvPr/>
        </p:nvSpPr>
        <p:spPr>
          <a:xfrm>
            <a:off x="8951976" y="3749040"/>
            <a:ext cx="2962656" cy="685800"/>
          </a:xfrm>
          <a:prstGeom prst="rect">
            <a:avLst/>
          </a:prstGeom>
          <a:noFill/>
          <a:ln/>
        </p:spPr>
        <p:txBody>
          <a:bodyPr wrap="square" rtlCol="0" anchor="ctr"/>
          <a:lstStyle/>
          <a:p>
            <a:pPr marL="0" indent="0" algn="ctr">
              <a:buNone/>
            </a:pPr>
            <a:r>
              <a:rPr lang="en-US" sz="900" dirty="0">
                <a:solidFill>
                  <a:srgbClr val="555555"/>
                </a:solidFill>
                <a:latin typeface="Calibri" pitchFamily="34" charset="0"/>
                <a:ea typeface="Calibri" pitchFamily="34" charset="-122"/>
                <a:cs typeface="Calibri" pitchFamily="34" charset="-120"/>
              </a:rPr>
              <a:t>Monolog · Logs JSON</a:t>
            </a:r>
            <a:endParaRPr lang="en-US" sz="900" dirty="0"/>
          </a:p>
        </p:txBody>
      </p:sp>
      <p:sp>
        <p:nvSpPr>
          <p:cNvPr id="37" name="Text 35"/>
          <p:cNvSpPr/>
          <p:nvPr/>
        </p:nvSpPr>
        <p:spPr>
          <a:xfrm>
            <a:off x="2157984" y="2624328"/>
            <a:ext cx="310896" cy="329184"/>
          </a:xfrm>
          <a:prstGeom prst="rect">
            <a:avLst/>
          </a:prstGeom>
          <a:noFill/>
          <a:ln/>
        </p:spPr>
        <p:txBody>
          <a:bodyPr wrap="square" rtlCol="0" anchor="ctr"/>
          <a:lstStyle/>
          <a:p>
            <a:pPr marL="0" indent="0" algn="ctr">
              <a:buNone/>
            </a:pPr>
            <a:r>
              <a:rPr lang="en-US" sz="1400" b="1" dirty="0">
                <a:solidFill>
                  <a:srgbClr val="C0392B"/>
                </a:solidFill>
                <a:latin typeface="Calibri" pitchFamily="34" charset="0"/>
                <a:ea typeface="Calibri" pitchFamily="34" charset="-122"/>
                <a:cs typeface="Calibri" pitchFamily="34" charset="-120"/>
              </a:rPr>
              <a:t>→</a:t>
            </a:r>
            <a:endParaRPr lang="en-US" sz="1400" dirty="0"/>
          </a:p>
        </p:txBody>
      </p:sp>
      <p:sp>
        <p:nvSpPr>
          <p:cNvPr id="38" name="Text 36"/>
          <p:cNvSpPr/>
          <p:nvPr/>
        </p:nvSpPr>
        <p:spPr>
          <a:xfrm>
            <a:off x="4315968" y="2624328"/>
            <a:ext cx="310896" cy="329184"/>
          </a:xfrm>
          <a:prstGeom prst="rect">
            <a:avLst/>
          </a:prstGeom>
          <a:noFill/>
          <a:ln/>
        </p:spPr>
        <p:txBody>
          <a:bodyPr wrap="square" rtlCol="0" anchor="ctr"/>
          <a:lstStyle/>
          <a:p>
            <a:pPr marL="0" indent="0" algn="ctr">
              <a:buNone/>
            </a:pPr>
            <a:r>
              <a:rPr lang="en-US" sz="1400" b="1" dirty="0">
                <a:solidFill>
                  <a:srgbClr val="C0392B"/>
                </a:solidFill>
                <a:latin typeface="Calibri" pitchFamily="34" charset="0"/>
                <a:ea typeface="Calibri" pitchFamily="34" charset="-122"/>
                <a:cs typeface="Calibri" pitchFamily="34" charset="-120"/>
              </a:rPr>
              <a:t>→</a:t>
            </a:r>
            <a:endParaRPr lang="en-US" sz="1400" dirty="0"/>
          </a:p>
        </p:txBody>
      </p:sp>
      <p:sp>
        <p:nvSpPr>
          <p:cNvPr id="39" name="Text 37"/>
          <p:cNvSpPr/>
          <p:nvPr/>
        </p:nvSpPr>
        <p:spPr>
          <a:xfrm>
            <a:off x="6473952" y="2624328"/>
            <a:ext cx="310896" cy="329184"/>
          </a:xfrm>
          <a:prstGeom prst="rect">
            <a:avLst/>
          </a:prstGeom>
          <a:noFill/>
          <a:ln/>
        </p:spPr>
        <p:txBody>
          <a:bodyPr wrap="square" rtlCol="0" anchor="ctr"/>
          <a:lstStyle/>
          <a:p>
            <a:pPr marL="0" indent="0" algn="ctr">
              <a:buNone/>
            </a:pPr>
            <a:r>
              <a:rPr lang="en-US" sz="1400" b="1" dirty="0">
                <a:solidFill>
                  <a:srgbClr val="C0392B"/>
                </a:solidFill>
                <a:latin typeface="Calibri" pitchFamily="34" charset="0"/>
                <a:ea typeface="Calibri" pitchFamily="34" charset="-122"/>
                <a:cs typeface="Calibri" pitchFamily="34" charset="-120"/>
              </a:rPr>
              <a:t>→</a:t>
            </a:r>
            <a:endParaRPr lang="en-US" sz="1400" dirty="0"/>
          </a:p>
        </p:txBody>
      </p:sp>
      <p:sp>
        <p:nvSpPr>
          <p:cNvPr id="40" name="Text 38"/>
          <p:cNvSpPr/>
          <p:nvPr/>
        </p:nvSpPr>
        <p:spPr>
          <a:xfrm>
            <a:off x="8631936" y="2624328"/>
            <a:ext cx="310896" cy="329184"/>
          </a:xfrm>
          <a:prstGeom prst="rect">
            <a:avLst/>
          </a:prstGeom>
          <a:noFill/>
          <a:ln/>
        </p:spPr>
        <p:txBody>
          <a:bodyPr wrap="square" rtlCol="0" anchor="ctr"/>
          <a:lstStyle/>
          <a:p>
            <a:pPr marL="0" indent="0" algn="ctr">
              <a:buNone/>
            </a:pPr>
            <a:r>
              <a:rPr lang="en-US" sz="1400" b="1" dirty="0">
                <a:solidFill>
                  <a:srgbClr val="C0392B"/>
                </a:solidFill>
                <a:latin typeface="Calibri" pitchFamily="34" charset="0"/>
                <a:ea typeface="Calibri" pitchFamily="34" charset="-122"/>
                <a:cs typeface="Calibri" pitchFamily="34" charset="-120"/>
              </a:rPr>
              <a:t>→</a:t>
            </a:r>
            <a:endParaRPr lang="en-US" sz="1400" dirty="0"/>
          </a:p>
        </p:txBody>
      </p:sp>
    </p:spTree>
    <p:extLst>
      <p:ext uri="{BB962C8B-B14F-4D97-AF65-F5344CB8AC3E}">
        <p14:creationId xmlns:p14="http://schemas.microsoft.com/office/powerpoint/2010/main" val="3166637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txBody>
          <a:bodyPr/>
          <a:lstStyle/>
          <a:p>
            <a:endParaRPr lang="fr-FR"/>
          </a:p>
        </p:txBody>
      </p:sp>
      <p:sp>
        <p:nvSpPr>
          <p:cNvPr id="3" name="Shape 1"/>
          <p:cNvSpPr/>
          <p:nvPr/>
        </p:nvSpPr>
        <p:spPr>
          <a:xfrm>
            <a:off x="0" y="6675120"/>
            <a:ext cx="12192000" cy="182880"/>
          </a:xfrm>
          <a:prstGeom prst="rect">
            <a:avLst/>
          </a:prstGeom>
          <a:solidFill>
            <a:srgbClr val="C0392B"/>
          </a:solidFill>
          <a:ln/>
        </p:spPr>
        <p:txBody>
          <a:bodyPr/>
          <a:lstStyle/>
          <a:p>
            <a:endParaRPr lang="fr-FR"/>
          </a:p>
        </p:txBody>
      </p:sp>
      <p:sp>
        <p:nvSpPr>
          <p:cNvPr id="4" name="Text 2"/>
          <p:cNvSpPr/>
          <p:nvPr/>
        </p:nvSpPr>
        <p:spPr>
          <a:xfrm>
            <a:off x="274320" y="6675120"/>
            <a:ext cx="9601200" cy="182880"/>
          </a:xfrm>
          <a:prstGeom prst="rect">
            <a:avLst/>
          </a:prstGeom>
          <a:noFill/>
          <a:ln/>
        </p:spPr>
        <p:txBody>
          <a:bodyPr wrap="square" rtlCol="0" anchor="ctr"/>
          <a:lstStyle/>
          <a:p>
            <a:pPr marL="0" indent="0">
              <a:buNone/>
            </a:pPr>
            <a:r>
              <a:rPr lang="fr-FR" sz="800" dirty="0">
                <a:solidFill>
                  <a:srgbClr val="FFFFFF"/>
                </a:solidFill>
                <a:latin typeface="Calibri" pitchFamily="34" charset="0"/>
                <a:ea typeface="Calibri" pitchFamily="34" charset="-122"/>
                <a:cs typeface="Calibri" pitchFamily="34" charset="-120"/>
              </a:rPr>
              <a:t>La Petite Maison de l’Épouvante —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marL="0" indent="0" algn="r">
              <a:buNone/>
            </a:pPr>
            <a:r>
              <a:rPr lang="en-US" sz="1800" b="1" dirty="0">
                <a:solidFill>
                  <a:srgbClr val="1A1A1A"/>
                </a:solidFill>
                <a:latin typeface="Calibri" pitchFamily="34" charset="0"/>
                <a:ea typeface="Calibri" pitchFamily="34" charset="-122"/>
                <a:cs typeface="Calibri" pitchFamily="34" charset="-120"/>
              </a:rPr>
              <a:t>12</a:t>
            </a:r>
            <a:endParaRPr lang="en-US" sz="1800" dirty="0"/>
          </a:p>
        </p:txBody>
      </p:sp>
      <p:sp>
        <p:nvSpPr>
          <p:cNvPr id="6" name="Shape 4"/>
          <p:cNvSpPr/>
          <p:nvPr/>
        </p:nvSpPr>
        <p:spPr>
          <a:xfrm>
            <a:off x="365760" y="1051560"/>
            <a:ext cx="2377440" cy="54864"/>
          </a:xfrm>
          <a:prstGeom prst="rect">
            <a:avLst/>
          </a:prstGeom>
          <a:solidFill>
            <a:srgbClr val="C0392B"/>
          </a:solidFill>
          <a:ln/>
        </p:spPr>
        <p:txBody>
          <a:bodyPr/>
          <a:lstStyle/>
          <a:p>
            <a:endParaRPr lang="fr-FR"/>
          </a:p>
        </p:txBody>
      </p:sp>
      <p:sp>
        <p:nvSpPr>
          <p:cNvPr id="7" name="Text 5"/>
          <p:cNvSpPr/>
          <p:nvPr/>
        </p:nvSpPr>
        <p:spPr>
          <a:xfrm>
            <a:off x="365760" y="640080"/>
            <a:ext cx="10972800" cy="548640"/>
          </a:xfrm>
          <a:prstGeom prst="rect">
            <a:avLst/>
          </a:prstGeom>
          <a:noFill/>
          <a:ln/>
        </p:spPr>
        <p:txBody>
          <a:bodyPr wrap="square" rtlCol="0" anchor="ctr"/>
          <a:lstStyle/>
          <a:p>
            <a:pPr marL="0" indent="0">
              <a:buNone/>
            </a:pPr>
            <a:r>
              <a:rPr lang="en-US" sz="1100" b="1" kern="0" spc="200" dirty="0">
                <a:solidFill>
                  <a:srgbClr val="E74C3C"/>
                </a:solidFill>
                <a:latin typeface="Calibri" pitchFamily="34" charset="0"/>
                <a:ea typeface="Calibri" pitchFamily="34" charset="-122"/>
                <a:cs typeface="Calibri" pitchFamily="34" charset="-120"/>
              </a:rPr>
              <a:t>BAC A SABLE — POC &amp; EXPÉRIMENTATION</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marL="0" indent="0">
              <a:buNone/>
            </a:pPr>
            <a:r>
              <a:rPr lang="en-US" sz="3400" b="1" dirty="0">
                <a:solidFill>
                  <a:srgbClr val="1A1A1A"/>
                </a:solidFill>
                <a:latin typeface="Palatino Linotype" pitchFamily="34" charset="0"/>
                <a:ea typeface="Palatino Linotype" pitchFamily="34" charset="-122"/>
                <a:cs typeface="Palatino Linotype" pitchFamily="34" charset="-120"/>
              </a:rPr>
              <a:t>5 technologies validées en POC</a:t>
            </a:r>
            <a:endParaRPr lang="en-US" sz="3400" dirty="0"/>
          </a:p>
          <a:p>
            <a:pPr marL="0" indent="0">
              <a:buNone/>
            </a:pPr>
            <a:r>
              <a:rPr lang="en-US" sz="3400" b="1" dirty="0">
                <a:solidFill>
                  <a:srgbClr val="1A1A1A"/>
                </a:solidFill>
                <a:latin typeface="Palatino Linotype" pitchFamily="34" charset="0"/>
                <a:ea typeface="Palatino Linotype" pitchFamily="34" charset="-122"/>
                <a:cs typeface="Palatino Linotype" pitchFamily="34" charset="-120"/>
              </a:rPr>
              <a:t>avant intégration</a:t>
            </a:r>
            <a:endParaRPr lang="en-US" sz="3400" dirty="0"/>
          </a:p>
        </p:txBody>
      </p:sp>
      <p:sp>
        <p:nvSpPr>
          <p:cNvPr id="9" name="Shape 7"/>
          <p:cNvSpPr/>
          <p:nvPr/>
        </p:nvSpPr>
        <p:spPr>
          <a:xfrm>
            <a:off x="274320" y="2834640"/>
            <a:ext cx="3657600" cy="1463040"/>
          </a:xfrm>
          <a:prstGeom prst="rect">
            <a:avLst/>
          </a:prstGeom>
          <a:solidFill>
            <a:srgbClr val="F5F5F5"/>
          </a:solidFill>
          <a:ln w="19050">
            <a:solidFill>
              <a:srgbClr val="C0392B"/>
            </a:solidFill>
            <a:prstDash val="solid"/>
          </a:ln>
        </p:spPr>
        <p:txBody>
          <a:bodyPr/>
          <a:lstStyle/>
          <a:p>
            <a:endParaRPr lang="fr-FR"/>
          </a:p>
        </p:txBody>
      </p:sp>
      <p:sp>
        <p:nvSpPr>
          <p:cNvPr id="10" name="Text 8"/>
          <p:cNvSpPr/>
          <p:nvPr/>
        </p:nvSpPr>
        <p:spPr>
          <a:xfrm>
            <a:off x="411480" y="2926080"/>
            <a:ext cx="3383280" cy="411480"/>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BFF ApiAggregator</a:t>
            </a:r>
            <a:endParaRPr lang="en-US" sz="1200" dirty="0"/>
          </a:p>
        </p:txBody>
      </p:sp>
      <p:sp>
        <p:nvSpPr>
          <p:cNvPr id="11" name="Text 9"/>
          <p:cNvSpPr/>
          <p:nvPr/>
        </p:nvSpPr>
        <p:spPr>
          <a:xfrm>
            <a:off x="411480" y="3337560"/>
            <a:ext cx="3383280" cy="274320"/>
          </a:xfrm>
          <a:prstGeom prst="rect">
            <a:avLst/>
          </a:prstGeom>
          <a:noFill/>
          <a:ln/>
        </p:spPr>
        <p:txBody>
          <a:bodyPr wrap="square"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 Validé</a:t>
            </a:r>
            <a:endParaRPr lang="en-US" sz="1000" dirty="0"/>
          </a:p>
        </p:txBody>
      </p:sp>
      <p:sp>
        <p:nvSpPr>
          <p:cNvPr id="12" name="Text 10"/>
          <p:cNvSpPr/>
          <p:nvPr/>
        </p:nvSpPr>
        <p:spPr>
          <a:xfrm>
            <a:off x="411480" y="3611880"/>
            <a:ext cx="3383280" cy="594360"/>
          </a:xfrm>
          <a:prstGeom prst="rect">
            <a:avLst/>
          </a:prstGeom>
          <a:noFill/>
          <a:ln/>
        </p:spPr>
        <p:txBody>
          <a:bodyPr wrap="square" rtlCol="0" anchor="ctr"/>
          <a:lstStyle/>
          <a:p>
            <a:pPr marL="0" indent="0">
              <a:buNone/>
            </a:pPr>
            <a:r>
              <a:rPr lang="en-US" sz="900" dirty="0">
                <a:solidFill>
                  <a:srgbClr val="555555"/>
                </a:solidFill>
                <a:latin typeface="Calibri" pitchFamily="34" charset="0"/>
                <a:ea typeface="Calibri" pitchFamily="34" charset="-122"/>
                <a:cs typeface="Calibri" pitchFamily="34" charset="-120"/>
              </a:rPr>
              <a:t>Agrégation multi-services</a:t>
            </a:r>
            <a:endParaRPr lang="en-US" sz="900" dirty="0"/>
          </a:p>
          <a:p>
            <a:pPr marL="0" indent="0">
              <a:buNone/>
            </a:pPr>
            <a:r>
              <a:rPr lang="en-US" sz="900" dirty="0">
                <a:solidFill>
                  <a:srgbClr val="555555"/>
                </a:solidFill>
                <a:latin typeface="Calibri" pitchFamily="34" charset="0"/>
                <a:ea typeface="Calibri" pitchFamily="34" charset="-122"/>
                <a:cs typeface="Calibri" pitchFamily="34" charset="-120"/>
              </a:rPr>
              <a:t>Cache filesystem 60s · 206 </a:t>
            </a:r>
            <a:r>
              <a:rPr lang="en-US" sz="900" dirty="0" err="1">
                <a:solidFill>
                  <a:srgbClr val="555555"/>
                </a:solidFill>
                <a:latin typeface="Calibri" pitchFamily="34" charset="0"/>
                <a:ea typeface="Calibri" pitchFamily="34" charset="-122"/>
                <a:cs typeface="Calibri" pitchFamily="34" charset="-120"/>
              </a:rPr>
              <a:t>si</a:t>
            </a:r>
            <a:r>
              <a:rPr lang="en-US" sz="900" dirty="0">
                <a:solidFill>
                  <a:srgbClr val="555555"/>
                </a:solidFill>
                <a:latin typeface="Calibri" pitchFamily="34" charset="0"/>
                <a:ea typeface="Calibri" pitchFamily="34" charset="-122"/>
                <a:cs typeface="Calibri" pitchFamily="34" charset="-120"/>
              </a:rPr>
              <a:t> service KO</a:t>
            </a:r>
            <a:endParaRPr lang="en-US" sz="900" dirty="0"/>
          </a:p>
        </p:txBody>
      </p:sp>
      <p:sp>
        <p:nvSpPr>
          <p:cNvPr id="13" name="Shape 11"/>
          <p:cNvSpPr/>
          <p:nvPr/>
        </p:nvSpPr>
        <p:spPr>
          <a:xfrm>
            <a:off x="4297680" y="2834640"/>
            <a:ext cx="3657600" cy="1463040"/>
          </a:xfrm>
          <a:prstGeom prst="rect">
            <a:avLst/>
          </a:prstGeom>
          <a:solidFill>
            <a:srgbClr val="F5F5F5"/>
          </a:solidFill>
          <a:ln w="19050">
            <a:solidFill>
              <a:srgbClr val="C0392B"/>
            </a:solidFill>
            <a:prstDash val="solid"/>
          </a:ln>
        </p:spPr>
        <p:txBody>
          <a:bodyPr/>
          <a:lstStyle/>
          <a:p>
            <a:endParaRPr lang="fr-FR"/>
          </a:p>
        </p:txBody>
      </p:sp>
      <p:sp>
        <p:nvSpPr>
          <p:cNvPr id="14" name="Text 12"/>
          <p:cNvSpPr/>
          <p:nvPr/>
        </p:nvSpPr>
        <p:spPr>
          <a:xfrm>
            <a:off x="4434840" y="2926080"/>
            <a:ext cx="3383280" cy="411480"/>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Keycloak OAuth2</a:t>
            </a:r>
            <a:endParaRPr lang="en-US" sz="1200" dirty="0"/>
          </a:p>
        </p:txBody>
      </p:sp>
      <p:sp>
        <p:nvSpPr>
          <p:cNvPr id="15" name="Text 13"/>
          <p:cNvSpPr/>
          <p:nvPr/>
        </p:nvSpPr>
        <p:spPr>
          <a:xfrm>
            <a:off x="4434840" y="3337560"/>
            <a:ext cx="3383280" cy="274320"/>
          </a:xfrm>
          <a:prstGeom prst="rect">
            <a:avLst/>
          </a:prstGeom>
          <a:noFill/>
          <a:ln/>
        </p:spPr>
        <p:txBody>
          <a:bodyPr wrap="square"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 Validé</a:t>
            </a:r>
            <a:endParaRPr lang="en-US" sz="1000" dirty="0"/>
          </a:p>
        </p:txBody>
      </p:sp>
      <p:sp>
        <p:nvSpPr>
          <p:cNvPr id="16" name="Text 14"/>
          <p:cNvSpPr/>
          <p:nvPr/>
        </p:nvSpPr>
        <p:spPr>
          <a:xfrm>
            <a:off x="4434840" y="3611880"/>
            <a:ext cx="3383280" cy="594360"/>
          </a:xfrm>
          <a:prstGeom prst="rect">
            <a:avLst/>
          </a:prstGeom>
          <a:noFill/>
          <a:ln/>
        </p:spPr>
        <p:txBody>
          <a:bodyPr wrap="square" rtlCol="0" anchor="ctr"/>
          <a:lstStyle/>
          <a:p>
            <a:pPr marL="0" indent="0">
              <a:buNone/>
            </a:pPr>
            <a:r>
              <a:rPr lang="en-US" sz="900" dirty="0">
                <a:solidFill>
                  <a:srgbClr val="555555"/>
                </a:solidFill>
                <a:latin typeface="Calibri" pitchFamily="34" charset="0"/>
                <a:ea typeface="Calibri" pitchFamily="34" charset="-122"/>
                <a:cs typeface="Calibri" pitchFamily="34" charset="-120"/>
              </a:rPr>
              <a:t>SSO local </a:t>
            </a:r>
            <a:r>
              <a:rPr lang="en-US" sz="900" dirty="0" err="1">
                <a:solidFill>
                  <a:srgbClr val="555555"/>
                </a:solidFill>
                <a:latin typeface="Calibri" pitchFamily="34" charset="0"/>
                <a:ea typeface="Calibri" pitchFamily="34" charset="-122"/>
                <a:cs typeface="Calibri" pitchFamily="34" charset="-120"/>
              </a:rPr>
              <a:t>fonctionnel</a:t>
            </a:r>
            <a:endParaRPr lang="en-US" sz="900" dirty="0"/>
          </a:p>
        </p:txBody>
      </p:sp>
      <p:sp>
        <p:nvSpPr>
          <p:cNvPr id="17" name="Shape 15"/>
          <p:cNvSpPr/>
          <p:nvPr/>
        </p:nvSpPr>
        <p:spPr>
          <a:xfrm>
            <a:off x="8321040" y="2834640"/>
            <a:ext cx="3657600" cy="1463040"/>
          </a:xfrm>
          <a:prstGeom prst="rect">
            <a:avLst/>
          </a:prstGeom>
          <a:solidFill>
            <a:srgbClr val="F5F5F5"/>
          </a:solidFill>
          <a:ln w="19050">
            <a:solidFill>
              <a:srgbClr val="C0392B"/>
            </a:solidFill>
            <a:prstDash val="solid"/>
          </a:ln>
        </p:spPr>
        <p:txBody>
          <a:bodyPr/>
          <a:lstStyle/>
          <a:p>
            <a:endParaRPr lang="fr-FR"/>
          </a:p>
        </p:txBody>
      </p:sp>
      <p:sp>
        <p:nvSpPr>
          <p:cNvPr id="18" name="Text 16"/>
          <p:cNvSpPr/>
          <p:nvPr/>
        </p:nvSpPr>
        <p:spPr>
          <a:xfrm>
            <a:off x="8458200" y="2926080"/>
            <a:ext cx="3383280" cy="411480"/>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Symfony Messenger</a:t>
            </a:r>
            <a:endParaRPr lang="en-US" sz="1200" dirty="0"/>
          </a:p>
        </p:txBody>
      </p:sp>
      <p:sp>
        <p:nvSpPr>
          <p:cNvPr id="19" name="Text 17"/>
          <p:cNvSpPr/>
          <p:nvPr/>
        </p:nvSpPr>
        <p:spPr>
          <a:xfrm>
            <a:off x="8458200" y="3337560"/>
            <a:ext cx="3383280" cy="274320"/>
          </a:xfrm>
          <a:prstGeom prst="rect">
            <a:avLst/>
          </a:prstGeom>
          <a:noFill/>
          <a:ln/>
        </p:spPr>
        <p:txBody>
          <a:bodyPr wrap="square"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 Validé</a:t>
            </a:r>
            <a:endParaRPr lang="en-US" sz="1000" dirty="0"/>
          </a:p>
        </p:txBody>
      </p:sp>
      <p:sp>
        <p:nvSpPr>
          <p:cNvPr id="20" name="Text 18"/>
          <p:cNvSpPr/>
          <p:nvPr/>
        </p:nvSpPr>
        <p:spPr>
          <a:xfrm>
            <a:off x="8458200" y="3611880"/>
            <a:ext cx="3383280" cy="594360"/>
          </a:xfrm>
          <a:prstGeom prst="rect">
            <a:avLst/>
          </a:prstGeom>
          <a:noFill/>
          <a:ln/>
        </p:spPr>
        <p:txBody>
          <a:bodyPr wrap="square" rtlCol="0" anchor="ctr"/>
          <a:lstStyle/>
          <a:p>
            <a:pPr marL="0" indent="0">
              <a:buNone/>
            </a:pPr>
            <a:r>
              <a:rPr lang="en-US" sz="900" dirty="0">
                <a:solidFill>
                  <a:srgbClr val="555555"/>
                </a:solidFill>
                <a:latin typeface="Calibri" pitchFamily="34" charset="0"/>
                <a:ea typeface="Calibri" pitchFamily="34" charset="-122"/>
                <a:cs typeface="Calibri" pitchFamily="34" charset="-120"/>
              </a:rPr>
              <a:t>AMQP prévu en v2 — sans code change</a:t>
            </a:r>
            <a:endParaRPr lang="en-US" sz="900" dirty="0"/>
          </a:p>
        </p:txBody>
      </p:sp>
      <p:sp>
        <p:nvSpPr>
          <p:cNvPr id="21" name="Shape 19"/>
          <p:cNvSpPr/>
          <p:nvPr/>
        </p:nvSpPr>
        <p:spPr>
          <a:xfrm>
            <a:off x="2286000" y="4526280"/>
            <a:ext cx="3657600" cy="1463040"/>
          </a:xfrm>
          <a:prstGeom prst="rect">
            <a:avLst/>
          </a:prstGeom>
          <a:solidFill>
            <a:srgbClr val="F5F5F5"/>
          </a:solidFill>
          <a:ln w="19050">
            <a:solidFill>
              <a:srgbClr val="C0392B"/>
            </a:solidFill>
            <a:prstDash val="solid"/>
          </a:ln>
        </p:spPr>
        <p:txBody>
          <a:bodyPr/>
          <a:lstStyle/>
          <a:p>
            <a:endParaRPr lang="fr-FR"/>
          </a:p>
        </p:txBody>
      </p:sp>
      <p:sp>
        <p:nvSpPr>
          <p:cNvPr id="22" name="Text 20"/>
          <p:cNvSpPr/>
          <p:nvPr/>
        </p:nvSpPr>
        <p:spPr>
          <a:xfrm>
            <a:off x="2423160" y="4617720"/>
            <a:ext cx="3383280" cy="411480"/>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GitHub Actions</a:t>
            </a:r>
            <a:endParaRPr lang="en-US" sz="1200" dirty="0"/>
          </a:p>
        </p:txBody>
      </p:sp>
      <p:sp>
        <p:nvSpPr>
          <p:cNvPr id="23" name="Text 21"/>
          <p:cNvSpPr/>
          <p:nvPr/>
        </p:nvSpPr>
        <p:spPr>
          <a:xfrm>
            <a:off x="2423160" y="5029200"/>
            <a:ext cx="3383280" cy="274320"/>
          </a:xfrm>
          <a:prstGeom prst="rect">
            <a:avLst/>
          </a:prstGeom>
          <a:noFill/>
          <a:ln/>
        </p:spPr>
        <p:txBody>
          <a:bodyPr wrap="square"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 Validé</a:t>
            </a:r>
            <a:endParaRPr lang="en-US" sz="1000" dirty="0"/>
          </a:p>
        </p:txBody>
      </p:sp>
      <p:sp>
        <p:nvSpPr>
          <p:cNvPr id="24" name="Text 22"/>
          <p:cNvSpPr/>
          <p:nvPr/>
        </p:nvSpPr>
        <p:spPr>
          <a:xfrm>
            <a:off x="2423160" y="5303520"/>
            <a:ext cx="3383280" cy="594360"/>
          </a:xfrm>
          <a:prstGeom prst="rect">
            <a:avLst/>
          </a:prstGeom>
          <a:noFill/>
          <a:ln/>
        </p:spPr>
        <p:txBody>
          <a:bodyPr wrap="square" rtlCol="0" anchor="ctr"/>
          <a:lstStyle/>
          <a:p>
            <a:pPr marL="0" indent="0">
              <a:buNone/>
            </a:pPr>
            <a:r>
              <a:rPr lang="en-US" sz="900" dirty="0">
                <a:solidFill>
                  <a:srgbClr val="555555"/>
                </a:solidFill>
                <a:latin typeface="Calibri" pitchFamily="34" charset="0"/>
                <a:ea typeface="Calibri" pitchFamily="34" charset="-122"/>
                <a:cs typeface="Calibri" pitchFamily="34" charset="-120"/>
              </a:rPr>
              <a:t>Self-hosted runner Windows</a:t>
            </a:r>
            <a:endParaRPr lang="en-US" sz="900" dirty="0"/>
          </a:p>
          <a:p>
            <a:pPr marL="0" indent="0">
              <a:buNone/>
            </a:pPr>
            <a:r>
              <a:rPr lang="en-US" sz="900" dirty="0">
                <a:solidFill>
                  <a:srgbClr val="555555"/>
                </a:solidFill>
                <a:latin typeface="Calibri" pitchFamily="34" charset="0"/>
                <a:ea typeface="Calibri" pitchFamily="34" charset="-122"/>
                <a:cs typeface="Calibri" pitchFamily="34" charset="-120"/>
              </a:rPr>
              <a:t>11 jobs · déploiement automatique</a:t>
            </a:r>
            <a:endParaRPr lang="en-US" sz="900" dirty="0"/>
          </a:p>
        </p:txBody>
      </p:sp>
      <p:sp>
        <p:nvSpPr>
          <p:cNvPr id="25" name="Shape 23"/>
          <p:cNvSpPr/>
          <p:nvPr/>
        </p:nvSpPr>
        <p:spPr>
          <a:xfrm>
            <a:off x="6309360" y="4526280"/>
            <a:ext cx="3657600" cy="1463040"/>
          </a:xfrm>
          <a:prstGeom prst="rect">
            <a:avLst/>
          </a:prstGeom>
          <a:solidFill>
            <a:srgbClr val="F5F5F5"/>
          </a:solidFill>
          <a:ln w="19050">
            <a:solidFill>
              <a:srgbClr val="C0392B"/>
            </a:solidFill>
            <a:prstDash val="solid"/>
          </a:ln>
        </p:spPr>
        <p:txBody>
          <a:bodyPr/>
          <a:lstStyle/>
          <a:p>
            <a:endParaRPr lang="fr-FR"/>
          </a:p>
        </p:txBody>
      </p:sp>
      <p:sp>
        <p:nvSpPr>
          <p:cNvPr id="26" name="Text 24"/>
          <p:cNvSpPr/>
          <p:nvPr/>
        </p:nvSpPr>
        <p:spPr>
          <a:xfrm>
            <a:off x="6446520" y="4617720"/>
            <a:ext cx="3383280" cy="411480"/>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Docker / Apache</a:t>
            </a:r>
            <a:endParaRPr lang="en-US" sz="1200" dirty="0"/>
          </a:p>
        </p:txBody>
      </p:sp>
      <p:sp>
        <p:nvSpPr>
          <p:cNvPr id="27" name="Text 25"/>
          <p:cNvSpPr/>
          <p:nvPr/>
        </p:nvSpPr>
        <p:spPr>
          <a:xfrm>
            <a:off x="6446520" y="5029200"/>
            <a:ext cx="3383280" cy="274320"/>
          </a:xfrm>
          <a:prstGeom prst="rect">
            <a:avLst/>
          </a:prstGeom>
          <a:noFill/>
          <a:ln/>
        </p:spPr>
        <p:txBody>
          <a:bodyPr wrap="square" rtlCol="0" anchor="ctr"/>
          <a:lstStyle/>
          <a:p>
            <a:pPr marL="0" indent="0">
              <a:buNone/>
            </a:pPr>
            <a:r>
              <a:rPr lang="en-US" sz="1000" b="1" dirty="0">
                <a:solidFill>
                  <a:srgbClr val="E67E22"/>
                </a:solidFill>
                <a:latin typeface="Calibri" pitchFamily="34" charset="0"/>
                <a:ea typeface="Calibri" pitchFamily="34" charset="-122"/>
                <a:cs typeface="Calibri" pitchFamily="34" charset="-120"/>
              </a:rPr>
              <a:t>⚠️ Problème résolu</a:t>
            </a:r>
            <a:endParaRPr lang="en-US" sz="1000" dirty="0"/>
          </a:p>
        </p:txBody>
      </p:sp>
      <p:sp>
        <p:nvSpPr>
          <p:cNvPr id="28" name="Text 26"/>
          <p:cNvSpPr/>
          <p:nvPr/>
        </p:nvSpPr>
        <p:spPr>
          <a:xfrm>
            <a:off x="6446520" y="5303520"/>
            <a:ext cx="3383280" cy="594360"/>
          </a:xfrm>
          <a:prstGeom prst="rect">
            <a:avLst/>
          </a:prstGeom>
          <a:noFill/>
          <a:ln/>
        </p:spPr>
        <p:txBody>
          <a:bodyPr wrap="square" rtlCol="0" anchor="ctr"/>
          <a:lstStyle/>
          <a:p>
            <a:pPr marL="0" indent="0">
              <a:buNone/>
            </a:pPr>
            <a:r>
              <a:rPr lang="en-US" sz="900" dirty="0">
                <a:solidFill>
                  <a:srgbClr val="555555"/>
                </a:solidFill>
                <a:latin typeface="Calibri" pitchFamily="34" charset="0"/>
                <a:ea typeface="Calibri" pitchFamily="34" charset="-122"/>
                <a:cs typeface="Calibri" pitchFamily="34" charset="-120"/>
              </a:rPr>
              <a:t>mod_php ne passe pas</a:t>
            </a:r>
            <a:endParaRPr lang="en-US" sz="900" dirty="0"/>
          </a:p>
          <a:p>
            <a:pPr marL="0" indent="0">
              <a:buNone/>
            </a:pPr>
            <a:r>
              <a:rPr lang="en-US" sz="900" dirty="0">
                <a:solidFill>
                  <a:srgbClr val="555555"/>
                </a:solidFill>
                <a:latin typeface="Calibri" pitchFamily="34" charset="0"/>
                <a:ea typeface="Calibri" pitchFamily="34" charset="-122"/>
                <a:cs typeface="Calibri" pitchFamily="34" charset="-120"/>
              </a:rPr>
              <a:t>les vars Docker → SetEnv Apache</a:t>
            </a:r>
            <a:endParaRPr lang="en-US" sz="900" dirty="0"/>
          </a:p>
        </p:txBody>
      </p:sp>
    </p:spTree>
    <p:extLst>
      <p:ext uri="{BB962C8B-B14F-4D97-AF65-F5344CB8AC3E}">
        <p14:creationId xmlns:p14="http://schemas.microsoft.com/office/powerpoint/2010/main" val="1059366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txBody>
          <a:bodyPr/>
          <a:lstStyle/>
          <a:p>
            <a:endParaRPr lang="fr-FR"/>
          </a:p>
        </p:txBody>
      </p:sp>
      <p:sp>
        <p:nvSpPr>
          <p:cNvPr id="3" name="Shape 1"/>
          <p:cNvSpPr/>
          <p:nvPr/>
        </p:nvSpPr>
        <p:spPr>
          <a:xfrm>
            <a:off x="0" y="6675120"/>
            <a:ext cx="12192000" cy="182880"/>
          </a:xfrm>
          <a:prstGeom prst="rect">
            <a:avLst/>
          </a:prstGeom>
          <a:solidFill>
            <a:srgbClr val="C0392B"/>
          </a:solidFill>
          <a:ln/>
        </p:spPr>
        <p:txBody>
          <a:bodyPr/>
          <a:lstStyle/>
          <a:p>
            <a:endParaRPr lang="fr-FR"/>
          </a:p>
        </p:txBody>
      </p:sp>
      <p:sp>
        <p:nvSpPr>
          <p:cNvPr id="4" name="Text 2"/>
          <p:cNvSpPr/>
          <p:nvPr/>
        </p:nvSpPr>
        <p:spPr>
          <a:xfrm>
            <a:off x="274320" y="6675120"/>
            <a:ext cx="9601200" cy="182880"/>
          </a:xfrm>
          <a:prstGeom prst="rect">
            <a:avLst/>
          </a:prstGeom>
          <a:noFill/>
          <a:ln/>
        </p:spPr>
        <p:txBody>
          <a:bodyPr wrap="square" rtlCol="0" anchor="ctr"/>
          <a:lstStyle/>
          <a:p>
            <a:pPr marL="0" indent="0">
              <a:buNone/>
            </a:pPr>
            <a:r>
              <a:rPr lang="fr-FR" sz="800" dirty="0">
                <a:solidFill>
                  <a:srgbClr val="FFFFFF"/>
                </a:solidFill>
                <a:latin typeface="Calibri" pitchFamily="34" charset="0"/>
                <a:ea typeface="Calibri" pitchFamily="34" charset="-122"/>
                <a:cs typeface="Calibri" pitchFamily="34" charset="-120"/>
              </a:rPr>
              <a:t>La Petite Maison de l’Épouvante —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marL="0" indent="0" algn="r">
              <a:buNone/>
            </a:pPr>
            <a:r>
              <a:rPr lang="en-US" sz="1800" b="1" dirty="0">
                <a:solidFill>
                  <a:srgbClr val="1A1A1A"/>
                </a:solidFill>
                <a:latin typeface="Calibri" pitchFamily="34" charset="0"/>
                <a:ea typeface="Calibri" pitchFamily="34" charset="-122"/>
                <a:cs typeface="Calibri" pitchFamily="34" charset="-120"/>
              </a:rPr>
              <a:t>13</a:t>
            </a:r>
            <a:endParaRPr lang="en-US" sz="1800" dirty="0"/>
          </a:p>
        </p:txBody>
      </p:sp>
      <p:sp>
        <p:nvSpPr>
          <p:cNvPr id="6" name="Shape 4"/>
          <p:cNvSpPr/>
          <p:nvPr/>
        </p:nvSpPr>
        <p:spPr>
          <a:xfrm>
            <a:off x="365760" y="1051560"/>
            <a:ext cx="2377440" cy="54864"/>
          </a:xfrm>
          <a:prstGeom prst="rect">
            <a:avLst/>
          </a:prstGeom>
          <a:solidFill>
            <a:srgbClr val="C0392B"/>
          </a:solidFill>
          <a:ln/>
        </p:spPr>
        <p:txBody>
          <a:bodyPr/>
          <a:lstStyle/>
          <a:p>
            <a:endParaRPr lang="fr-FR"/>
          </a:p>
        </p:txBody>
      </p:sp>
      <p:sp>
        <p:nvSpPr>
          <p:cNvPr id="7" name="Text 5"/>
          <p:cNvSpPr/>
          <p:nvPr/>
        </p:nvSpPr>
        <p:spPr>
          <a:xfrm>
            <a:off x="365760" y="640080"/>
            <a:ext cx="10972800" cy="548640"/>
          </a:xfrm>
          <a:prstGeom prst="rect">
            <a:avLst/>
          </a:prstGeom>
          <a:noFill/>
          <a:ln/>
        </p:spPr>
        <p:txBody>
          <a:bodyPr wrap="square" rtlCol="0" anchor="ctr"/>
          <a:lstStyle/>
          <a:p>
            <a:pPr marL="0" indent="0">
              <a:buNone/>
            </a:pPr>
            <a:r>
              <a:rPr lang="en-US" sz="1100" b="1" kern="0" spc="200" dirty="0">
                <a:solidFill>
                  <a:srgbClr val="E74C3C"/>
                </a:solidFill>
                <a:latin typeface="Calibri" pitchFamily="34" charset="0"/>
                <a:ea typeface="Calibri" pitchFamily="34" charset="-122"/>
                <a:cs typeface="Calibri" pitchFamily="34" charset="-120"/>
              </a:rPr>
              <a:t>QUALITE MESUREE</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marL="0" indent="0">
              <a:buNone/>
            </a:pPr>
            <a:r>
              <a:rPr lang="en-US" sz="3400" b="1" dirty="0">
                <a:solidFill>
                  <a:srgbClr val="1A1A1A"/>
                </a:solidFill>
                <a:latin typeface="Palatino Linotype" pitchFamily="34" charset="0"/>
                <a:ea typeface="Palatino Linotype" pitchFamily="34" charset="-122"/>
                <a:cs typeface="Palatino Linotype" pitchFamily="34" charset="-120"/>
              </a:rPr>
              <a:t>Résultats — chiffres clés</a:t>
            </a:r>
            <a:endParaRPr lang="en-US" sz="3400" dirty="0"/>
          </a:p>
        </p:txBody>
      </p:sp>
      <p:sp>
        <p:nvSpPr>
          <p:cNvPr id="9" name="Shape 7"/>
          <p:cNvSpPr/>
          <p:nvPr/>
        </p:nvSpPr>
        <p:spPr>
          <a:xfrm>
            <a:off x="274320" y="2743200"/>
            <a:ext cx="2743200" cy="3291840"/>
          </a:xfrm>
          <a:prstGeom prst="rect">
            <a:avLst/>
          </a:prstGeom>
          <a:solidFill>
            <a:srgbClr val="F5F5F5"/>
          </a:solidFill>
          <a:ln w="19050">
            <a:solidFill>
              <a:srgbClr val="C0392B"/>
            </a:solidFill>
            <a:prstDash val="solid"/>
          </a:ln>
        </p:spPr>
        <p:txBody>
          <a:bodyPr/>
          <a:lstStyle/>
          <a:p>
            <a:endParaRPr lang="fr-FR"/>
          </a:p>
        </p:txBody>
      </p:sp>
      <p:sp>
        <p:nvSpPr>
          <p:cNvPr id="10" name="Text 8"/>
          <p:cNvSpPr/>
          <p:nvPr/>
        </p:nvSpPr>
        <p:spPr>
          <a:xfrm>
            <a:off x="365760" y="2926080"/>
            <a:ext cx="2560320" cy="1188720"/>
          </a:xfrm>
          <a:prstGeom prst="rect">
            <a:avLst/>
          </a:prstGeom>
          <a:noFill/>
          <a:ln/>
        </p:spPr>
        <p:txBody>
          <a:bodyPr wrap="square" rtlCol="0" anchor="ctr"/>
          <a:lstStyle/>
          <a:p>
            <a:pPr marL="0" indent="0" algn="ctr">
              <a:buNone/>
            </a:pPr>
            <a:r>
              <a:rPr lang="en-US" sz="4000" b="1" dirty="0">
                <a:solidFill>
                  <a:srgbClr val="1A1A1A"/>
                </a:solidFill>
                <a:latin typeface="Palatino Linotype" pitchFamily="34" charset="0"/>
                <a:ea typeface="Palatino Linotype" pitchFamily="34" charset="-122"/>
                <a:cs typeface="Palatino Linotype" pitchFamily="34" charset="-120"/>
              </a:rPr>
              <a:t>59</a:t>
            </a:r>
            <a:endParaRPr lang="en-US" sz="4000" dirty="0"/>
          </a:p>
        </p:txBody>
      </p:sp>
      <p:sp>
        <p:nvSpPr>
          <p:cNvPr id="11" name="Shape 9"/>
          <p:cNvSpPr/>
          <p:nvPr/>
        </p:nvSpPr>
        <p:spPr>
          <a:xfrm>
            <a:off x="731520" y="4160520"/>
            <a:ext cx="1828800" cy="45720"/>
          </a:xfrm>
          <a:prstGeom prst="rect">
            <a:avLst/>
          </a:prstGeom>
          <a:solidFill>
            <a:srgbClr val="C0392B"/>
          </a:solidFill>
          <a:ln/>
        </p:spPr>
        <p:txBody>
          <a:bodyPr/>
          <a:lstStyle/>
          <a:p>
            <a:endParaRPr lang="fr-FR"/>
          </a:p>
        </p:txBody>
      </p:sp>
      <p:sp>
        <p:nvSpPr>
          <p:cNvPr id="12" name="Text 10"/>
          <p:cNvSpPr/>
          <p:nvPr/>
        </p:nvSpPr>
        <p:spPr>
          <a:xfrm>
            <a:off x="365760" y="4251960"/>
            <a:ext cx="2560320" cy="457200"/>
          </a:xfrm>
          <a:prstGeom prst="rect">
            <a:avLst/>
          </a:prstGeom>
          <a:noFill/>
          <a:ln/>
        </p:spPr>
        <p:txBody>
          <a:bodyPr wrap="square" rtlCol="0" anchor="ctr"/>
          <a:lstStyle/>
          <a:p>
            <a:pPr marL="0" indent="0" algn="ctr">
              <a:buNone/>
            </a:pPr>
            <a:r>
              <a:rPr lang="en-US" sz="1200" b="1" dirty="0">
                <a:solidFill>
                  <a:srgbClr val="F39C12"/>
                </a:solidFill>
                <a:latin typeface="Calibri" pitchFamily="34" charset="0"/>
                <a:ea typeface="Calibri" pitchFamily="34" charset="-122"/>
                <a:cs typeface="Calibri" pitchFamily="34" charset="-120"/>
              </a:rPr>
              <a:t>tests PHPUnit</a:t>
            </a:r>
            <a:endParaRPr lang="en-US" sz="1200" dirty="0"/>
          </a:p>
        </p:txBody>
      </p:sp>
      <p:sp>
        <p:nvSpPr>
          <p:cNvPr id="13" name="Text 11"/>
          <p:cNvSpPr/>
          <p:nvPr/>
        </p:nvSpPr>
        <p:spPr>
          <a:xfrm>
            <a:off x="365760" y="4754880"/>
            <a:ext cx="2560320" cy="457200"/>
          </a:xfrm>
          <a:prstGeom prst="rect">
            <a:avLst/>
          </a:prstGeom>
          <a:noFill/>
          <a:ln/>
        </p:spPr>
        <p:txBody>
          <a:bodyPr wrap="square"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186 assertions · 0 échec</a:t>
            </a:r>
            <a:endParaRPr lang="en-US" sz="1100" dirty="0"/>
          </a:p>
        </p:txBody>
      </p:sp>
      <p:sp>
        <p:nvSpPr>
          <p:cNvPr id="14" name="Shape 12"/>
          <p:cNvSpPr/>
          <p:nvPr/>
        </p:nvSpPr>
        <p:spPr>
          <a:xfrm>
            <a:off x="3291840" y="2743200"/>
            <a:ext cx="2743200" cy="3291840"/>
          </a:xfrm>
          <a:prstGeom prst="rect">
            <a:avLst/>
          </a:prstGeom>
          <a:solidFill>
            <a:srgbClr val="F5F5F5"/>
          </a:solidFill>
          <a:ln w="19050">
            <a:solidFill>
              <a:srgbClr val="C0392B"/>
            </a:solidFill>
            <a:prstDash val="solid"/>
          </a:ln>
        </p:spPr>
        <p:txBody>
          <a:bodyPr/>
          <a:lstStyle/>
          <a:p>
            <a:endParaRPr lang="fr-FR"/>
          </a:p>
        </p:txBody>
      </p:sp>
      <p:sp>
        <p:nvSpPr>
          <p:cNvPr id="15" name="Text 13"/>
          <p:cNvSpPr/>
          <p:nvPr/>
        </p:nvSpPr>
        <p:spPr>
          <a:xfrm>
            <a:off x="3383280" y="2926080"/>
            <a:ext cx="2560320" cy="1188720"/>
          </a:xfrm>
          <a:prstGeom prst="rect">
            <a:avLst/>
          </a:prstGeom>
          <a:noFill/>
          <a:ln/>
        </p:spPr>
        <p:txBody>
          <a:bodyPr wrap="square" rtlCol="0" anchor="ctr"/>
          <a:lstStyle/>
          <a:p>
            <a:pPr marL="0" indent="0" algn="ctr">
              <a:buNone/>
            </a:pPr>
            <a:r>
              <a:rPr lang="en-US" sz="4000" b="1" dirty="0">
                <a:solidFill>
                  <a:srgbClr val="1A1A1A"/>
                </a:solidFill>
                <a:latin typeface="Palatino Linotype" pitchFamily="34" charset="0"/>
                <a:ea typeface="Palatino Linotype" pitchFamily="34" charset="-122"/>
                <a:cs typeface="Palatino Linotype" pitchFamily="34" charset="-120"/>
              </a:rPr>
              <a:t>78,95%</a:t>
            </a:r>
            <a:endParaRPr lang="en-US" sz="4000" dirty="0"/>
          </a:p>
        </p:txBody>
      </p:sp>
      <p:sp>
        <p:nvSpPr>
          <p:cNvPr id="16" name="Shape 14"/>
          <p:cNvSpPr/>
          <p:nvPr/>
        </p:nvSpPr>
        <p:spPr>
          <a:xfrm>
            <a:off x="3749040" y="4160520"/>
            <a:ext cx="1828800" cy="45720"/>
          </a:xfrm>
          <a:prstGeom prst="rect">
            <a:avLst/>
          </a:prstGeom>
          <a:solidFill>
            <a:srgbClr val="C0392B"/>
          </a:solidFill>
          <a:ln/>
        </p:spPr>
        <p:txBody>
          <a:bodyPr/>
          <a:lstStyle/>
          <a:p>
            <a:endParaRPr lang="fr-FR"/>
          </a:p>
        </p:txBody>
      </p:sp>
      <p:sp>
        <p:nvSpPr>
          <p:cNvPr id="17" name="Text 15"/>
          <p:cNvSpPr/>
          <p:nvPr/>
        </p:nvSpPr>
        <p:spPr>
          <a:xfrm>
            <a:off x="3383280" y="4251960"/>
            <a:ext cx="2560320" cy="457200"/>
          </a:xfrm>
          <a:prstGeom prst="rect">
            <a:avLst/>
          </a:prstGeom>
          <a:noFill/>
          <a:ln/>
        </p:spPr>
        <p:txBody>
          <a:bodyPr wrap="square" rtlCol="0" anchor="ctr"/>
          <a:lstStyle/>
          <a:p>
            <a:pPr marL="0" indent="0" algn="ctr">
              <a:buNone/>
            </a:pPr>
            <a:r>
              <a:rPr lang="en-US" sz="1200" b="1" dirty="0">
                <a:solidFill>
                  <a:srgbClr val="F39C12"/>
                </a:solidFill>
                <a:latin typeface="Calibri" pitchFamily="34" charset="0"/>
                <a:ea typeface="Calibri" pitchFamily="34" charset="-122"/>
                <a:cs typeface="Calibri" pitchFamily="34" charset="-120"/>
              </a:rPr>
              <a:t>couverture classes</a:t>
            </a:r>
            <a:endParaRPr lang="en-US" sz="1200" dirty="0"/>
          </a:p>
        </p:txBody>
      </p:sp>
      <p:sp>
        <p:nvSpPr>
          <p:cNvPr id="18" name="Text 16"/>
          <p:cNvSpPr/>
          <p:nvPr/>
        </p:nvSpPr>
        <p:spPr>
          <a:xfrm>
            <a:off x="3383280" y="4754880"/>
            <a:ext cx="2560320" cy="457200"/>
          </a:xfrm>
          <a:prstGeom prst="rect">
            <a:avLst/>
          </a:prstGeom>
          <a:noFill/>
          <a:ln/>
        </p:spPr>
        <p:txBody>
          <a:bodyPr wrap="square"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52% lignes · PCOV</a:t>
            </a:r>
            <a:endParaRPr lang="en-US" sz="1100" dirty="0"/>
          </a:p>
        </p:txBody>
      </p:sp>
      <p:sp>
        <p:nvSpPr>
          <p:cNvPr id="19" name="Shape 17"/>
          <p:cNvSpPr/>
          <p:nvPr/>
        </p:nvSpPr>
        <p:spPr>
          <a:xfrm>
            <a:off x="6309360" y="2743200"/>
            <a:ext cx="2743200" cy="3291840"/>
          </a:xfrm>
          <a:prstGeom prst="rect">
            <a:avLst/>
          </a:prstGeom>
          <a:solidFill>
            <a:srgbClr val="F5F5F5"/>
          </a:solidFill>
          <a:ln w="19050">
            <a:solidFill>
              <a:srgbClr val="C0392B"/>
            </a:solidFill>
            <a:prstDash val="solid"/>
          </a:ln>
        </p:spPr>
        <p:txBody>
          <a:bodyPr/>
          <a:lstStyle/>
          <a:p>
            <a:endParaRPr lang="fr-FR"/>
          </a:p>
        </p:txBody>
      </p:sp>
      <p:sp>
        <p:nvSpPr>
          <p:cNvPr id="20" name="Text 18"/>
          <p:cNvSpPr/>
          <p:nvPr/>
        </p:nvSpPr>
        <p:spPr>
          <a:xfrm>
            <a:off x="6400800" y="2926080"/>
            <a:ext cx="2560320" cy="1188720"/>
          </a:xfrm>
          <a:prstGeom prst="rect">
            <a:avLst/>
          </a:prstGeom>
          <a:noFill/>
          <a:ln/>
        </p:spPr>
        <p:txBody>
          <a:bodyPr wrap="square" rtlCol="0" anchor="ctr"/>
          <a:lstStyle/>
          <a:p>
            <a:pPr marL="0" indent="0" algn="ctr">
              <a:buNone/>
            </a:pPr>
            <a:r>
              <a:rPr lang="en-US" sz="4000" b="1" dirty="0">
                <a:solidFill>
                  <a:srgbClr val="1A1A1A"/>
                </a:solidFill>
                <a:latin typeface="Palatino Linotype" pitchFamily="34" charset="0"/>
                <a:ea typeface="Palatino Linotype" pitchFamily="34" charset="-122"/>
                <a:cs typeface="Palatino Linotype" pitchFamily="34" charset="-120"/>
              </a:rPr>
              <a:t>35/35</a:t>
            </a:r>
            <a:endParaRPr lang="en-US" sz="4000" dirty="0"/>
          </a:p>
        </p:txBody>
      </p:sp>
      <p:sp>
        <p:nvSpPr>
          <p:cNvPr id="21" name="Shape 19"/>
          <p:cNvSpPr/>
          <p:nvPr/>
        </p:nvSpPr>
        <p:spPr>
          <a:xfrm>
            <a:off x="6766560" y="4160520"/>
            <a:ext cx="1828800" cy="45720"/>
          </a:xfrm>
          <a:prstGeom prst="rect">
            <a:avLst/>
          </a:prstGeom>
          <a:solidFill>
            <a:srgbClr val="C0392B"/>
          </a:solidFill>
          <a:ln/>
        </p:spPr>
        <p:txBody>
          <a:bodyPr/>
          <a:lstStyle/>
          <a:p>
            <a:endParaRPr lang="fr-FR"/>
          </a:p>
        </p:txBody>
      </p:sp>
      <p:sp>
        <p:nvSpPr>
          <p:cNvPr id="22" name="Text 20"/>
          <p:cNvSpPr/>
          <p:nvPr/>
        </p:nvSpPr>
        <p:spPr>
          <a:xfrm>
            <a:off x="6400800" y="4251960"/>
            <a:ext cx="2560320" cy="457200"/>
          </a:xfrm>
          <a:prstGeom prst="rect">
            <a:avLst/>
          </a:prstGeom>
          <a:noFill/>
          <a:ln/>
        </p:spPr>
        <p:txBody>
          <a:bodyPr wrap="square" rtlCol="0" anchor="ctr"/>
          <a:lstStyle/>
          <a:p>
            <a:pPr marL="0" indent="0" algn="ctr">
              <a:buNone/>
            </a:pPr>
            <a:r>
              <a:rPr lang="en-US" sz="1200" b="1" dirty="0">
                <a:solidFill>
                  <a:srgbClr val="F39C12"/>
                </a:solidFill>
                <a:latin typeface="Calibri" pitchFamily="34" charset="0"/>
                <a:ea typeface="Calibri" pitchFamily="34" charset="-122"/>
                <a:cs typeface="Calibri" pitchFamily="34" charset="-120"/>
              </a:rPr>
              <a:t>checks k6</a:t>
            </a:r>
            <a:endParaRPr lang="en-US" sz="1200" dirty="0"/>
          </a:p>
        </p:txBody>
      </p:sp>
      <p:sp>
        <p:nvSpPr>
          <p:cNvPr id="23" name="Text 21"/>
          <p:cNvSpPr/>
          <p:nvPr/>
        </p:nvSpPr>
        <p:spPr>
          <a:xfrm>
            <a:off x="6400800" y="4754880"/>
            <a:ext cx="2560320" cy="457200"/>
          </a:xfrm>
          <a:prstGeom prst="rect">
            <a:avLst/>
          </a:prstGeom>
          <a:noFill/>
          <a:ln/>
        </p:spPr>
        <p:txBody>
          <a:bodyPr wrap="square"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p95 &lt; 200ms · 0% erreurs</a:t>
            </a:r>
            <a:endParaRPr lang="en-US" sz="1100" dirty="0"/>
          </a:p>
        </p:txBody>
      </p:sp>
      <p:sp>
        <p:nvSpPr>
          <p:cNvPr id="24" name="Shape 22"/>
          <p:cNvSpPr/>
          <p:nvPr/>
        </p:nvSpPr>
        <p:spPr>
          <a:xfrm>
            <a:off x="9326880" y="2743200"/>
            <a:ext cx="2743200" cy="3291840"/>
          </a:xfrm>
          <a:prstGeom prst="rect">
            <a:avLst/>
          </a:prstGeom>
          <a:solidFill>
            <a:srgbClr val="F5F5F5"/>
          </a:solidFill>
          <a:ln w="19050">
            <a:solidFill>
              <a:srgbClr val="C0392B"/>
            </a:solidFill>
            <a:prstDash val="solid"/>
          </a:ln>
        </p:spPr>
        <p:txBody>
          <a:bodyPr/>
          <a:lstStyle/>
          <a:p>
            <a:endParaRPr lang="fr-FR"/>
          </a:p>
        </p:txBody>
      </p:sp>
      <p:sp>
        <p:nvSpPr>
          <p:cNvPr id="25" name="Text 23"/>
          <p:cNvSpPr/>
          <p:nvPr/>
        </p:nvSpPr>
        <p:spPr>
          <a:xfrm>
            <a:off x="9418320" y="2926080"/>
            <a:ext cx="2560320" cy="1188720"/>
          </a:xfrm>
          <a:prstGeom prst="rect">
            <a:avLst/>
          </a:prstGeom>
          <a:noFill/>
          <a:ln/>
        </p:spPr>
        <p:txBody>
          <a:bodyPr wrap="square" rtlCol="0" anchor="ctr"/>
          <a:lstStyle/>
          <a:p>
            <a:pPr marL="0" indent="0" algn="ctr">
              <a:buNone/>
            </a:pPr>
            <a:r>
              <a:rPr lang="en-US" sz="4000" b="1" dirty="0">
                <a:solidFill>
                  <a:srgbClr val="1A1A1A"/>
                </a:solidFill>
                <a:latin typeface="Palatino Linotype" pitchFamily="34" charset="0"/>
                <a:ea typeface="Palatino Linotype" pitchFamily="34" charset="-122"/>
                <a:cs typeface="Palatino Linotype" pitchFamily="34" charset="-120"/>
              </a:rPr>
              <a:t>0</a:t>
            </a:r>
            <a:endParaRPr lang="en-US" sz="4000" dirty="0"/>
          </a:p>
        </p:txBody>
      </p:sp>
      <p:sp>
        <p:nvSpPr>
          <p:cNvPr id="26" name="Shape 24"/>
          <p:cNvSpPr/>
          <p:nvPr/>
        </p:nvSpPr>
        <p:spPr>
          <a:xfrm>
            <a:off x="9784080" y="4160520"/>
            <a:ext cx="1828800" cy="45720"/>
          </a:xfrm>
          <a:prstGeom prst="rect">
            <a:avLst/>
          </a:prstGeom>
          <a:solidFill>
            <a:srgbClr val="C0392B"/>
          </a:solidFill>
          <a:ln/>
        </p:spPr>
        <p:txBody>
          <a:bodyPr/>
          <a:lstStyle/>
          <a:p>
            <a:endParaRPr lang="fr-FR"/>
          </a:p>
        </p:txBody>
      </p:sp>
      <p:sp>
        <p:nvSpPr>
          <p:cNvPr id="27" name="Text 25"/>
          <p:cNvSpPr/>
          <p:nvPr/>
        </p:nvSpPr>
        <p:spPr>
          <a:xfrm>
            <a:off x="9418320" y="4251960"/>
            <a:ext cx="2560320" cy="457200"/>
          </a:xfrm>
          <a:prstGeom prst="rect">
            <a:avLst/>
          </a:prstGeom>
          <a:noFill/>
          <a:ln/>
        </p:spPr>
        <p:txBody>
          <a:bodyPr wrap="square" rtlCol="0" anchor="ctr"/>
          <a:lstStyle/>
          <a:p>
            <a:pPr marL="0" indent="0" algn="ctr">
              <a:buNone/>
            </a:pPr>
            <a:r>
              <a:rPr lang="en-US" sz="1200" b="1" dirty="0">
                <a:solidFill>
                  <a:srgbClr val="F39C12"/>
                </a:solidFill>
                <a:latin typeface="Calibri" pitchFamily="34" charset="0"/>
                <a:ea typeface="Calibri" pitchFamily="34" charset="-122"/>
                <a:cs typeface="Calibri" pitchFamily="34" charset="-120"/>
              </a:rPr>
              <a:t>CVE Critical</a:t>
            </a:r>
            <a:endParaRPr lang="en-US" sz="1200" dirty="0"/>
          </a:p>
        </p:txBody>
      </p:sp>
      <p:sp>
        <p:nvSpPr>
          <p:cNvPr id="28" name="Text 26"/>
          <p:cNvSpPr/>
          <p:nvPr/>
        </p:nvSpPr>
        <p:spPr>
          <a:xfrm>
            <a:off x="9418320" y="4754880"/>
            <a:ext cx="2560320" cy="457200"/>
          </a:xfrm>
          <a:prstGeom prst="rect">
            <a:avLst/>
          </a:prstGeom>
          <a:noFill/>
          <a:ln/>
        </p:spPr>
        <p:txBody>
          <a:bodyPr wrap="square"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Trivy image scan</a:t>
            </a:r>
            <a:endParaRPr lang="en-US" sz="1100" dirty="0"/>
          </a:p>
        </p:txBody>
      </p:sp>
      <p:sp>
        <p:nvSpPr>
          <p:cNvPr id="29" name="Shape 27"/>
          <p:cNvSpPr/>
          <p:nvPr/>
        </p:nvSpPr>
        <p:spPr>
          <a:xfrm>
            <a:off x="274320" y="6080760"/>
            <a:ext cx="11795760" cy="411480"/>
          </a:xfrm>
          <a:prstGeom prst="rect">
            <a:avLst/>
          </a:prstGeom>
          <a:solidFill>
            <a:srgbClr val="F5F5F5"/>
          </a:solidFill>
          <a:ln w="19050">
            <a:solidFill>
              <a:srgbClr val="C0392B"/>
            </a:solidFill>
            <a:prstDash val="solid"/>
          </a:ln>
        </p:spPr>
        <p:txBody>
          <a:bodyPr/>
          <a:lstStyle/>
          <a:p>
            <a:endParaRPr lang="fr-FR"/>
          </a:p>
        </p:txBody>
      </p:sp>
      <p:sp>
        <p:nvSpPr>
          <p:cNvPr id="30" name="Text 28"/>
          <p:cNvSpPr/>
          <p:nvPr/>
        </p:nvSpPr>
        <p:spPr>
          <a:xfrm>
            <a:off x="457200" y="6108192"/>
            <a:ext cx="11338560" cy="320040"/>
          </a:xfrm>
          <a:prstGeom prst="rect">
            <a:avLst/>
          </a:prstGeom>
          <a:noFill/>
          <a:ln/>
        </p:spPr>
        <p:txBody>
          <a:bodyPr wrap="square" rtlCol="0" anchor="ctr"/>
          <a:lstStyle/>
          <a:p>
            <a:pPr marL="0" indent="0">
              <a:buNone/>
            </a:pPr>
            <a:r>
              <a:rPr lang="en-US" sz="1000" dirty="0">
                <a:solidFill>
                  <a:srgbClr val="27AE60"/>
                </a:solidFill>
                <a:latin typeface="Calibri" pitchFamily="34" charset="0"/>
                <a:ea typeface="Calibri" pitchFamily="34" charset="-122"/>
                <a:cs typeface="Calibri" pitchFamily="34" charset="-120"/>
              </a:rPr>
              <a:t>✅  Pipeline complet : install → sast → sonar → trivy → unit-test → e2e → k6 → build-image → trivy-image → staging → production</a:t>
            </a:r>
            <a:endParaRPr lang="en-US" sz="1000" dirty="0"/>
          </a:p>
        </p:txBody>
      </p:sp>
    </p:spTree>
    <p:extLst>
      <p:ext uri="{BB962C8B-B14F-4D97-AF65-F5344CB8AC3E}">
        <p14:creationId xmlns:p14="http://schemas.microsoft.com/office/powerpoint/2010/main" val="3924157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txBody>
          <a:bodyPr/>
          <a:lstStyle/>
          <a:p>
            <a:endParaRPr lang="fr-FR"/>
          </a:p>
        </p:txBody>
      </p:sp>
      <p:sp>
        <p:nvSpPr>
          <p:cNvPr id="3" name="Shape 1"/>
          <p:cNvSpPr/>
          <p:nvPr/>
        </p:nvSpPr>
        <p:spPr>
          <a:xfrm>
            <a:off x="0" y="6675120"/>
            <a:ext cx="12192000" cy="182880"/>
          </a:xfrm>
          <a:prstGeom prst="rect">
            <a:avLst/>
          </a:prstGeom>
          <a:solidFill>
            <a:srgbClr val="C0392B"/>
          </a:solidFill>
          <a:ln/>
        </p:spPr>
        <p:txBody>
          <a:bodyPr/>
          <a:lstStyle/>
          <a:p>
            <a:endParaRPr lang="fr-FR"/>
          </a:p>
        </p:txBody>
      </p:sp>
      <p:sp>
        <p:nvSpPr>
          <p:cNvPr id="4" name="Text 2"/>
          <p:cNvSpPr/>
          <p:nvPr/>
        </p:nvSpPr>
        <p:spPr>
          <a:xfrm>
            <a:off x="274320" y="6675120"/>
            <a:ext cx="9601200" cy="182880"/>
          </a:xfrm>
          <a:prstGeom prst="rect">
            <a:avLst/>
          </a:prstGeom>
          <a:noFill/>
          <a:ln/>
        </p:spPr>
        <p:txBody>
          <a:bodyPr wrap="square" rtlCol="0" anchor="ctr"/>
          <a:lstStyle/>
          <a:p>
            <a:pPr marL="0" indent="0">
              <a:buNone/>
            </a:pPr>
            <a:r>
              <a:rPr lang="fr-FR" sz="800" dirty="0">
                <a:solidFill>
                  <a:srgbClr val="FFFFFF"/>
                </a:solidFill>
                <a:latin typeface="Calibri" pitchFamily="34" charset="0"/>
                <a:ea typeface="Calibri" pitchFamily="34" charset="-122"/>
                <a:cs typeface="Calibri" pitchFamily="34" charset="-120"/>
              </a:rPr>
              <a:t>La Petite Maison de l’Épouvante —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marL="0" indent="0" algn="r">
              <a:buNone/>
            </a:pPr>
            <a:r>
              <a:rPr lang="en-US" sz="1800" b="1" dirty="0">
                <a:solidFill>
                  <a:srgbClr val="1A1A1A"/>
                </a:solidFill>
                <a:latin typeface="Calibri" pitchFamily="34" charset="0"/>
                <a:ea typeface="Calibri" pitchFamily="34" charset="-122"/>
                <a:cs typeface="Calibri" pitchFamily="34" charset="-120"/>
              </a:rPr>
              <a:t>14</a:t>
            </a:r>
            <a:endParaRPr lang="en-US" sz="1800" dirty="0"/>
          </a:p>
        </p:txBody>
      </p:sp>
      <p:sp>
        <p:nvSpPr>
          <p:cNvPr id="6" name="Shape 4"/>
          <p:cNvSpPr/>
          <p:nvPr/>
        </p:nvSpPr>
        <p:spPr>
          <a:xfrm>
            <a:off x="365760" y="1051560"/>
            <a:ext cx="2377440" cy="54864"/>
          </a:xfrm>
          <a:prstGeom prst="rect">
            <a:avLst/>
          </a:prstGeom>
          <a:solidFill>
            <a:srgbClr val="C0392B"/>
          </a:solidFill>
          <a:ln/>
        </p:spPr>
        <p:txBody>
          <a:bodyPr/>
          <a:lstStyle/>
          <a:p>
            <a:endParaRPr lang="fr-FR"/>
          </a:p>
        </p:txBody>
      </p:sp>
      <p:sp>
        <p:nvSpPr>
          <p:cNvPr id="7" name="Text 5"/>
          <p:cNvSpPr/>
          <p:nvPr/>
        </p:nvSpPr>
        <p:spPr>
          <a:xfrm>
            <a:off x="365760" y="640080"/>
            <a:ext cx="10972800" cy="548640"/>
          </a:xfrm>
          <a:prstGeom prst="rect">
            <a:avLst/>
          </a:prstGeom>
          <a:noFill/>
          <a:ln/>
        </p:spPr>
        <p:txBody>
          <a:bodyPr wrap="square" rtlCol="0" anchor="ctr"/>
          <a:lstStyle/>
          <a:p>
            <a:pPr marL="0" indent="0">
              <a:buNone/>
            </a:pPr>
            <a:r>
              <a:rPr lang="en-US" sz="1100" b="1" kern="0" spc="200" dirty="0">
                <a:solidFill>
                  <a:srgbClr val="E74C3C"/>
                </a:solidFill>
                <a:latin typeface="Calibri" pitchFamily="34" charset="0"/>
                <a:ea typeface="Calibri" pitchFamily="34" charset="-122"/>
                <a:cs typeface="Calibri" pitchFamily="34" charset="-120"/>
              </a:rPr>
              <a:t>MISE EN PRODUCTION — DISPONIBILITÉ</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marL="0" indent="0">
              <a:buNone/>
            </a:pPr>
            <a:r>
              <a:rPr lang="en-US" sz="3400" b="1" dirty="0">
                <a:solidFill>
                  <a:srgbClr val="1A1A1A"/>
                </a:solidFill>
                <a:latin typeface="Palatino Linotype" pitchFamily="34" charset="0"/>
                <a:ea typeface="Palatino Linotype" pitchFamily="34" charset="-122"/>
                <a:cs typeface="Palatino Linotype" pitchFamily="34" charset="-120"/>
              </a:rPr>
              <a:t>Orchestrer la production</a:t>
            </a:r>
            <a:endParaRPr lang="en-US" sz="3400" dirty="0"/>
          </a:p>
          <a:p>
            <a:pPr marL="0" indent="0">
              <a:buNone/>
            </a:pPr>
            <a:r>
              <a:rPr lang="en-US" sz="3400" b="1" dirty="0">
                <a:solidFill>
                  <a:srgbClr val="1A1A1A"/>
                </a:solidFill>
                <a:latin typeface="Palatino Linotype" pitchFamily="34" charset="0"/>
                <a:ea typeface="Palatino Linotype" pitchFamily="34" charset="-122"/>
                <a:cs typeface="Palatino Linotype" pitchFamily="34" charset="-120"/>
              </a:rPr>
              <a:t>pour garantir la disponibilité</a:t>
            </a:r>
            <a:endParaRPr lang="en-US" sz="3400" dirty="0"/>
          </a:p>
        </p:txBody>
      </p:sp>
      <p:sp>
        <p:nvSpPr>
          <p:cNvPr id="9" name="Shape 7"/>
          <p:cNvSpPr/>
          <p:nvPr/>
        </p:nvSpPr>
        <p:spPr>
          <a:xfrm>
            <a:off x="274320" y="2743200"/>
            <a:ext cx="5760720" cy="1600200"/>
          </a:xfrm>
          <a:prstGeom prst="rect">
            <a:avLst/>
          </a:prstGeom>
          <a:solidFill>
            <a:srgbClr val="F5F5F5"/>
          </a:solidFill>
          <a:ln w="19050">
            <a:solidFill>
              <a:srgbClr val="C0392B"/>
            </a:solidFill>
            <a:prstDash val="solid"/>
          </a:ln>
        </p:spPr>
        <p:txBody>
          <a:bodyPr/>
          <a:lstStyle/>
          <a:p>
            <a:endParaRPr lang="fr-FR"/>
          </a:p>
        </p:txBody>
      </p:sp>
      <p:sp>
        <p:nvSpPr>
          <p:cNvPr id="10" name="Text 8"/>
          <p:cNvSpPr/>
          <p:nvPr/>
        </p:nvSpPr>
        <p:spPr>
          <a:xfrm>
            <a:off x="411480" y="2852928"/>
            <a:ext cx="5486400" cy="50292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Restart automatique</a:t>
            </a:r>
            <a:endParaRPr lang="en-US" sz="1400" dirty="0"/>
          </a:p>
        </p:txBody>
      </p:sp>
      <p:sp>
        <p:nvSpPr>
          <p:cNvPr id="11" name="Text 9"/>
          <p:cNvSpPr/>
          <p:nvPr/>
        </p:nvSpPr>
        <p:spPr>
          <a:xfrm>
            <a:off x="411480" y="3401568"/>
            <a:ext cx="5486400" cy="82296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--restart=unless-stopped</a:t>
            </a:r>
            <a:endParaRPr lang="en-US" sz="1200" dirty="0"/>
          </a:p>
          <a:p>
            <a:pPr marL="0" indent="0">
              <a:buNone/>
            </a:pPr>
            <a:r>
              <a:rPr lang="en-US" sz="1200" dirty="0">
                <a:solidFill>
                  <a:srgbClr val="555555"/>
                </a:solidFill>
                <a:latin typeface="Calibri" pitchFamily="34" charset="0"/>
                <a:ea typeface="Calibri" pitchFamily="34" charset="-122"/>
                <a:cs typeface="Calibri" pitchFamily="34" charset="-120"/>
              </a:rPr>
              <a:t>Redémarrage auto si crash conteneur</a:t>
            </a:r>
            <a:endParaRPr lang="en-US" sz="1200" dirty="0"/>
          </a:p>
        </p:txBody>
      </p:sp>
      <p:sp>
        <p:nvSpPr>
          <p:cNvPr id="12" name="Shape 10"/>
          <p:cNvSpPr/>
          <p:nvPr/>
        </p:nvSpPr>
        <p:spPr>
          <a:xfrm>
            <a:off x="6309360" y="2743200"/>
            <a:ext cx="5760720" cy="1600200"/>
          </a:xfrm>
          <a:prstGeom prst="rect">
            <a:avLst/>
          </a:prstGeom>
          <a:solidFill>
            <a:srgbClr val="F5F5F5"/>
          </a:solidFill>
          <a:ln w="19050">
            <a:solidFill>
              <a:srgbClr val="C0392B"/>
            </a:solidFill>
            <a:prstDash val="solid"/>
          </a:ln>
        </p:spPr>
        <p:txBody>
          <a:bodyPr/>
          <a:lstStyle/>
          <a:p>
            <a:endParaRPr lang="fr-FR"/>
          </a:p>
        </p:txBody>
      </p:sp>
      <p:sp>
        <p:nvSpPr>
          <p:cNvPr id="13" name="Text 11"/>
          <p:cNvSpPr/>
          <p:nvPr/>
        </p:nvSpPr>
        <p:spPr>
          <a:xfrm>
            <a:off x="6446520" y="2852928"/>
            <a:ext cx="5486400" cy="50292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Health check /healthy</a:t>
            </a:r>
            <a:endParaRPr lang="en-US" sz="1400" dirty="0"/>
          </a:p>
        </p:txBody>
      </p:sp>
      <p:sp>
        <p:nvSpPr>
          <p:cNvPr id="14" name="Text 12"/>
          <p:cNvSpPr/>
          <p:nvPr/>
        </p:nvSpPr>
        <p:spPr>
          <a:xfrm>
            <a:off x="6446520" y="3401568"/>
            <a:ext cx="5486400" cy="82296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12 tentatives × 5s dans le pipeline</a:t>
            </a:r>
            <a:endParaRPr lang="en-US" sz="1200" dirty="0"/>
          </a:p>
          <a:p>
            <a:pPr marL="0" indent="0">
              <a:buNone/>
            </a:pPr>
            <a:r>
              <a:rPr lang="en-US" sz="1200" dirty="0">
                <a:solidFill>
                  <a:srgbClr val="555555"/>
                </a:solidFill>
                <a:latin typeface="Calibri" pitchFamily="34" charset="0"/>
                <a:ea typeface="Calibri" pitchFamily="34" charset="-122"/>
                <a:cs typeface="Calibri" pitchFamily="34" charset="-120"/>
              </a:rPr>
              <a:t>Vérification DB + endpoint Symfony</a:t>
            </a:r>
            <a:endParaRPr lang="en-US" sz="1200" dirty="0"/>
          </a:p>
        </p:txBody>
      </p:sp>
      <p:sp>
        <p:nvSpPr>
          <p:cNvPr id="15" name="Shape 13"/>
          <p:cNvSpPr/>
          <p:nvPr/>
        </p:nvSpPr>
        <p:spPr>
          <a:xfrm>
            <a:off x="274320" y="4572000"/>
            <a:ext cx="5760720" cy="1600200"/>
          </a:xfrm>
          <a:prstGeom prst="rect">
            <a:avLst/>
          </a:prstGeom>
          <a:solidFill>
            <a:srgbClr val="F5F5F5"/>
          </a:solidFill>
          <a:ln w="19050">
            <a:solidFill>
              <a:srgbClr val="C0392B"/>
            </a:solidFill>
            <a:prstDash val="solid"/>
          </a:ln>
        </p:spPr>
        <p:txBody>
          <a:bodyPr/>
          <a:lstStyle/>
          <a:p>
            <a:endParaRPr lang="fr-FR"/>
          </a:p>
        </p:txBody>
      </p:sp>
      <p:sp>
        <p:nvSpPr>
          <p:cNvPr id="16" name="Text 14"/>
          <p:cNvSpPr/>
          <p:nvPr/>
        </p:nvSpPr>
        <p:spPr>
          <a:xfrm>
            <a:off x="411480" y="4681728"/>
            <a:ext cx="5486400" cy="50292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Persistance des données</a:t>
            </a:r>
            <a:endParaRPr lang="en-US" sz="1400" dirty="0"/>
          </a:p>
        </p:txBody>
      </p:sp>
      <p:sp>
        <p:nvSpPr>
          <p:cNvPr id="17" name="Text 15"/>
          <p:cNvSpPr/>
          <p:nvPr/>
        </p:nvSpPr>
        <p:spPr>
          <a:xfrm>
            <a:off x="411480" y="5230368"/>
            <a:ext cx="5486400" cy="82296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Volume Docker lpmde_pg_data</a:t>
            </a:r>
            <a:endParaRPr lang="en-US" sz="1200" dirty="0"/>
          </a:p>
          <a:p>
            <a:pPr marL="0" indent="0">
              <a:buNone/>
            </a:pPr>
            <a:r>
              <a:rPr lang="en-US" sz="1200" dirty="0">
                <a:solidFill>
                  <a:srgbClr val="555555"/>
                </a:solidFill>
                <a:latin typeface="Calibri" pitchFamily="34" charset="0"/>
                <a:ea typeface="Calibri" pitchFamily="34" charset="-122"/>
                <a:cs typeface="Calibri" pitchFamily="34" charset="-120"/>
              </a:rPr>
              <a:t>Données conservées entre déploiements</a:t>
            </a:r>
            <a:endParaRPr lang="en-US" sz="1200" dirty="0"/>
          </a:p>
        </p:txBody>
      </p:sp>
      <p:sp>
        <p:nvSpPr>
          <p:cNvPr id="18" name="Shape 16"/>
          <p:cNvSpPr/>
          <p:nvPr/>
        </p:nvSpPr>
        <p:spPr>
          <a:xfrm>
            <a:off x="6309360" y="4572000"/>
            <a:ext cx="5760720" cy="1600200"/>
          </a:xfrm>
          <a:prstGeom prst="rect">
            <a:avLst/>
          </a:prstGeom>
          <a:solidFill>
            <a:srgbClr val="F5F5F5"/>
          </a:solidFill>
          <a:ln w="19050">
            <a:solidFill>
              <a:srgbClr val="C0392B"/>
            </a:solidFill>
            <a:prstDash val="solid"/>
          </a:ln>
        </p:spPr>
        <p:txBody>
          <a:bodyPr/>
          <a:lstStyle/>
          <a:p>
            <a:endParaRPr lang="fr-FR"/>
          </a:p>
        </p:txBody>
      </p:sp>
      <p:sp>
        <p:nvSpPr>
          <p:cNvPr id="19" name="Text 17"/>
          <p:cNvSpPr/>
          <p:nvPr/>
        </p:nvSpPr>
        <p:spPr>
          <a:xfrm>
            <a:off x="6446520" y="4681728"/>
            <a:ext cx="5486400" cy="50292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Performance validée k6</a:t>
            </a:r>
            <a:endParaRPr lang="en-US" sz="1400" dirty="0"/>
          </a:p>
        </p:txBody>
      </p:sp>
      <p:sp>
        <p:nvSpPr>
          <p:cNvPr id="20" name="Text 18"/>
          <p:cNvSpPr/>
          <p:nvPr/>
        </p:nvSpPr>
        <p:spPr>
          <a:xfrm>
            <a:off x="6446520" y="5230368"/>
            <a:ext cx="5486400" cy="82296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35/35 checks · p95 &lt; 200ms</a:t>
            </a:r>
            <a:endParaRPr lang="en-US" sz="1200" dirty="0"/>
          </a:p>
          <a:p>
            <a:pPr marL="0" indent="0">
              <a:buNone/>
            </a:pPr>
            <a:r>
              <a:rPr lang="en-US" sz="1200" dirty="0">
                <a:solidFill>
                  <a:srgbClr val="555555"/>
                </a:solidFill>
                <a:latin typeface="Calibri" pitchFamily="34" charset="0"/>
                <a:ea typeface="Calibri" pitchFamily="34" charset="-122"/>
                <a:cs typeface="Calibri" pitchFamily="34" charset="-120"/>
              </a:rPr>
              <a:t>0% d'erreurs sous charge simulée</a:t>
            </a:r>
            <a:endParaRPr lang="en-US" sz="1200" dirty="0"/>
          </a:p>
        </p:txBody>
      </p:sp>
      <p:sp>
        <p:nvSpPr>
          <p:cNvPr id="21" name="Shape 19"/>
          <p:cNvSpPr/>
          <p:nvPr/>
        </p:nvSpPr>
        <p:spPr>
          <a:xfrm>
            <a:off x="274320" y="6236208"/>
            <a:ext cx="11795760" cy="320040"/>
          </a:xfrm>
          <a:prstGeom prst="rect">
            <a:avLst/>
          </a:prstGeom>
          <a:solidFill>
            <a:srgbClr val="F5F5F5"/>
          </a:solidFill>
          <a:ln w="19050">
            <a:solidFill>
              <a:srgbClr val="C0392B"/>
            </a:solidFill>
            <a:prstDash val="solid"/>
          </a:ln>
        </p:spPr>
        <p:txBody>
          <a:bodyPr/>
          <a:lstStyle/>
          <a:p>
            <a:endParaRPr lang="fr-FR"/>
          </a:p>
        </p:txBody>
      </p:sp>
      <p:sp>
        <p:nvSpPr>
          <p:cNvPr id="22" name="Text 20"/>
          <p:cNvSpPr/>
          <p:nvPr/>
        </p:nvSpPr>
        <p:spPr>
          <a:xfrm>
            <a:off x="457200" y="6254496"/>
            <a:ext cx="11338560" cy="256032"/>
          </a:xfrm>
          <a:prstGeom prst="rect">
            <a:avLst/>
          </a:prstGeom>
          <a:noFill/>
          <a:ln/>
        </p:spPr>
        <p:txBody>
          <a:bodyPr wrap="square" rtlCol="0" anchor="ctr"/>
          <a:lstStyle/>
          <a:p>
            <a:pPr marL="0" indent="0">
              <a:buNone/>
            </a:pPr>
            <a:r>
              <a:rPr lang="en-US" sz="1000" dirty="0">
                <a:solidFill>
                  <a:srgbClr val="F39C12"/>
                </a:solidFill>
                <a:latin typeface="Calibri" pitchFamily="34" charset="0"/>
                <a:ea typeface="Calibri" pitchFamily="34" charset="-122"/>
                <a:cs typeface="Calibri" pitchFamily="34" charset="-120"/>
              </a:rPr>
              <a:t>Roadmap v2 : Kubernetes (après CKA) → Load Balancer → Multi-instances → SLA 99,9%</a:t>
            </a:r>
            <a:endParaRPr lang="en-US" sz="1000" dirty="0"/>
          </a:p>
        </p:txBody>
      </p:sp>
    </p:spTree>
    <p:extLst>
      <p:ext uri="{BB962C8B-B14F-4D97-AF65-F5344CB8AC3E}">
        <p14:creationId xmlns:p14="http://schemas.microsoft.com/office/powerpoint/2010/main" val="1660477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3200400"/>
            <a:ext cx="12192000" cy="73152"/>
          </a:xfrm>
          <a:prstGeom prst="rect">
            <a:avLst/>
          </a:prstGeom>
          <a:solidFill>
            <a:srgbClr val="C0392B"/>
          </a:solidFill>
          <a:ln/>
        </p:spPr>
        <p:txBody>
          <a:bodyPr/>
          <a:lstStyle/>
          <a:p>
            <a:endParaRPr lang="fr-FR"/>
          </a:p>
        </p:txBody>
      </p:sp>
      <p:sp>
        <p:nvSpPr>
          <p:cNvPr id="4" name="Text 2"/>
          <p:cNvSpPr/>
          <p:nvPr/>
        </p:nvSpPr>
        <p:spPr>
          <a:xfrm>
            <a:off x="0" y="2560320"/>
            <a:ext cx="12192000" cy="1371600"/>
          </a:xfrm>
          <a:prstGeom prst="rect">
            <a:avLst/>
          </a:prstGeom>
          <a:noFill/>
          <a:ln/>
        </p:spPr>
        <p:txBody>
          <a:bodyPr wrap="square" rtlCol="0" anchor="ctr"/>
          <a:lstStyle/>
          <a:p>
            <a:pPr marL="0" indent="0" algn="ctr">
              <a:buNone/>
            </a:pPr>
            <a:r>
              <a:rPr lang="en-US" sz="5000" b="1" dirty="0" err="1">
                <a:solidFill>
                  <a:srgbClr val="1A1A1A"/>
                </a:solidFill>
                <a:latin typeface="Palatino Linotype" pitchFamily="34" charset="0"/>
                <a:ea typeface="Palatino Linotype" pitchFamily="34" charset="-122"/>
                <a:cs typeface="Palatino Linotype" pitchFamily="34" charset="-120"/>
              </a:rPr>
              <a:t>Démonstration</a:t>
            </a:r>
            <a:endParaRPr lang="en-US" sz="5000" dirty="0"/>
          </a:p>
        </p:txBody>
      </p:sp>
      <p:sp>
        <p:nvSpPr>
          <p:cNvPr id="5" name="Text 3"/>
          <p:cNvSpPr/>
          <p:nvPr/>
        </p:nvSpPr>
        <p:spPr>
          <a:xfrm>
            <a:off x="0" y="4023360"/>
            <a:ext cx="12192000" cy="457200"/>
          </a:xfrm>
          <a:prstGeom prst="rect">
            <a:avLst/>
          </a:prstGeom>
          <a:noFill/>
          <a:ln/>
        </p:spPr>
        <p:txBody>
          <a:bodyPr wrap="square" rtlCol="0" anchor="ctr"/>
          <a:lstStyle/>
          <a:p>
            <a:pPr marL="0" indent="0" algn="ctr">
              <a:buNone/>
            </a:pPr>
            <a:r>
              <a:rPr lang="en-US" sz="1400" i="1" dirty="0">
                <a:solidFill>
                  <a:srgbClr val="555555"/>
                </a:solidFill>
                <a:latin typeface="Calibri" pitchFamily="34" charset="0"/>
                <a:ea typeface="Calibri" pitchFamily="34" charset="-122"/>
                <a:cs typeface="Calibri" pitchFamily="34" charset="-120"/>
              </a:rPr>
              <a:t>Pipeline </a:t>
            </a:r>
            <a:r>
              <a:rPr lang="en-US" sz="1400" i="1" dirty="0" err="1">
                <a:solidFill>
                  <a:srgbClr val="555555"/>
                </a:solidFill>
                <a:latin typeface="Calibri" pitchFamily="34" charset="0"/>
                <a:ea typeface="Calibri" pitchFamily="34" charset="-122"/>
                <a:cs typeface="Calibri" pitchFamily="34" charset="-120"/>
              </a:rPr>
              <a:t>Github</a:t>
            </a:r>
            <a:r>
              <a:rPr lang="en-US" sz="1400" i="1" dirty="0">
                <a:solidFill>
                  <a:srgbClr val="555555"/>
                </a:solidFill>
                <a:latin typeface="Calibri" pitchFamily="34" charset="0"/>
                <a:ea typeface="Calibri" pitchFamily="34" charset="-122"/>
                <a:cs typeface="Calibri" pitchFamily="34" charset="-120"/>
              </a:rPr>
              <a:t> Actions – Endpoint API /healthy</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C7E1C1AC-A6A2-C5E9-C1DE-1DCF0E6EF90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7819911-153D-8E11-574F-718744DAB73B}"/>
              </a:ext>
            </a:extLst>
          </p:cNvPr>
          <p:cNvSpPr/>
          <p:nvPr/>
        </p:nvSpPr>
        <p:spPr>
          <a:xfrm>
            <a:off x="0" y="3200400"/>
            <a:ext cx="12192000" cy="73152"/>
          </a:xfrm>
          <a:prstGeom prst="rect">
            <a:avLst/>
          </a:prstGeom>
          <a:solidFill>
            <a:srgbClr val="C0392B"/>
          </a:solidFill>
          <a:ln/>
        </p:spPr>
        <p:txBody>
          <a:bodyPr/>
          <a:lstStyle/>
          <a:p>
            <a:endParaRPr lang="fr-FR"/>
          </a:p>
        </p:txBody>
      </p:sp>
      <p:sp>
        <p:nvSpPr>
          <p:cNvPr id="3" name="Text 1">
            <a:extLst>
              <a:ext uri="{FF2B5EF4-FFF2-40B4-BE49-F238E27FC236}">
                <a16:creationId xmlns:a16="http://schemas.microsoft.com/office/drawing/2014/main" id="{BBB6E11F-1CAC-8B4B-FD91-ADAB12E6CD94}"/>
              </a:ext>
            </a:extLst>
          </p:cNvPr>
          <p:cNvSpPr/>
          <p:nvPr/>
        </p:nvSpPr>
        <p:spPr>
          <a:xfrm>
            <a:off x="0" y="1828800"/>
            <a:ext cx="12192000" cy="640080"/>
          </a:xfrm>
          <a:prstGeom prst="rect">
            <a:avLst/>
          </a:prstGeom>
          <a:noFill/>
          <a:ln/>
        </p:spPr>
        <p:txBody>
          <a:bodyPr wrap="square" rtlCol="0" anchor="ctr"/>
          <a:lstStyle/>
          <a:p>
            <a:pPr marL="0" indent="0" algn="ctr">
              <a:buNone/>
            </a:pPr>
            <a:r>
              <a:rPr lang="en-US" sz="1400" b="1" kern="0" spc="600" dirty="0">
                <a:solidFill>
                  <a:srgbClr val="E74C3C"/>
                </a:solidFill>
                <a:latin typeface="Calibri" pitchFamily="34" charset="0"/>
                <a:ea typeface="Calibri" pitchFamily="34" charset="-122"/>
                <a:cs typeface="Calibri" pitchFamily="34" charset="-120"/>
              </a:rPr>
              <a:t>PARTIE 3</a:t>
            </a:r>
            <a:endParaRPr lang="en-US" sz="1400" dirty="0"/>
          </a:p>
        </p:txBody>
      </p:sp>
      <p:sp>
        <p:nvSpPr>
          <p:cNvPr id="4" name="Text 2">
            <a:extLst>
              <a:ext uri="{FF2B5EF4-FFF2-40B4-BE49-F238E27FC236}">
                <a16:creationId xmlns:a16="http://schemas.microsoft.com/office/drawing/2014/main" id="{C0B0D198-7820-9B2E-F785-E8E5E28067CE}"/>
              </a:ext>
            </a:extLst>
          </p:cNvPr>
          <p:cNvSpPr/>
          <p:nvPr/>
        </p:nvSpPr>
        <p:spPr>
          <a:xfrm>
            <a:off x="0" y="2560320"/>
            <a:ext cx="12192000" cy="1371600"/>
          </a:xfrm>
          <a:prstGeom prst="rect">
            <a:avLst/>
          </a:prstGeom>
          <a:noFill/>
          <a:ln/>
        </p:spPr>
        <p:txBody>
          <a:bodyPr wrap="square" rtlCol="0" anchor="ctr"/>
          <a:lstStyle/>
          <a:p>
            <a:pPr marL="0" indent="0" algn="ctr">
              <a:buNone/>
            </a:pPr>
            <a:r>
              <a:rPr lang="en-US" sz="5000" b="1" dirty="0">
                <a:solidFill>
                  <a:srgbClr val="1A1A1A"/>
                </a:solidFill>
                <a:latin typeface="Palatino Linotype" pitchFamily="34" charset="0"/>
                <a:ea typeface="Palatino Linotype" pitchFamily="34" charset="-122"/>
                <a:cs typeface="Palatino Linotype" pitchFamily="34" charset="-120"/>
              </a:rPr>
              <a:t>Sécurité &amp; Remédiation</a:t>
            </a:r>
            <a:endParaRPr lang="en-US" sz="5000" dirty="0"/>
          </a:p>
        </p:txBody>
      </p:sp>
      <p:sp>
        <p:nvSpPr>
          <p:cNvPr id="5" name="Text 3">
            <a:extLst>
              <a:ext uri="{FF2B5EF4-FFF2-40B4-BE49-F238E27FC236}">
                <a16:creationId xmlns:a16="http://schemas.microsoft.com/office/drawing/2014/main" id="{0070CA1E-BD06-7737-5425-2636381B4B6D}"/>
              </a:ext>
            </a:extLst>
          </p:cNvPr>
          <p:cNvSpPr/>
          <p:nvPr/>
        </p:nvSpPr>
        <p:spPr>
          <a:xfrm>
            <a:off x="0" y="4023360"/>
            <a:ext cx="12192000" cy="457200"/>
          </a:xfrm>
          <a:prstGeom prst="rect">
            <a:avLst/>
          </a:prstGeom>
          <a:noFill/>
          <a:ln/>
        </p:spPr>
        <p:txBody>
          <a:bodyPr wrap="square" rtlCol="0" anchor="ctr"/>
          <a:lstStyle/>
          <a:p>
            <a:pPr marL="0" indent="0" algn="ctr">
              <a:buNone/>
            </a:pPr>
            <a:r>
              <a:rPr lang="en-US" sz="1400" i="1" dirty="0">
                <a:solidFill>
                  <a:srgbClr val="555555"/>
                </a:solidFill>
                <a:latin typeface="Calibri" pitchFamily="34" charset="0"/>
                <a:ea typeface="Calibri" pitchFamily="34" charset="-122"/>
                <a:cs typeface="Calibri" pitchFamily="34" charset="-120"/>
              </a:rPr>
              <a:t>OWASP Top 10 · Plan de remédiation · Mesures préventives v2</a:t>
            </a:r>
            <a:endParaRPr lang="en-US" sz="1400" dirty="0"/>
          </a:p>
        </p:txBody>
      </p:sp>
    </p:spTree>
    <p:extLst>
      <p:ext uri="{BB962C8B-B14F-4D97-AF65-F5344CB8AC3E}">
        <p14:creationId xmlns:p14="http://schemas.microsoft.com/office/powerpoint/2010/main" val="3259267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txBody>
          <a:bodyPr/>
          <a:lstStyle/>
          <a:p>
            <a:endParaRPr lang="fr-FR"/>
          </a:p>
        </p:txBody>
      </p:sp>
      <p:sp>
        <p:nvSpPr>
          <p:cNvPr id="3" name="Shape 1"/>
          <p:cNvSpPr/>
          <p:nvPr/>
        </p:nvSpPr>
        <p:spPr>
          <a:xfrm>
            <a:off x="0" y="6675120"/>
            <a:ext cx="12192000" cy="182880"/>
          </a:xfrm>
          <a:prstGeom prst="rect">
            <a:avLst/>
          </a:prstGeom>
          <a:solidFill>
            <a:srgbClr val="C0392B"/>
          </a:solidFill>
          <a:ln/>
        </p:spPr>
        <p:txBody>
          <a:bodyPr/>
          <a:lstStyle/>
          <a:p>
            <a:endParaRPr lang="fr-FR"/>
          </a:p>
        </p:txBody>
      </p:sp>
      <p:sp>
        <p:nvSpPr>
          <p:cNvPr id="4" name="Text 2"/>
          <p:cNvSpPr/>
          <p:nvPr/>
        </p:nvSpPr>
        <p:spPr>
          <a:xfrm>
            <a:off x="274320" y="6675120"/>
            <a:ext cx="9601200" cy="182880"/>
          </a:xfrm>
          <a:prstGeom prst="rect">
            <a:avLst/>
          </a:prstGeom>
          <a:noFill/>
          <a:ln/>
        </p:spPr>
        <p:txBody>
          <a:bodyPr wrap="square" rtlCol="0" anchor="ctr"/>
          <a:lstStyle/>
          <a:p>
            <a:pPr marL="0" indent="0">
              <a:buNone/>
            </a:pPr>
            <a:r>
              <a:rPr lang="fr-FR" sz="800" dirty="0">
                <a:solidFill>
                  <a:srgbClr val="FFFFFF"/>
                </a:solidFill>
                <a:latin typeface="Calibri" pitchFamily="34" charset="0"/>
                <a:ea typeface="Calibri" pitchFamily="34" charset="-122"/>
                <a:cs typeface="Calibri" pitchFamily="34" charset="-120"/>
              </a:rPr>
              <a:t>La Petite Maison de l’Épouvante —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marL="0" indent="0" algn="r">
              <a:buNone/>
            </a:pPr>
            <a:r>
              <a:rPr lang="en-US" sz="1800" b="1" dirty="0">
                <a:solidFill>
                  <a:srgbClr val="1A1A1A"/>
                </a:solidFill>
                <a:latin typeface="Calibri" pitchFamily="34" charset="0"/>
                <a:ea typeface="Calibri" pitchFamily="34" charset="-122"/>
                <a:cs typeface="Calibri" pitchFamily="34" charset="-120"/>
              </a:rPr>
              <a:t>17</a:t>
            </a:r>
            <a:endParaRPr lang="en-US" sz="1800" dirty="0"/>
          </a:p>
        </p:txBody>
      </p:sp>
      <p:sp>
        <p:nvSpPr>
          <p:cNvPr id="6" name="Shape 4"/>
          <p:cNvSpPr/>
          <p:nvPr/>
        </p:nvSpPr>
        <p:spPr>
          <a:xfrm>
            <a:off x="365760" y="1051560"/>
            <a:ext cx="2377440" cy="54864"/>
          </a:xfrm>
          <a:prstGeom prst="rect">
            <a:avLst/>
          </a:prstGeom>
          <a:solidFill>
            <a:srgbClr val="C0392B"/>
          </a:solidFill>
          <a:ln/>
        </p:spPr>
        <p:txBody>
          <a:bodyPr/>
          <a:lstStyle/>
          <a:p>
            <a:endParaRPr lang="fr-FR"/>
          </a:p>
        </p:txBody>
      </p:sp>
      <p:sp>
        <p:nvSpPr>
          <p:cNvPr id="7" name="Text 5"/>
          <p:cNvSpPr/>
          <p:nvPr/>
        </p:nvSpPr>
        <p:spPr>
          <a:xfrm>
            <a:off x="365760" y="640080"/>
            <a:ext cx="10972800" cy="548640"/>
          </a:xfrm>
          <a:prstGeom prst="rect">
            <a:avLst/>
          </a:prstGeom>
          <a:noFill/>
          <a:ln/>
        </p:spPr>
        <p:txBody>
          <a:bodyPr wrap="square" rtlCol="0" anchor="ctr"/>
          <a:lstStyle/>
          <a:p>
            <a:pPr marL="0" indent="0">
              <a:buNone/>
            </a:pPr>
            <a:r>
              <a:rPr lang="en-US" sz="1100" b="1" kern="0" spc="200" dirty="0">
                <a:solidFill>
                  <a:srgbClr val="E74C3C"/>
                </a:solidFill>
                <a:latin typeface="Calibri" pitchFamily="34" charset="0"/>
                <a:ea typeface="Calibri" pitchFamily="34" charset="-122"/>
                <a:cs typeface="Calibri" pitchFamily="34" charset="-120"/>
              </a:rPr>
              <a:t>ANALYSE SECURITE — OWASP TOP 10</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marL="0" indent="0">
              <a:buNone/>
            </a:pPr>
            <a:r>
              <a:rPr lang="en-US" sz="3400" b="1" dirty="0">
                <a:solidFill>
                  <a:srgbClr val="1A1A1A"/>
                </a:solidFill>
                <a:latin typeface="Palatino Linotype" pitchFamily="34" charset="0"/>
                <a:ea typeface="Palatino Linotype" pitchFamily="34" charset="-122"/>
                <a:cs typeface="Palatino Linotype" pitchFamily="34" charset="-120"/>
              </a:rPr>
              <a:t>7 vulnérabilités identifiées en v1</a:t>
            </a:r>
            <a:endParaRPr lang="en-US" sz="3400" dirty="0"/>
          </a:p>
        </p:txBody>
      </p:sp>
      <p:sp>
        <p:nvSpPr>
          <p:cNvPr id="9" name="Shape 7"/>
          <p:cNvSpPr/>
          <p:nvPr/>
        </p:nvSpPr>
        <p:spPr>
          <a:xfrm>
            <a:off x="274320" y="2606040"/>
            <a:ext cx="8686800" cy="457200"/>
          </a:xfrm>
          <a:prstGeom prst="rect">
            <a:avLst/>
          </a:prstGeom>
          <a:solidFill>
            <a:srgbClr val="F5F5F5"/>
          </a:solidFill>
          <a:ln w="12700">
            <a:solidFill>
              <a:srgbClr val="F5F5F5"/>
            </a:solidFill>
            <a:prstDash val="solid"/>
          </a:ln>
        </p:spPr>
        <p:txBody>
          <a:bodyPr/>
          <a:lstStyle/>
          <a:p>
            <a:endParaRPr lang="fr-FR"/>
          </a:p>
        </p:txBody>
      </p:sp>
      <p:sp>
        <p:nvSpPr>
          <p:cNvPr id="10" name="Text 8"/>
          <p:cNvSpPr/>
          <p:nvPr/>
        </p:nvSpPr>
        <p:spPr>
          <a:xfrm>
            <a:off x="411480" y="2651760"/>
            <a:ext cx="731520" cy="365760"/>
          </a:xfrm>
          <a:prstGeom prst="rect">
            <a:avLst/>
          </a:prstGeom>
          <a:noFill/>
          <a:ln/>
        </p:spPr>
        <p:txBody>
          <a:bodyPr wrap="square"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V-01</a:t>
            </a:r>
            <a:endParaRPr lang="en-US" sz="1000" dirty="0"/>
          </a:p>
        </p:txBody>
      </p:sp>
      <p:sp>
        <p:nvSpPr>
          <p:cNvPr id="11" name="Text 9"/>
          <p:cNvSpPr/>
          <p:nvPr/>
        </p:nvSpPr>
        <p:spPr>
          <a:xfrm>
            <a:off x="1188720" y="2651760"/>
            <a:ext cx="6400800" cy="36576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access_control: [] en dev</a:t>
            </a:r>
            <a:endParaRPr lang="en-US" sz="1100" dirty="0"/>
          </a:p>
        </p:txBody>
      </p:sp>
      <p:sp>
        <p:nvSpPr>
          <p:cNvPr id="12" name="Shape 10"/>
          <p:cNvSpPr/>
          <p:nvPr/>
        </p:nvSpPr>
        <p:spPr>
          <a:xfrm>
            <a:off x="9144000" y="2670048"/>
            <a:ext cx="2560320" cy="320040"/>
          </a:xfrm>
          <a:prstGeom prst="rect">
            <a:avLst/>
          </a:prstGeom>
          <a:solidFill>
            <a:srgbClr val="FFFFFF"/>
          </a:solidFill>
          <a:ln w="19050">
            <a:solidFill>
              <a:srgbClr val="E74C3C"/>
            </a:solidFill>
            <a:prstDash val="solid"/>
          </a:ln>
        </p:spPr>
        <p:txBody>
          <a:bodyPr/>
          <a:lstStyle/>
          <a:p>
            <a:endParaRPr lang="fr-FR"/>
          </a:p>
        </p:txBody>
      </p:sp>
      <p:sp>
        <p:nvSpPr>
          <p:cNvPr id="13" name="Text 11"/>
          <p:cNvSpPr/>
          <p:nvPr/>
        </p:nvSpPr>
        <p:spPr>
          <a:xfrm>
            <a:off x="9144000" y="2670048"/>
            <a:ext cx="2560320" cy="320040"/>
          </a:xfrm>
          <a:prstGeom prst="rect">
            <a:avLst/>
          </a:prstGeom>
          <a:noFill/>
          <a:ln/>
        </p:spPr>
        <p:txBody>
          <a:bodyPr wrap="square" rtlCol="0" anchor="ctr"/>
          <a:lstStyle/>
          <a:p>
            <a:pPr marL="0" indent="0" algn="ctr">
              <a:buNone/>
            </a:pPr>
            <a:r>
              <a:rPr lang="en-US" sz="900" b="1" dirty="0">
                <a:solidFill>
                  <a:srgbClr val="E74C3C"/>
                </a:solidFill>
                <a:latin typeface="Calibri" pitchFamily="34" charset="0"/>
                <a:ea typeface="Calibri" pitchFamily="34" charset="-122"/>
                <a:cs typeface="Calibri" pitchFamily="34" charset="-120"/>
              </a:rPr>
              <a:t>CRITIQUE</a:t>
            </a:r>
            <a:endParaRPr lang="en-US" sz="900" dirty="0"/>
          </a:p>
        </p:txBody>
      </p:sp>
      <p:sp>
        <p:nvSpPr>
          <p:cNvPr id="14" name="Shape 12"/>
          <p:cNvSpPr/>
          <p:nvPr/>
        </p:nvSpPr>
        <p:spPr>
          <a:xfrm>
            <a:off x="274320" y="3163824"/>
            <a:ext cx="8686800" cy="457200"/>
          </a:xfrm>
          <a:prstGeom prst="rect">
            <a:avLst/>
          </a:prstGeom>
          <a:solidFill>
            <a:srgbClr val="F5F5F5"/>
          </a:solidFill>
          <a:ln w="12700">
            <a:solidFill>
              <a:srgbClr val="F5F5F5"/>
            </a:solidFill>
            <a:prstDash val="solid"/>
          </a:ln>
        </p:spPr>
        <p:txBody>
          <a:bodyPr/>
          <a:lstStyle/>
          <a:p>
            <a:endParaRPr lang="fr-FR"/>
          </a:p>
        </p:txBody>
      </p:sp>
      <p:sp>
        <p:nvSpPr>
          <p:cNvPr id="15" name="Text 13"/>
          <p:cNvSpPr/>
          <p:nvPr/>
        </p:nvSpPr>
        <p:spPr>
          <a:xfrm>
            <a:off x="411480" y="3209544"/>
            <a:ext cx="731520" cy="365760"/>
          </a:xfrm>
          <a:prstGeom prst="rect">
            <a:avLst/>
          </a:prstGeom>
          <a:noFill/>
          <a:ln/>
        </p:spPr>
        <p:txBody>
          <a:bodyPr wrap="square" rtlCol="0" anchor="ctr"/>
          <a:lstStyle/>
          <a:p>
            <a:pPr marL="0" indent="0">
              <a:buNone/>
            </a:pPr>
            <a:r>
              <a:rPr lang="en-US" sz="1000" b="1" dirty="0">
                <a:solidFill>
                  <a:srgbClr val="E67E22"/>
                </a:solidFill>
                <a:latin typeface="Calibri" pitchFamily="34" charset="0"/>
                <a:ea typeface="Calibri" pitchFamily="34" charset="-122"/>
                <a:cs typeface="Calibri" pitchFamily="34" charset="-120"/>
              </a:rPr>
              <a:t>V-02</a:t>
            </a:r>
            <a:endParaRPr lang="en-US" sz="1000" dirty="0"/>
          </a:p>
        </p:txBody>
      </p:sp>
      <p:sp>
        <p:nvSpPr>
          <p:cNvPr id="16" name="Text 14"/>
          <p:cNvSpPr/>
          <p:nvPr/>
        </p:nvSpPr>
        <p:spPr>
          <a:xfrm>
            <a:off x="1188720" y="3209544"/>
            <a:ext cx="6400800" cy="36576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Connexions PostgreSQL sans SSL/TLS</a:t>
            </a:r>
            <a:endParaRPr lang="en-US" sz="1100" dirty="0"/>
          </a:p>
        </p:txBody>
      </p:sp>
      <p:sp>
        <p:nvSpPr>
          <p:cNvPr id="17" name="Shape 15"/>
          <p:cNvSpPr/>
          <p:nvPr/>
        </p:nvSpPr>
        <p:spPr>
          <a:xfrm>
            <a:off x="9144000" y="3227832"/>
            <a:ext cx="2560320" cy="320040"/>
          </a:xfrm>
          <a:prstGeom prst="rect">
            <a:avLst/>
          </a:prstGeom>
          <a:solidFill>
            <a:srgbClr val="FFFFFF"/>
          </a:solidFill>
          <a:ln w="19050">
            <a:solidFill>
              <a:srgbClr val="E67E22"/>
            </a:solidFill>
            <a:prstDash val="solid"/>
          </a:ln>
        </p:spPr>
        <p:txBody>
          <a:bodyPr/>
          <a:lstStyle/>
          <a:p>
            <a:endParaRPr lang="fr-FR"/>
          </a:p>
        </p:txBody>
      </p:sp>
      <p:sp>
        <p:nvSpPr>
          <p:cNvPr id="18" name="Text 16"/>
          <p:cNvSpPr/>
          <p:nvPr/>
        </p:nvSpPr>
        <p:spPr>
          <a:xfrm>
            <a:off x="9144000" y="3227832"/>
            <a:ext cx="2560320" cy="320040"/>
          </a:xfrm>
          <a:prstGeom prst="rect">
            <a:avLst/>
          </a:prstGeom>
          <a:noFill/>
          <a:ln/>
        </p:spPr>
        <p:txBody>
          <a:bodyPr wrap="square" rtlCol="0" anchor="ctr"/>
          <a:lstStyle/>
          <a:p>
            <a:pPr marL="0" indent="0" algn="ctr">
              <a:buNone/>
            </a:pPr>
            <a:r>
              <a:rPr lang="en-US" sz="900" b="1" dirty="0">
                <a:solidFill>
                  <a:srgbClr val="E67E22"/>
                </a:solidFill>
                <a:latin typeface="Calibri" pitchFamily="34" charset="0"/>
                <a:ea typeface="Calibri" pitchFamily="34" charset="-122"/>
                <a:cs typeface="Calibri" pitchFamily="34" charset="-120"/>
              </a:rPr>
              <a:t>HAUTE</a:t>
            </a:r>
            <a:endParaRPr lang="en-US" sz="900" dirty="0"/>
          </a:p>
        </p:txBody>
      </p:sp>
      <p:sp>
        <p:nvSpPr>
          <p:cNvPr id="19" name="Shape 17"/>
          <p:cNvSpPr/>
          <p:nvPr/>
        </p:nvSpPr>
        <p:spPr>
          <a:xfrm>
            <a:off x="274320" y="3721608"/>
            <a:ext cx="8686800" cy="457200"/>
          </a:xfrm>
          <a:prstGeom prst="rect">
            <a:avLst/>
          </a:prstGeom>
          <a:solidFill>
            <a:srgbClr val="F5F5F5"/>
          </a:solidFill>
          <a:ln w="12700">
            <a:solidFill>
              <a:srgbClr val="F5F5F5"/>
            </a:solidFill>
            <a:prstDash val="solid"/>
          </a:ln>
        </p:spPr>
        <p:txBody>
          <a:bodyPr/>
          <a:lstStyle/>
          <a:p>
            <a:endParaRPr lang="fr-FR"/>
          </a:p>
        </p:txBody>
      </p:sp>
      <p:sp>
        <p:nvSpPr>
          <p:cNvPr id="20" name="Text 18"/>
          <p:cNvSpPr/>
          <p:nvPr/>
        </p:nvSpPr>
        <p:spPr>
          <a:xfrm>
            <a:off x="411480" y="3767328"/>
            <a:ext cx="731520" cy="365760"/>
          </a:xfrm>
          <a:prstGeom prst="rect">
            <a:avLst/>
          </a:prstGeom>
          <a:noFill/>
          <a:ln/>
        </p:spPr>
        <p:txBody>
          <a:bodyPr wrap="square"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V-03</a:t>
            </a:r>
            <a:endParaRPr lang="en-US" sz="1000" dirty="0"/>
          </a:p>
        </p:txBody>
      </p:sp>
      <p:sp>
        <p:nvSpPr>
          <p:cNvPr id="21" name="Text 19"/>
          <p:cNvSpPr/>
          <p:nvPr/>
        </p:nvSpPr>
        <p:spPr>
          <a:xfrm>
            <a:off x="1188720" y="3767328"/>
            <a:ext cx="6400800" cy="36576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APP_SECRET potentiellement exposé</a:t>
            </a:r>
            <a:endParaRPr lang="en-US" sz="1100" dirty="0"/>
          </a:p>
        </p:txBody>
      </p:sp>
      <p:sp>
        <p:nvSpPr>
          <p:cNvPr id="22" name="Shape 20"/>
          <p:cNvSpPr/>
          <p:nvPr/>
        </p:nvSpPr>
        <p:spPr>
          <a:xfrm>
            <a:off x="9144000" y="3785616"/>
            <a:ext cx="2560320" cy="320040"/>
          </a:xfrm>
          <a:prstGeom prst="rect">
            <a:avLst/>
          </a:prstGeom>
          <a:solidFill>
            <a:srgbClr val="FFFFFF"/>
          </a:solidFill>
          <a:ln w="19050">
            <a:solidFill>
              <a:srgbClr val="E74C3C"/>
            </a:solidFill>
            <a:prstDash val="solid"/>
          </a:ln>
        </p:spPr>
        <p:txBody>
          <a:bodyPr/>
          <a:lstStyle/>
          <a:p>
            <a:endParaRPr lang="fr-FR"/>
          </a:p>
        </p:txBody>
      </p:sp>
      <p:sp>
        <p:nvSpPr>
          <p:cNvPr id="23" name="Text 21"/>
          <p:cNvSpPr/>
          <p:nvPr/>
        </p:nvSpPr>
        <p:spPr>
          <a:xfrm>
            <a:off x="9144000" y="3785616"/>
            <a:ext cx="2560320" cy="320040"/>
          </a:xfrm>
          <a:prstGeom prst="rect">
            <a:avLst/>
          </a:prstGeom>
          <a:noFill/>
          <a:ln/>
        </p:spPr>
        <p:txBody>
          <a:bodyPr wrap="square" rtlCol="0" anchor="ctr"/>
          <a:lstStyle/>
          <a:p>
            <a:pPr marL="0" indent="0" algn="ctr">
              <a:buNone/>
            </a:pPr>
            <a:r>
              <a:rPr lang="en-US" sz="900" b="1" dirty="0">
                <a:solidFill>
                  <a:srgbClr val="E74C3C"/>
                </a:solidFill>
                <a:latin typeface="Calibri" pitchFamily="34" charset="0"/>
                <a:ea typeface="Calibri" pitchFamily="34" charset="-122"/>
                <a:cs typeface="Calibri" pitchFamily="34" charset="-120"/>
              </a:rPr>
              <a:t>CRITIQUE</a:t>
            </a:r>
            <a:endParaRPr lang="en-US" sz="900" dirty="0"/>
          </a:p>
        </p:txBody>
      </p:sp>
      <p:sp>
        <p:nvSpPr>
          <p:cNvPr id="24" name="Shape 22"/>
          <p:cNvSpPr/>
          <p:nvPr/>
        </p:nvSpPr>
        <p:spPr>
          <a:xfrm>
            <a:off x="274320" y="4279392"/>
            <a:ext cx="8686800" cy="457200"/>
          </a:xfrm>
          <a:prstGeom prst="rect">
            <a:avLst/>
          </a:prstGeom>
          <a:solidFill>
            <a:srgbClr val="F5F5F5"/>
          </a:solidFill>
          <a:ln w="12700">
            <a:solidFill>
              <a:srgbClr val="F5F5F5"/>
            </a:solidFill>
            <a:prstDash val="solid"/>
          </a:ln>
        </p:spPr>
        <p:txBody>
          <a:bodyPr/>
          <a:lstStyle/>
          <a:p>
            <a:endParaRPr lang="fr-FR"/>
          </a:p>
        </p:txBody>
      </p:sp>
      <p:sp>
        <p:nvSpPr>
          <p:cNvPr id="25" name="Text 23"/>
          <p:cNvSpPr/>
          <p:nvPr/>
        </p:nvSpPr>
        <p:spPr>
          <a:xfrm>
            <a:off x="411480" y="4325112"/>
            <a:ext cx="731520" cy="365760"/>
          </a:xfrm>
          <a:prstGeom prst="rect">
            <a:avLst/>
          </a:prstGeom>
          <a:noFill/>
          <a:ln/>
        </p:spPr>
        <p:txBody>
          <a:bodyPr wrap="square" rtlCol="0" anchor="ctr"/>
          <a:lstStyle/>
          <a:p>
            <a:pPr marL="0" indent="0">
              <a:buNone/>
            </a:pPr>
            <a:r>
              <a:rPr lang="en-US" sz="1000" b="1" dirty="0">
                <a:solidFill>
                  <a:srgbClr val="E67E22"/>
                </a:solidFill>
                <a:latin typeface="Calibri" pitchFamily="34" charset="0"/>
                <a:ea typeface="Calibri" pitchFamily="34" charset="-122"/>
                <a:cs typeface="Calibri" pitchFamily="34" charset="-120"/>
              </a:rPr>
              <a:t>V-04</a:t>
            </a:r>
            <a:endParaRPr lang="en-US" sz="1000" dirty="0"/>
          </a:p>
        </p:txBody>
      </p:sp>
      <p:sp>
        <p:nvSpPr>
          <p:cNvPr id="26" name="Text 24"/>
          <p:cNvSpPr/>
          <p:nvPr/>
        </p:nvSpPr>
        <p:spPr>
          <a:xfrm>
            <a:off x="1188720" y="4325112"/>
            <a:ext cx="6400800" cy="36576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Pas de rate limiting sur /api/*</a:t>
            </a:r>
            <a:endParaRPr lang="en-US" sz="1100" dirty="0"/>
          </a:p>
        </p:txBody>
      </p:sp>
      <p:sp>
        <p:nvSpPr>
          <p:cNvPr id="27" name="Shape 25"/>
          <p:cNvSpPr/>
          <p:nvPr/>
        </p:nvSpPr>
        <p:spPr>
          <a:xfrm>
            <a:off x="9144000" y="4343400"/>
            <a:ext cx="2560320" cy="320040"/>
          </a:xfrm>
          <a:prstGeom prst="rect">
            <a:avLst/>
          </a:prstGeom>
          <a:solidFill>
            <a:srgbClr val="FFFFFF"/>
          </a:solidFill>
          <a:ln w="19050">
            <a:solidFill>
              <a:srgbClr val="E67E22"/>
            </a:solidFill>
            <a:prstDash val="solid"/>
          </a:ln>
        </p:spPr>
        <p:txBody>
          <a:bodyPr/>
          <a:lstStyle/>
          <a:p>
            <a:endParaRPr lang="fr-FR"/>
          </a:p>
        </p:txBody>
      </p:sp>
      <p:sp>
        <p:nvSpPr>
          <p:cNvPr id="28" name="Text 26"/>
          <p:cNvSpPr/>
          <p:nvPr/>
        </p:nvSpPr>
        <p:spPr>
          <a:xfrm>
            <a:off x="9144000" y="4343400"/>
            <a:ext cx="2560320" cy="320040"/>
          </a:xfrm>
          <a:prstGeom prst="rect">
            <a:avLst/>
          </a:prstGeom>
          <a:noFill/>
          <a:ln/>
        </p:spPr>
        <p:txBody>
          <a:bodyPr wrap="square" rtlCol="0" anchor="ctr"/>
          <a:lstStyle/>
          <a:p>
            <a:pPr marL="0" indent="0" algn="ctr">
              <a:buNone/>
            </a:pPr>
            <a:r>
              <a:rPr lang="en-US" sz="900" b="1" dirty="0">
                <a:solidFill>
                  <a:srgbClr val="E67E22"/>
                </a:solidFill>
                <a:latin typeface="Calibri" pitchFamily="34" charset="0"/>
                <a:ea typeface="Calibri" pitchFamily="34" charset="-122"/>
                <a:cs typeface="Calibri" pitchFamily="34" charset="-120"/>
              </a:rPr>
              <a:t>HAUTE</a:t>
            </a:r>
            <a:endParaRPr lang="en-US" sz="900" dirty="0"/>
          </a:p>
        </p:txBody>
      </p:sp>
      <p:sp>
        <p:nvSpPr>
          <p:cNvPr id="29" name="Shape 27"/>
          <p:cNvSpPr/>
          <p:nvPr/>
        </p:nvSpPr>
        <p:spPr>
          <a:xfrm>
            <a:off x="274320" y="4837176"/>
            <a:ext cx="8686800" cy="457200"/>
          </a:xfrm>
          <a:prstGeom prst="rect">
            <a:avLst/>
          </a:prstGeom>
          <a:solidFill>
            <a:srgbClr val="F5F5F5"/>
          </a:solidFill>
          <a:ln w="12700">
            <a:solidFill>
              <a:srgbClr val="F5F5F5"/>
            </a:solidFill>
            <a:prstDash val="solid"/>
          </a:ln>
        </p:spPr>
        <p:txBody>
          <a:bodyPr/>
          <a:lstStyle/>
          <a:p>
            <a:endParaRPr lang="fr-FR"/>
          </a:p>
        </p:txBody>
      </p:sp>
      <p:sp>
        <p:nvSpPr>
          <p:cNvPr id="30" name="Text 28"/>
          <p:cNvSpPr/>
          <p:nvPr/>
        </p:nvSpPr>
        <p:spPr>
          <a:xfrm>
            <a:off x="411480" y="4882896"/>
            <a:ext cx="731520" cy="365760"/>
          </a:xfrm>
          <a:prstGeom prst="rect">
            <a:avLst/>
          </a:prstGeom>
          <a:noFill/>
          <a:ln/>
        </p:spPr>
        <p:txBody>
          <a:bodyPr wrap="square" rtlCol="0" anchor="ctr"/>
          <a:lstStyle/>
          <a:p>
            <a:pPr marL="0" indent="0">
              <a:buNone/>
            </a:pPr>
            <a:r>
              <a:rPr lang="en-US" sz="1000" b="1" dirty="0">
                <a:solidFill>
                  <a:srgbClr val="F39C12"/>
                </a:solidFill>
                <a:latin typeface="Calibri" pitchFamily="34" charset="0"/>
                <a:ea typeface="Calibri" pitchFamily="34" charset="-122"/>
                <a:cs typeface="Calibri" pitchFamily="34" charset="-120"/>
              </a:rPr>
              <a:t>V-05</a:t>
            </a:r>
            <a:endParaRPr lang="en-US" sz="1000" dirty="0"/>
          </a:p>
        </p:txBody>
      </p:sp>
      <p:sp>
        <p:nvSpPr>
          <p:cNvPr id="31" name="Text 29"/>
          <p:cNvSpPr/>
          <p:nvPr/>
        </p:nvSpPr>
        <p:spPr>
          <a:xfrm>
            <a:off x="1188720" y="4882896"/>
            <a:ext cx="6400800" cy="36576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Headers CSP / HSTS absents</a:t>
            </a:r>
            <a:endParaRPr lang="en-US" sz="1100" dirty="0"/>
          </a:p>
        </p:txBody>
      </p:sp>
      <p:sp>
        <p:nvSpPr>
          <p:cNvPr id="32" name="Shape 30"/>
          <p:cNvSpPr/>
          <p:nvPr/>
        </p:nvSpPr>
        <p:spPr>
          <a:xfrm>
            <a:off x="9144000" y="4901184"/>
            <a:ext cx="2560320" cy="320040"/>
          </a:xfrm>
          <a:prstGeom prst="rect">
            <a:avLst/>
          </a:prstGeom>
          <a:solidFill>
            <a:srgbClr val="FFFFFF"/>
          </a:solidFill>
          <a:ln w="19050">
            <a:solidFill>
              <a:srgbClr val="F39C12"/>
            </a:solidFill>
            <a:prstDash val="solid"/>
          </a:ln>
        </p:spPr>
        <p:txBody>
          <a:bodyPr/>
          <a:lstStyle/>
          <a:p>
            <a:endParaRPr lang="fr-FR"/>
          </a:p>
        </p:txBody>
      </p:sp>
      <p:sp>
        <p:nvSpPr>
          <p:cNvPr id="33" name="Text 31"/>
          <p:cNvSpPr/>
          <p:nvPr/>
        </p:nvSpPr>
        <p:spPr>
          <a:xfrm>
            <a:off x="9144000" y="4901184"/>
            <a:ext cx="2560320" cy="320040"/>
          </a:xfrm>
          <a:prstGeom prst="rect">
            <a:avLst/>
          </a:prstGeom>
          <a:noFill/>
          <a:ln/>
        </p:spPr>
        <p:txBody>
          <a:bodyPr wrap="square" rtlCol="0" anchor="ctr"/>
          <a:lstStyle/>
          <a:p>
            <a:pPr marL="0" indent="0" algn="ctr">
              <a:buNone/>
            </a:pPr>
            <a:r>
              <a:rPr lang="en-US" sz="900" b="1" dirty="0">
                <a:solidFill>
                  <a:srgbClr val="F39C12"/>
                </a:solidFill>
                <a:latin typeface="Calibri" pitchFamily="34" charset="0"/>
                <a:ea typeface="Calibri" pitchFamily="34" charset="-122"/>
                <a:cs typeface="Calibri" pitchFamily="34" charset="-120"/>
              </a:rPr>
              <a:t>MOYENNE</a:t>
            </a:r>
            <a:endParaRPr lang="en-US" sz="900" dirty="0"/>
          </a:p>
        </p:txBody>
      </p:sp>
      <p:sp>
        <p:nvSpPr>
          <p:cNvPr id="34" name="Shape 32"/>
          <p:cNvSpPr/>
          <p:nvPr/>
        </p:nvSpPr>
        <p:spPr>
          <a:xfrm>
            <a:off x="274320" y="5394960"/>
            <a:ext cx="8686800" cy="457200"/>
          </a:xfrm>
          <a:prstGeom prst="rect">
            <a:avLst/>
          </a:prstGeom>
          <a:solidFill>
            <a:srgbClr val="F5F5F5"/>
          </a:solidFill>
          <a:ln w="12700">
            <a:solidFill>
              <a:srgbClr val="F5F5F5"/>
            </a:solidFill>
            <a:prstDash val="solid"/>
          </a:ln>
        </p:spPr>
        <p:txBody>
          <a:bodyPr/>
          <a:lstStyle/>
          <a:p>
            <a:endParaRPr lang="fr-FR"/>
          </a:p>
        </p:txBody>
      </p:sp>
      <p:sp>
        <p:nvSpPr>
          <p:cNvPr id="35" name="Text 33"/>
          <p:cNvSpPr/>
          <p:nvPr/>
        </p:nvSpPr>
        <p:spPr>
          <a:xfrm>
            <a:off x="411480" y="5440680"/>
            <a:ext cx="731520" cy="365760"/>
          </a:xfrm>
          <a:prstGeom prst="rect">
            <a:avLst/>
          </a:prstGeom>
          <a:noFill/>
          <a:ln/>
        </p:spPr>
        <p:txBody>
          <a:bodyPr wrap="square" rtlCol="0" anchor="ctr"/>
          <a:lstStyle/>
          <a:p>
            <a:pPr marL="0" indent="0">
              <a:buNone/>
            </a:pPr>
            <a:r>
              <a:rPr lang="en-US" sz="1000" b="1" dirty="0">
                <a:solidFill>
                  <a:srgbClr val="F39C12"/>
                </a:solidFill>
                <a:latin typeface="Calibri" pitchFamily="34" charset="0"/>
                <a:ea typeface="Calibri" pitchFamily="34" charset="-122"/>
                <a:cs typeface="Calibri" pitchFamily="34" charset="-120"/>
              </a:rPr>
              <a:t>V-06</a:t>
            </a:r>
            <a:endParaRPr lang="en-US" sz="1000" dirty="0"/>
          </a:p>
        </p:txBody>
      </p:sp>
      <p:sp>
        <p:nvSpPr>
          <p:cNvPr id="36" name="Text 34"/>
          <p:cNvSpPr/>
          <p:nvPr/>
        </p:nvSpPr>
        <p:spPr>
          <a:xfrm>
            <a:off x="1188720" y="5440680"/>
            <a:ext cx="6400800" cy="36576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Logs sans anonymisation RGPD</a:t>
            </a:r>
            <a:endParaRPr lang="en-US" sz="1100" dirty="0"/>
          </a:p>
        </p:txBody>
      </p:sp>
      <p:sp>
        <p:nvSpPr>
          <p:cNvPr id="37" name="Shape 35"/>
          <p:cNvSpPr/>
          <p:nvPr/>
        </p:nvSpPr>
        <p:spPr>
          <a:xfrm>
            <a:off x="9144000" y="5458968"/>
            <a:ext cx="2560320" cy="320040"/>
          </a:xfrm>
          <a:prstGeom prst="rect">
            <a:avLst/>
          </a:prstGeom>
          <a:solidFill>
            <a:srgbClr val="FFFFFF"/>
          </a:solidFill>
          <a:ln w="19050">
            <a:solidFill>
              <a:srgbClr val="F39C12"/>
            </a:solidFill>
            <a:prstDash val="solid"/>
          </a:ln>
        </p:spPr>
        <p:txBody>
          <a:bodyPr/>
          <a:lstStyle/>
          <a:p>
            <a:endParaRPr lang="fr-FR"/>
          </a:p>
        </p:txBody>
      </p:sp>
      <p:sp>
        <p:nvSpPr>
          <p:cNvPr id="38" name="Text 36"/>
          <p:cNvSpPr/>
          <p:nvPr/>
        </p:nvSpPr>
        <p:spPr>
          <a:xfrm>
            <a:off x="9144000" y="5458968"/>
            <a:ext cx="2560320" cy="320040"/>
          </a:xfrm>
          <a:prstGeom prst="rect">
            <a:avLst/>
          </a:prstGeom>
          <a:noFill/>
          <a:ln/>
        </p:spPr>
        <p:txBody>
          <a:bodyPr wrap="square" rtlCol="0" anchor="ctr"/>
          <a:lstStyle/>
          <a:p>
            <a:pPr marL="0" indent="0" algn="ctr">
              <a:buNone/>
            </a:pPr>
            <a:r>
              <a:rPr lang="en-US" sz="900" b="1" dirty="0">
                <a:solidFill>
                  <a:srgbClr val="F39C12"/>
                </a:solidFill>
                <a:latin typeface="Calibri" pitchFamily="34" charset="0"/>
                <a:ea typeface="Calibri" pitchFamily="34" charset="-122"/>
                <a:cs typeface="Calibri" pitchFamily="34" charset="-120"/>
              </a:rPr>
              <a:t>MOYENNE</a:t>
            </a:r>
            <a:endParaRPr lang="en-US" sz="900" dirty="0"/>
          </a:p>
        </p:txBody>
      </p:sp>
      <p:sp>
        <p:nvSpPr>
          <p:cNvPr id="39" name="Shape 37"/>
          <p:cNvSpPr/>
          <p:nvPr/>
        </p:nvSpPr>
        <p:spPr>
          <a:xfrm>
            <a:off x="274320" y="5952744"/>
            <a:ext cx="8686800" cy="457200"/>
          </a:xfrm>
          <a:prstGeom prst="rect">
            <a:avLst/>
          </a:prstGeom>
          <a:solidFill>
            <a:srgbClr val="F5F5F5"/>
          </a:solidFill>
          <a:ln w="12700">
            <a:solidFill>
              <a:srgbClr val="F5F5F5"/>
            </a:solidFill>
            <a:prstDash val="solid"/>
          </a:ln>
        </p:spPr>
        <p:txBody>
          <a:bodyPr/>
          <a:lstStyle/>
          <a:p>
            <a:endParaRPr lang="fr-FR"/>
          </a:p>
        </p:txBody>
      </p:sp>
      <p:sp>
        <p:nvSpPr>
          <p:cNvPr id="40" name="Text 38"/>
          <p:cNvSpPr/>
          <p:nvPr/>
        </p:nvSpPr>
        <p:spPr>
          <a:xfrm>
            <a:off x="411480" y="5998464"/>
            <a:ext cx="731520" cy="365760"/>
          </a:xfrm>
          <a:prstGeom prst="rect">
            <a:avLst/>
          </a:prstGeom>
          <a:noFill/>
          <a:ln/>
        </p:spPr>
        <p:txBody>
          <a:bodyPr wrap="square" rtlCol="0" anchor="ctr"/>
          <a:lstStyle/>
          <a:p>
            <a:pPr marL="0" indent="0">
              <a:buNone/>
            </a:pPr>
            <a:r>
              <a:rPr lang="en-US" sz="1000" b="1" dirty="0">
                <a:solidFill>
                  <a:srgbClr val="555555"/>
                </a:solidFill>
                <a:latin typeface="Calibri" pitchFamily="34" charset="0"/>
                <a:ea typeface="Calibri" pitchFamily="34" charset="-122"/>
                <a:cs typeface="Calibri" pitchFamily="34" charset="-120"/>
              </a:rPr>
              <a:t>V-07</a:t>
            </a:r>
            <a:endParaRPr lang="en-US" sz="1000" dirty="0"/>
          </a:p>
        </p:txBody>
      </p:sp>
      <p:sp>
        <p:nvSpPr>
          <p:cNvPr id="41" name="Text 39"/>
          <p:cNvSpPr/>
          <p:nvPr/>
        </p:nvSpPr>
        <p:spPr>
          <a:xfrm>
            <a:off x="1188720" y="5998464"/>
            <a:ext cx="6400800" cy="36576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Image Docker php:8.2-apache (large)</a:t>
            </a:r>
            <a:endParaRPr lang="en-US" sz="1100" dirty="0"/>
          </a:p>
        </p:txBody>
      </p:sp>
      <p:sp>
        <p:nvSpPr>
          <p:cNvPr id="42" name="Shape 40"/>
          <p:cNvSpPr/>
          <p:nvPr/>
        </p:nvSpPr>
        <p:spPr>
          <a:xfrm>
            <a:off x="9144000" y="6016752"/>
            <a:ext cx="2560320" cy="320040"/>
          </a:xfrm>
          <a:prstGeom prst="rect">
            <a:avLst/>
          </a:prstGeom>
          <a:solidFill>
            <a:srgbClr val="FFFFFF"/>
          </a:solidFill>
          <a:ln w="19050">
            <a:solidFill>
              <a:srgbClr val="555555"/>
            </a:solidFill>
            <a:prstDash val="solid"/>
          </a:ln>
        </p:spPr>
        <p:txBody>
          <a:bodyPr/>
          <a:lstStyle/>
          <a:p>
            <a:endParaRPr lang="fr-FR"/>
          </a:p>
        </p:txBody>
      </p:sp>
      <p:sp>
        <p:nvSpPr>
          <p:cNvPr id="43" name="Text 41"/>
          <p:cNvSpPr/>
          <p:nvPr/>
        </p:nvSpPr>
        <p:spPr>
          <a:xfrm>
            <a:off x="9144000" y="6016752"/>
            <a:ext cx="2560320" cy="320040"/>
          </a:xfrm>
          <a:prstGeom prst="rect">
            <a:avLst/>
          </a:prstGeom>
          <a:noFill/>
          <a:ln/>
        </p:spPr>
        <p:txBody>
          <a:bodyPr wrap="square" rtlCol="0" anchor="ctr"/>
          <a:lstStyle/>
          <a:p>
            <a:pPr marL="0" indent="0" algn="ctr">
              <a:buNone/>
            </a:pPr>
            <a:r>
              <a:rPr lang="en-US" sz="900" b="1" dirty="0">
                <a:solidFill>
                  <a:srgbClr val="555555"/>
                </a:solidFill>
                <a:latin typeface="Calibri" pitchFamily="34" charset="0"/>
                <a:ea typeface="Calibri" pitchFamily="34" charset="-122"/>
                <a:cs typeface="Calibri" pitchFamily="34" charset="-120"/>
              </a:rPr>
              <a:t>BASSE</a:t>
            </a:r>
            <a:endParaRPr lang="en-US" sz="900" dirty="0"/>
          </a:p>
        </p:txBody>
      </p:sp>
    </p:spTree>
    <p:extLst>
      <p:ext uri="{BB962C8B-B14F-4D97-AF65-F5344CB8AC3E}">
        <p14:creationId xmlns:p14="http://schemas.microsoft.com/office/powerpoint/2010/main" val="14152870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txBody>
          <a:bodyPr/>
          <a:lstStyle/>
          <a:p>
            <a:endParaRPr lang="fr-FR"/>
          </a:p>
        </p:txBody>
      </p:sp>
      <p:sp>
        <p:nvSpPr>
          <p:cNvPr id="3" name="Shape 1"/>
          <p:cNvSpPr/>
          <p:nvPr/>
        </p:nvSpPr>
        <p:spPr>
          <a:xfrm>
            <a:off x="0" y="6675120"/>
            <a:ext cx="12192000" cy="182880"/>
          </a:xfrm>
          <a:prstGeom prst="rect">
            <a:avLst/>
          </a:prstGeom>
          <a:solidFill>
            <a:srgbClr val="C0392B"/>
          </a:solidFill>
          <a:ln/>
        </p:spPr>
        <p:txBody>
          <a:bodyPr/>
          <a:lstStyle/>
          <a:p>
            <a:endParaRPr lang="fr-FR"/>
          </a:p>
        </p:txBody>
      </p:sp>
      <p:sp>
        <p:nvSpPr>
          <p:cNvPr id="4" name="Text 2"/>
          <p:cNvSpPr/>
          <p:nvPr/>
        </p:nvSpPr>
        <p:spPr>
          <a:xfrm>
            <a:off x="274320" y="6675120"/>
            <a:ext cx="9601200" cy="182880"/>
          </a:xfrm>
          <a:prstGeom prst="rect">
            <a:avLst/>
          </a:prstGeom>
          <a:noFill/>
          <a:ln/>
        </p:spPr>
        <p:txBody>
          <a:bodyPr wrap="square" rtlCol="0" anchor="ctr"/>
          <a:lstStyle/>
          <a:p>
            <a:pPr marL="0" indent="0">
              <a:buNone/>
            </a:pPr>
            <a:r>
              <a:rPr lang="fr-FR" sz="800" dirty="0">
                <a:solidFill>
                  <a:srgbClr val="FFFFFF"/>
                </a:solidFill>
                <a:latin typeface="Calibri" pitchFamily="34" charset="0"/>
                <a:ea typeface="Calibri" pitchFamily="34" charset="-122"/>
                <a:cs typeface="Calibri" pitchFamily="34" charset="-120"/>
              </a:rPr>
              <a:t>La Petite Maison de l’Épouvante —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marL="0" indent="0" algn="r">
              <a:buNone/>
            </a:pPr>
            <a:r>
              <a:rPr lang="en-US" sz="1800" b="1" dirty="0">
                <a:solidFill>
                  <a:srgbClr val="1A1A1A"/>
                </a:solidFill>
                <a:latin typeface="Calibri" pitchFamily="34" charset="0"/>
                <a:ea typeface="Calibri" pitchFamily="34" charset="-122"/>
                <a:cs typeface="Calibri" pitchFamily="34" charset="-120"/>
              </a:rPr>
              <a:t>18</a:t>
            </a:r>
            <a:endParaRPr lang="en-US" sz="1800" dirty="0"/>
          </a:p>
        </p:txBody>
      </p:sp>
      <p:sp>
        <p:nvSpPr>
          <p:cNvPr id="6" name="Shape 4"/>
          <p:cNvSpPr/>
          <p:nvPr/>
        </p:nvSpPr>
        <p:spPr>
          <a:xfrm>
            <a:off x="365760" y="1051560"/>
            <a:ext cx="2377440" cy="54864"/>
          </a:xfrm>
          <a:prstGeom prst="rect">
            <a:avLst/>
          </a:prstGeom>
          <a:solidFill>
            <a:srgbClr val="C0392B"/>
          </a:solidFill>
          <a:ln/>
        </p:spPr>
        <p:txBody>
          <a:bodyPr/>
          <a:lstStyle/>
          <a:p>
            <a:endParaRPr lang="fr-FR"/>
          </a:p>
        </p:txBody>
      </p:sp>
      <p:sp>
        <p:nvSpPr>
          <p:cNvPr id="7" name="Text 5"/>
          <p:cNvSpPr/>
          <p:nvPr/>
        </p:nvSpPr>
        <p:spPr>
          <a:xfrm>
            <a:off x="365760" y="640080"/>
            <a:ext cx="10972800" cy="548640"/>
          </a:xfrm>
          <a:prstGeom prst="rect">
            <a:avLst/>
          </a:prstGeom>
          <a:noFill/>
          <a:ln/>
        </p:spPr>
        <p:txBody>
          <a:bodyPr wrap="square" rtlCol="0" anchor="ctr"/>
          <a:lstStyle/>
          <a:p>
            <a:pPr marL="0" indent="0">
              <a:buNone/>
            </a:pPr>
            <a:r>
              <a:rPr lang="en-US" sz="1100" b="1" kern="0" spc="200" dirty="0">
                <a:solidFill>
                  <a:srgbClr val="E74C3C"/>
                </a:solidFill>
                <a:latin typeface="Calibri" pitchFamily="34" charset="0"/>
                <a:ea typeface="Calibri" pitchFamily="34" charset="-122"/>
                <a:cs typeface="Calibri" pitchFamily="34" charset="-120"/>
              </a:rPr>
              <a:t>PLAN DE REMEDIATION</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marL="0" indent="0">
              <a:buNone/>
            </a:pPr>
            <a:r>
              <a:rPr lang="en-US" sz="3400" b="1" dirty="0">
                <a:solidFill>
                  <a:srgbClr val="1A1A1A"/>
                </a:solidFill>
                <a:latin typeface="Palatino Linotype" pitchFamily="34" charset="0"/>
                <a:ea typeface="Palatino Linotype" pitchFamily="34" charset="-122"/>
                <a:cs typeface="Palatino Linotype" pitchFamily="34" charset="-120"/>
              </a:rPr>
              <a:t>3 sprints — du critique au préventif</a:t>
            </a:r>
            <a:endParaRPr lang="en-US" sz="3400" dirty="0"/>
          </a:p>
        </p:txBody>
      </p:sp>
      <p:sp>
        <p:nvSpPr>
          <p:cNvPr id="9" name="Shape 7"/>
          <p:cNvSpPr/>
          <p:nvPr/>
        </p:nvSpPr>
        <p:spPr>
          <a:xfrm>
            <a:off x="365760" y="2743200"/>
            <a:ext cx="3657600" cy="3657600"/>
          </a:xfrm>
          <a:prstGeom prst="rect">
            <a:avLst/>
          </a:prstGeom>
          <a:solidFill>
            <a:srgbClr val="F5F5F5"/>
          </a:solidFill>
          <a:ln w="19050">
            <a:solidFill>
              <a:srgbClr val="C0392B"/>
            </a:solidFill>
            <a:prstDash val="solid"/>
          </a:ln>
        </p:spPr>
        <p:txBody>
          <a:bodyPr/>
          <a:lstStyle/>
          <a:p>
            <a:endParaRPr lang="fr-FR"/>
          </a:p>
        </p:txBody>
      </p:sp>
      <p:sp>
        <p:nvSpPr>
          <p:cNvPr id="10" name="Text 8"/>
          <p:cNvSpPr/>
          <p:nvPr/>
        </p:nvSpPr>
        <p:spPr>
          <a:xfrm>
            <a:off x="502920" y="2834640"/>
            <a:ext cx="3383280" cy="640080"/>
          </a:xfrm>
          <a:prstGeom prst="rect">
            <a:avLst/>
          </a:prstGeom>
          <a:noFill/>
          <a:ln/>
        </p:spPr>
        <p:txBody>
          <a:bodyPr wrap="square" rtlCol="0" anchor="ctr"/>
          <a:lstStyle/>
          <a:p>
            <a:pPr marL="0" indent="0" algn="ctr">
              <a:buNone/>
            </a:pPr>
            <a:r>
              <a:rPr lang="en-US" sz="1400" b="1" dirty="0">
                <a:solidFill>
                  <a:srgbClr val="1A1A1A"/>
                </a:solidFill>
                <a:latin typeface="Palatino Linotype" pitchFamily="34" charset="0"/>
                <a:ea typeface="Palatino Linotype" pitchFamily="34" charset="-122"/>
                <a:cs typeface="Palatino Linotype" pitchFamily="34" charset="-120"/>
              </a:rPr>
              <a:t>Sprint 1</a:t>
            </a:r>
            <a:endParaRPr lang="en-US" sz="1400" dirty="0"/>
          </a:p>
          <a:p>
            <a:pPr marL="0" indent="0" algn="ctr">
              <a:buNone/>
            </a:pPr>
            <a:r>
              <a:rPr lang="en-US" sz="1400" b="1" dirty="0">
                <a:solidFill>
                  <a:srgbClr val="1A1A1A"/>
                </a:solidFill>
                <a:latin typeface="Palatino Linotype" pitchFamily="34" charset="0"/>
                <a:ea typeface="Palatino Linotype" pitchFamily="34" charset="-122"/>
                <a:cs typeface="Palatino Linotype" pitchFamily="34" charset="-120"/>
              </a:rPr>
              <a:t>Immédiat</a:t>
            </a:r>
            <a:endParaRPr lang="en-US" sz="1400" dirty="0"/>
          </a:p>
        </p:txBody>
      </p:sp>
      <p:sp>
        <p:nvSpPr>
          <p:cNvPr id="11" name="Shape 9"/>
          <p:cNvSpPr/>
          <p:nvPr/>
        </p:nvSpPr>
        <p:spPr>
          <a:xfrm>
            <a:off x="822960" y="3520440"/>
            <a:ext cx="2743200" cy="45720"/>
          </a:xfrm>
          <a:prstGeom prst="rect">
            <a:avLst/>
          </a:prstGeom>
          <a:solidFill>
            <a:srgbClr val="C0392B"/>
          </a:solidFill>
          <a:ln/>
        </p:spPr>
        <p:txBody>
          <a:bodyPr/>
          <a:lstStyle/>
          <a:p>
            <a:endParaRPr lang="fr-FR"/>
          </a:p>
        </p:txBody>
      </p:sp>
      <p:sp>
        <p:nvSpPr>
          <p:cNvPr id="12" name="Text 10"/>
          <p:cNvSpPr/>
          <p:nvPr/>
        </p:nvSpPr>
        <p:spPr>
          <a:xfrm>
            <a:off x="548640" y="3611880"/>
            <a:ext cx="3291840" cy="2194560"/>
          </a:xfrm>
          <a:prstGeom prst="rect">
            <a:avLst/>
          </a:prstGeom>
          <a:noFill/>
          <a:ln/>
        </p:spPr>
        <p:txBody>
          <a:bodyPr wrap="square" rtlCol="0" anchor="ctr"/>
          <a:lstStyle/>
          <a:p>
            <a:pPr marL="0" indent="0">
              <a:spcAft>
                <a:spcPts val="400"/>
              </a:spcAft>
              <a:buNone/>
            </a:pPr>
            <a:r>
              <a:rPr lang="en-US" sz="1200" dirty="0">
                <a:solidFill>
                  <a:srgbClr val="555555"/>
                </a:solidFill>
                <a:latin typeface="Calibri" pitchFamily="34" charset="0"/>
                <a:ea typeface="Calibri" pitchFamily="34" charset="-122"/>
                <a:cs typeface="Calibri" pitchFamily="34" charset="-120"/>
              </a:rPr>
              <a:t>• Activer access_control en prod</a:t>
            </a:r>
            <a:endParaRPr lang="en-US" sz="1200" dirty="0"/>
          </a:p>
          <a:p>
            <a:pPr marL="0" indent="0">
              <a:spcAft>
                <a:spcPts val="400"/>
              </a:spcAft>
              <a:buNone/>
            </a:pPr>
            <a:r>
              <a:rPr lang="en-US" sz="1200" dirty="0">
                <a:solidFill>
                  <a:srgbClr val="555555"/>
                </a:solidFill>
                <a:latin typeface="Calibri" pitchFamily="34" charset="0"/>
                <a:ea typeface="Calibri" pitchFamily="34" charset="-122"/>
                <a:cs typeface="Calibri" pitchFamily="34" charset="-120"/>
              </a:rPr>
              <a:t>• Secrets via GitHub Secrets / Vault</a:t>
            </a:r>
            <a:endParaRPr lang="en-US" sz="1200" dirty="0"/>
          </a:p>
          <a:p>
            <a:pPr marL="0" indent="0">
              <a:spcAft>
                <a:spcPts val="400"/>
              </a:spcAft>
              <a:buNone/>
            </a:pPr>
            <a:r>
              <a:rPr lang="en-US" sz="1200" dirty="0">
                <a:solidFill>
                  <a:srgbClr val="555555"/>
                </a:solidFill>
                <a:latin typeface="Calibri" pitchFamily="34" charset="0"/>
                <a:ea typeface="Calibri" pitchFamily="34" charset="-122"/>
                <a:cs typeface="Calibri" pitchFamily="34" charset="-120"/>
              </a:rPr>
              <a:t>• Activer SSL/TLS sur PostgreSQL</a:t>
            </a:r>
            <a:endParaRPr lang="en-US" sz="1200" dirty="0"/>
          </a:p>
        </p:txBody>
      </p:sp>
      <p:sp>
        <p:nvSpPr>
          <p:cNvPr id="13" name="Shape 11"/>
          <p:cNvSpPr/>
          <p:nvPr/>
        </p:nvSpPr>
        <p:spPr>
          <a:xfrm>
            <a:off x="640080" y="5897880"/>
            <a:ext cx="3108960" cy="347472"/>
          </a:xfrm>
          <a:prstGeom prst="rect">
            <a:avLst/>
          </a:prstGeom>
          <a:solidFill>
            <a:srgbClr val="F5F5F5"/>
          </a:solidFill>
          <a:ln w="19050">
            <a:solidFill>
              <a:srgbClr val="27AE60"/>
            </a:solidFill>
            <a:prstDash val="solid"/>
          </a:ln>
        </p:spPr>
        <p:txBody>
          <a:bodyPr/>
          <a:lstStyle/>
          <a:p>
            <a:endParaRPr lang="fr-FR"/>
          </a:p>
        </p:txBody>
      </p:sp>
      <p:sp>
        <p:nvSpPr>
          <p:cNvPr id="14" name="Text 12"/>
          <p:cNvSpPr/>
          <p:nvPr/>
        </p:nvSpPr>
        <p:spPr>
          <a:xfrm>
            <a:off x="640080" y="5897880"/>
            <a:ext cx="3108960" cy="347472"/>
          </a:xfrm>
          <a:prstGeom prst="rect">
            <a:avLst/>
          </a:prstGeom>
          <a:noFill/>
          <a:ln/>
        </p:spPr>
        <p:txBody>
          <a:bodyPr wrap="square" rtlCol="0" anchor="ctr"/>
          <a:lstStyle/>
          <a:p>
            <a:pPr marL="0" indent="0" algn="ctr">
              <a:buNone/>
            </a:pPr>
            <a:r>
              <a:rPr lang="en-US" sz="1100" b="1" dirty="0">
                <a:solidFill>
                  <a:srgbClr val="27AE60"/>
                </a:solidFill>
                <a:latin typeface="Calibri" pitchFamily="34" charset="0"/>
                <a:ea typeface="Calibri" pitchFamily="34" charset="-122"/>
                <a:cs typeface="Calibri" pitchFamily="34" charset="-120"/>
              </a:rPr>
              <a:t>Correctif v1 · Critique</a:t>
            </a:r>
            <a:endParaRPr lang="en-US" sz="1100" dirty="0"/>
          </a:p>
        </p:txBody>
      </p:sp>
      <p:sp>
        <p:nvSpPr>
          <p:cNvPr id="15" name="Shape 13"/>
          <p:cNvSpPr/>
          <p:nvPr/>
        </p:nvSpPr>
        <p:spPr>
          <a:xfrm>
            <a:off x="4297680" y="2743200"/>
            <a:ext cx="3657600" cy="3657600"/>
          </a:xfrm>
          <a:prstGeom prst="rect">
            <a:avLst/>
          </a:prstGeom>
          <a:solidFill>
            <a:srgbClr val="F5F5F5"/>
          </a:solidFill>
          <a:ln w="19050">
            <a:solidFill>
              <a:srgbClr val="C0392B"/>
            </a:solidFill>
            <a:prstDash val="solid"/>
          </a:ln>
        </p:spPr>
        <p:txBody>
          <a:bodyPr/>
          <a:lstStyle/>
          <a:p>
            <a:endParaRPr lang="fr-FR"/>
          </a:p>
        </p:txBody>
      </p:sp>
      <p:sp>
        <p:nvSpPr>
          <p:cNvPr id="16" name="Text 14"/>
          <p:cNvSpPr/>
          <p:nvPr/>
        </p:nvSpPr>
        <p:spPr>
          <a:xfrm>
            <a:off x="4434840" y="2834640"/>
            <a:ext cx="3383280" cy="640080"/>
          </a:xfrm>
          <a:prstGeom prst="rect">
            <a:avLst/>
          </a:prstGeom>
          <a:noFill/>
          <a:ln/>
        </p:spPr>
        <p:txBody>
          <a:bodyPr wrap="square" rtlCol="0" anchor="ctr"/>
          <a:lstStyle/>
          <a:p>
            <a:pPr marL="0" indent="0" algn="ctr">
              <a:buNone/>
            </a:pPr>
            <a:r>
              <a:rPr lang="en-US" sz="1400" b="1" dirty="0">
                <a:solidFill>
                  <a:srgbClr val="1A1A1A"/>
                </a:solidFill>
                <a:latin typeface="Palatino Linotype" pitchFamily="34" charset="0"/>
                <a:ea typeface="Palatino Linotype" pitchFamily="34" charset="-122"/>
                <a:cs typeface="Palatino Linotype" pitchFamily="34" charset="-120"/>
              </a:rPr>
              <a:t>Sprint 2</a:t>
            </a:r>
            <a:endParaRPr lang="en-US" sz="1400" dirty="0"/>
          </a:p>
          <a:p>
            <a:pPr marL="0" indent="0" algn="ctr">
              <a:buNone/>
            </a:pPr>
            <a:r>
              <a:rPr lang="en-US" sz="1400" b="1" dirty="0">
                <a:solidFill>
                  <a:srgbClr val="1A1A1A"/>
                </a:solidFill>
                <a:latin typeface="Palatino Linotype" pitchFamily="34" charset="0"/>
                <a:ea typeface="Palatino Linotype" pitchFamily="34" charset="-122"/>
                <a:cs typeface="Palatino Linotype" pitchFamily="34" charset="-120"/>
              </a:rPr>
              <a:t>1 mois</a:t>
            </a:r>
            <a:endParaRPr lang="en-US" sz="1400" dirty="0"/>
          </a:p>
        </p:txBody>
      </p:sp>
      <p:sp>
        <p:nvSpPr>
          <p:cNvPr id="17" name="Shape 15"/>
          <p:cNvSpPr/>
          <p:nvPr/>
        </p:nvSpPr>
        <p:spPr>
          <a:xfrm>
            <a:off x="4754880" y="3520440"/>
            <a:ext cx="2743200" cy="45720"/>
          </a:xfrm>
          <a:prstGeom prst="rect">
            <a:avLst/>
          </a:prstGeom>
          <a:solidFill>
            <a:srgbClr val="C0392B"/>
          </a:solidFill>
          <a:ln/>
        </p:spPr>
        <p:txBody>
          <a:bodyPr/>
          <a:lstStyle/>
          <a:p>
            <a:endParaRPr lang="fr-FR"/>
          </a:p>
        </p:txBody>
      </p:sp>
      <p:sp>
        <p:nvSpPr>
          <p:cNvPr id="18" name="Text 16"/>
          <p:cNvSpPr/>
          <p:nvPr/>
        </p:nvSpPr>
        <p:spPr>
          <a:xfrm>
            <a:off x="4480560" y="3611880"/>
            <a:ext cx="3291840" cy="2194560"/>
          </a:xfrm>
          <a:prstGeom prst="rect">
            <a:avLst/>
          </a:prstGeom>
          <a:noFill/>
          <a:ln/>
        </p:spPr>
        <p:txBody>
          <a:bodyPr wrap="square" rtlCol="0" anchor="ctr"/>
          <a:lstStyle/>
          <a:p>
            <a:pPr marL="0" indent="0">
              <a:spcAft>
                <a:spcPts val="400"/>
              </a:spcAft>
              <a:buNone/>
            </a:pPr>
            <a:r>
              <a:rPr lang="en-US" sz="1200" dirty="0">
                <a:solidFill>
                  <a:srgbClr val="555555"/>
                </a:solidFill>
                <a:latin typeface="Calibri" pitchFamily="34" charset="0"/>
                <a:ea typeface="Calibri" pitchFamily="34" charset="-122"/>
                <a:cs typeface="Calibri" pitchFamily="34" charset="-120"/>
              </a:rPr>
              <a:t>• Rate limiting Symfony</a:t>
            </a:r>
            <a:endParaRPr lang="en-US" sz="1200" dirty="0"/>
          </a:p>
          <a:p>
            <a:pPr marL="0" indent="0">
              <a:spcAft>
                <a:spcPts val="400"/>
              </a:spcAft>
              <a:buNone/>
            </a:pPr>
            <a:r>
              <a:rPr lang="en-US" sz="1200" dirty="0">
                <a:solidFill>
                  <a:srgbClr val="555555"/>
                </a:solidFill>
                <a:latin typeface="Calibri" pitchFamily="34" charset="0"/>
                <a:ea typeface="Calibri" pitchFamily="34" charset="-122"/>
                <a:cs typeface="Calibri" pitchFamily="34" charset="-120"/>
              </a:rPr>
              <a:t>• Headers CSP / HSTS</a:t>
            </a:r>
            <a:endParaRPr lang="en-US" sz="1200" dirty="0"/>
          </a:p>
          <a:p>
            <a:pPr marL="0" indent="0">
              <a:spcAft>
                <a:spcPts val="400"/>
              </a:spcAft>
              <a:buNone/>
            </a:pPr>
            <a:r>
              <a:rPr lang="en-US" sz="1200" dirty="0">
                <a:solidFill>
                  <a:srgbClr val="555555"/>
                </a:solidFill>
                <a:latin typeface="Calibri" pitchFamily="34" charset="0"/>
                <a:ea typeface="Calibri" pitchFamily="34" charset="-122"/>
                <a:cs typeface="Calibri" pitchFamily="34" charset="-120"/>
              </a:rPr>
              <a:t>• Anonymisation logs RGPD</a:t>
            </a:r>
            <a:endParaRPr lang="en-US" sz="1200" dirty="0"/>
          </a:p>
        </p:txBody>
      </p:sp>
      <p:sp>
        <p:nvSpPr>
          <p:cNvPr id="19" name="Shape 17"/>
          <p:cNvSpPr/>
          <p:nvPr/>
        </p:nvSpPr>
        <p:spPr>
          <a:xfrm>
            <a:off x="4572000" y="5897880"/>
            <a:ext cx="3108960" cy="347472"/>
          </a:xfrm>
          <a:prstGeom prst="rect">
            <a:avLst/>
          </a:prstGeom>
          <a:solidFill>
            <a:srgbClr val="F5F5F5"/>
          </a:solidFill>
          <a:ln w="19050">
            <a:solidFill>
              <a:srgbClr val="F39C12"/>
            </a:solidFill>
            <a:prstDash val="solid"/>
          </a:ln>
        </p:spPr>
        <p:txBody>
          <a:bodyPr/>
          <a:lstStyle/>
          <a:p>
            <a:endParaRPr lang="fr-FR"/>
          </a:p>
        </p:txBody>
      </p:sp>
      <p:sp>
        <p:nvSpPr>
          <p:cNvPr id="20" name="Text 18"/>
          <p:cNvSpPr/>
          <p:nvPr/>
        </p:nvSpPr>
        <p:spPr>
          <a:xfrm>
            <a:off x="4572000" y="5897880"/>
            <a:ext cx="3108960" cy="347472"/>
          </a:xfrm>
          <a:prstGeom prst="rect">
            <a:avLst/>
          </a:prstGeom>
          <a:noFill/>
          <a:ln/>
        </p:spPr>
        <p:txBody>
          <a:bodyPr wrap="square" rtlCol="0" anchor="ctr"/>
          <a:lstStyle/>
          <a:p>
            <a:pPr marL="0" indent="0" algn="ctr">
              <a:buNone/>
            </a:pPr>
            <a:r>
              <a:rPr lang="en-US" sz="1100" b="1" dirty="0">
                <a:solidFill>
                  <a:srgbClr val="F39C12"/>
                </a:solidFill>
                <a:latin typeface="Calibri" pitchFamily="34" charset="0"/>
                <a:ea typeface="Calibri" pitchFamily="34" charset="-122"/>
                <a:cs typeface="Calibri" pitchFamily="34" charset="-120"/>
              </a:rPr>
              <a:t>Correctif v1 · Haute</a:t>
            </a:r>
            <a:endParaRPr lang="en-US" sz="1100" dirty="0"/>
          </a:p>
        </p:txBody>
      </p:sp>
      <p:sp>
        <p:nvSpPr>
          <p:cNvPr id="21" name="Shape 19"/>
          <p:cNvSpPr/>
          <p:nvPr/>
        </p:nvSpPr>
        <p:spPr>
          <a:xfrm>
            <a:off x="8229600" y="2743200"/>
            <a:ext cx="3657600" cy="3657600"/>
          </a:xfrm>
          <a:prstGeom prst="rect">
            <a:avLst/>
          </a:prstGeom>
          <a:solidFill>
            <a:srgbClr val="F5F5F5"/>
          </a:solidFill>
          <a:ln w="19050">
            <a:solidFill>
              <a:srgbClr val="C0392B"/>
            </a:solidFill>
            <a:prstDash val="solid"/>
          </a:ln>
        </p:spPr>
        <p:txBody>
          <a:bodyPr/>
          <a:lstStyle/>
          <a:p>
            <a:endParaRPr lang="fr-FR"/>
          </a:p>
        </p:txBody>
      </p:sp>
      <p:sp>
        <p:nvSpPr>
          <p:cNvPr id="22" name="Text 20"/>
          <p:cNvSpPr/>
          <p:nvPr/>
        </p:nvSpPr>
        <p:spPr>
          <a:xfrm>
            <a:off x="8366760" y="2834640"/>
            <a:ext cx="3383280" cy="640080"/>
          </a:xfrm>
          <a:prstGeom prst="rect">
            <a:avLst/>
          </a:prstGeom>
          <a:noFill/>
          <a:ln/>
        </p:spPr>
        <p:txBody>
          <a:bodyPr wrap="square" rtlCol="0" anchor="ctr"/>
          <a:lstStyle/>
          <a:p>
            <a:pPr marL="0" indent="0" algn="ctr">
              <a:buNone/>
            </a:pPr>
            <a:r>
              <a:rPr lang="en-US" sz="1400" b="1" dirty="0">
                <a:solidFill>
                  <a:srgbClr val="1A1A1A"/>
                </a:solidFill>
                <a:latin typeface="Palatino Linotype" pitchFamily="34" charset="0"/>
                <a:ea typeface="Palatino Linotype" pitchFamily="34" charset="-122"/>
                <a:cs typeface="Palatino Linotype" pitchFamily="34" charset="-120"/>
              </a:rPr>
              <a:t>Sprint 3</a:t>
            </a:r>
            <a:endParaRPr lang="en-US" sz="1400" dirty="0"/>
          </a:p>
          <a:p>
            <a:pPr marL="0" indent="0" algn="ctr">
              <a:buNone/>
            </a:pPr>
            <a:r>
              <a:rPr lang="en-US" sz="1400" b="1" dirty="0">
                <a:solidFill>
                  <a:srgbClr val="1A1A1A"/>
                </a:solidFill>
                <a:latin typeface="Palatino Linotype" pitchFamily="34" charset="0"/>
                <a:ea typeface="Palatino Linotype" pitchFamily="34" charset="-122"/>
                <a:cs typeface="Palatino Linotype" pitchFamily="34" charset="-120"/>
              </a:rPr>
              <a:t>3 mois</a:t>
            </a:r>
            <a:endParaRPr lang="en-US" sz="1400" dirty="0"/>
          </a:p>
        </p:txBody>
      </p:sp>
      <p:sp>
        <p:nvSpPr>
          <p:cNvPr id="23" name="Shape 21"/>
          <p:cNvSpPr/>
          <p:nvPr/>
        </p:nvSpPr>
        <p:spPr>
          <a:xfrm>
            <a:off x="8686800" y="3520440"/>
            <a:ext cx="2743200" cy="45720"/>
          </a:xfrm>
          <a:prstGeom prst="rect">
            <a:avLst/>
          </a:prstGeom>
          <a:solidFill>
            <a:srgbClr val="C0392B"/>
          </a:solidFill>
          <a:ln/>
        </p:spPr>
        <p:txBody>
          <a:bodyPr/>
          <a:lstStyle/>
          <a:p>
            <a:endParaRPr lang="fr-FR"/>
          </a:p>
        </p:txBody>
      </p:sp>
      <p:sp>
        <p:nvSpPr>
          <p:cNvPr id="24" name="Text 22"/>
          <p:cNvSpPr/>
          <p:nvPr/>
        </p:nvSpPr>
        <p:spPr>
          <a:xfrm>
            <a:off x="8412480" y="3611880"/>
            <a:ext cx="3291840" cy="2194560"/>
          </a:xfrm>
          <a:prstGeom prst="rect">
            <a:avLst/>
          </a:prstGeom>
          <a:noFill/>
          <a:ln/>
        </p:spPr>
        <p:txBody>
          <a:bodyPr wrap="square" rtlCol="0" anchor="ctr"/>
          <a:lstStyle/>
          <a:p>
            <a:pPr marL="0" indent="0">
              <a:spcAft>
                <a:spcPts val="400"/>
              </a:spcAft>
              <a:buNone/>
            </a:pPr>
            <a:r>
              <a:rPr lang="en-US" sz="1200" dirty="0">
                <a:solidFill>
                  <a:srgbClr val="555555"/>
                </a:solidFill>
                <a:latin typeface="Calibri" pitchFamily="34" charset="0"/>
                <a:ea typeface="Calibri" pitchFamily="34" charset="-122"/>
                <a:cs typeface="Calibri" pitchFamily="34" charset="-120"/>
              </a:rPr>
              <a:t>• Image Docker alpine/distroless</a:t>
            </a:r>
            <a:endParaRPr lang="en-US" sz="1200" dirty="0"/>
          </a:p>
          <a:p>
            <a:pPr marL="0" indent="0">
              <a:spcAft>
                <a:spcPts val="400"/>
              </a:spcAft>
              <a:buNone/>
            </a:pPr>
            <a:r>
              <a:rPr lang="en-US" sz="1200" dirty="0">
                <a:solidFill>
                  <a:srgbClr val="555555"/>
                </a:solidFill>
                <a:latin typeface="Calibri" pitchFamily="34" charset="0"/>
                <a:ea typeface="Calibri" pitchFamily="34" charset="-122"/>
                <a:cs typeface="Calibri" pitchFamily="34" charset="-120"/>
              </a:rPr>
              <a:t>• WAF en frontal</a:t>
            </a:r>
            <a:endParaRPr lang="en-US" sz="1200" dirty="0"/>
          </a:p>
          <a:p>
            <a:pPr marL="0" indent="0">
              <a:spcAft>
                <a:spcPts val="400"/>
              </a:spcAft>
              <a:buNone/>
            </a:pPr>
            <a:r>
              <a:rPr lang="en-US" sz="1200" dirty="0">
                <a:solidFill>
                  <a:srgbClr val="555555"/>
                </a:solidFill>
                <a:latin typeface="Calibri" pitchFamily="34" charset="0"/>
                <a:ea typeface="Calibri" pitchFamily="34" charset="-122"/>
                <a:cs typeface="Calibri" pitchFamily="34" charset="-120"/>
              </a:rPr>
              <a:t>• Audit RGPD complet</a:t>
            </a:r>
            <a:endParaRPr lang="en-US" sz="1200" dirty="0"/>
          </a:p>
        </p:txBody>
      </p:sp>
      <p:sp>
        <p:nvSpPr>
          <p:cNvPr id="25" name="Shape 23"/>
          <p:cNvSpPr/>
          <p:nvPr/>
        </p:nvSpPr>
        <p:spPr>
          <a:xfrm>
            <a:off x="8503920" y="5897880"/>
            <a:ext cx="3108960" cy="347472"/>
          </a:xfrm>
          <a:prstGeom prst="rect">
            <a:avLst/>
          </a:prstGeom>
          <a:solidFill>
            <a:srgbClr val="F5F5F5"/>
          </a:solidFill>
          <a:ln w="19050">
            <a:solidFill>
              <a:srgbClr val="555555"/>
            </a:solidFill>
            <a:prstDash val="solid"/>
          </a:ln>
        </p:spPr>
        <p:txBody>
          <a:bodyPr/>
          <a:lstStyle/>
          <a:p>
            <a:endParaRPr lang="fr-FR"/>
          </a:p>
        </p:txBody>
      </p:sp>
      <p:sp>
        <p:nvSpPr>
          <p:cNvPr id="26" name="Text 24"/>
          <p:cNvSpPr/>
          <p:nvPr/>
        </p:nvSpPr>
        <p:spPr>
          <a:xfrm>
            <a:off x="8503920" y="5897880"/>
            <a:ext cx="3108960" cy="347472"/>
          </a:xfrm>
          <a:prstGeom prst="rect">
            <a:avLst/>
          </a:prstGeom>
          <a:noFill/>
          <a:ln/>
        </p:spPr>
        <p:txBody>
          <a:bodyPr wrap="square" rtlCol="0" anchor="ctr"/>
          <a:lstStyle/>
          <a:p>
            <a:pPr marL="0" indent="0" algn="ctr">
              <a:buNone/>
            </a:pPr>
            <a:r>
              <a:rPr lang="en-US" sz="1100" b="1" dirty="0">
                <a:solidFill>
                  <a:srgbClr val="555555"/>
                </a:solidFill>
                <a:latin typeface="Calibri" pitchFamily="34" charset="0"/>
                <a:ea typeface="Calibri" pitchFamily="34" charset="-122"/>
                <a:cs typeface="Calibri" pitchFamily="34" charset="-120"/>
              </a:rPr>
              <a:t>Préparation v2</a:t>
            </a:r>
            <a:endParaRPr lang="en-US" sz="1100" dirty="0"/>
          </a:p>
        </p:txBody>
      </p:sp>
    </p:spTree>
    <p:extLst>
      <p:ext uri="{BB962C8B-B14F-4D97-AF65-F5344CB8AC3E}">
        <p14:creationId xmlns:p14="http://schemas.microsoft.com/office/powerpoint/2010/main" val="22827866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txBody>
          <a:bodyPr/>
          <a:lstStyle/>
          <a:p>
            <a:endParaRPr lang="fr-FR"/>
          </a:p>
        </p:txBody>
      </p:sp>
      <p:sp>
        <p:nvSpPr>
          <p:cNvPr id="3" name="Shape 1"/>
          <p:cNvSpPr/>
          <p:nvPr/>
        </p:nvSpPr>
        <p:spPr>
          <a:xfrm>
            <a:off x="0" y="6675120"/>
            <a:ext cx="12192000" cy="182880"/>
          </a:xfrm>
          <a:prstGeom prst="rect">
            <a:avLst/>
          </a:prstGeom>
          <a:solidFill>
            <a:srgbClr val="C0392B"/>
          </a:solidFill>
          <a:ln/>
        </p:spPr>
        <p:txBody>
          <a:bodyPr/>
          <a:lstStyle/>
          <a:p>
            <a:endParaRPr lang="fr-FR"/>
          </a:p>
        </p:txBody>
      </p:sp>
      <p:sp>
        <p:nvSpPr>
          <p:cNvPr id="4" name="Text 2"/>
          <p:cNvSpPr/>
          <p:nvPr/>
        </p:nvSpPr>
        <p:spPr>
          <a:xfrm>
            <a:off x="274320" y="6675120"/>
            <a:ext cx="9601200" cy="182880"/>
          </a:xfrm>
          <a:prstGeom prst="rect">
            <a:avLst/>
          </a:prstGeom>
          <a:noFill/>
          <a:ln/>
        </p:spPr>
        <p:txBody>
          <a:bodyPr wrap="square" rtlCol="0" anchor="ctr"/>
          <a:lstStyle/>
          <a:p>
            <a:pPr marL="0" indent="0">
              <a:buNone/>
            </a:pPr>
            <a:r>
              <a:rPr lang="fr-FR" sz="800" dirty="0">
                <a:solidFill>
                  <a:srgbClr val="FFFFFF"/>
                </a:solidFill>
                <a:latin typeface="Calibri" pitchFamily="34" charset="0"/>
                <a:ea typeface="Calibri" pitchFamily="34" charset="-122"/>
                <a:cs typeface="Calibri" pitchFamily="34" charset="-120"/>
              </a:rPr>
              <a:t>La Petite Maison de l’Épouvante —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marL="0" indent="0" algn="r">
              <a:buNone/>
            </a:pPr>
            <a:r>
              <a:rPr lang="en-US" sz="1800" b="1" dirty="0">
                <a:solidFill>
                  <a:srgbClr val="1A1A1A"/>
                </a:solidFill>
                <a:latin typeface="Calibri" pitchFamily="34" charset="0"/>
                <a:ea typeface="Calibri" pitchFamily="34" charset="-122"/>
                <a:cs typeface="Calibri" pitchFamily="34" charset="-120"/>
              </a:rPr>
              <a:t>19</a:t>
            </a:r>
            <a:endParaRPr lang="en-US" sz="1800" dirty="0"/>
          </a:p>
        </p:txBody>
      </p:sp>
      <p:sp>
        <p:nvSpPr>
          <p:cNvPr id="6" name="Shape 4"/>
          <p:cNvSpPr/>
          <p:nvPr/>
        </p:nvSpPr>
        <p:spPr>
          <a:xfrm>
            <a:off x="365760" y="1051560"/>
            <a:ext cx="2377440" cy="54864"/>
          </a:xfrm>
          <a:prstGeom prst="rect">
            <a:avLst/>
          </a:prstGeom>
          <a:solidFill>
            <a:srgbClr val="C0392B"/>
          </a:solidFill>
          <a:ln/>
        </p:spPr>
        <p:txBody>
          <a:bodyPr/>
          <a:lstStyle/>
          <a:p>
            <a:endParaRPr lang="fr-FR"/>
          </a:p>
        </p:txBody>
      </p:sp>
      <p:sp>
        <p:nvSpPr>
          <p:cNvPr id="7" name="Text 5"/>
          <p:cNvSpPr/>
          <p:nvPr/>
        </p:nvSpPr>
        <p:spPr>
          <a:xfrm>
            <a:off x="365760" y="640080"/>
            <a:ext cx="10972800" cy="548640"/>
          </a:xfrm>
          <a:prstGeom prst="rect">
            <a:avLst/>
          </a:prstGeom>
          <a:noFill/>
          <a:ln/>
        </p:spPr>
        <p:txBody>
          <a:bodyPr wrap="square" rtlCol="0" anchor="ctr"/>
          <a:lstStyle/>
          <a:p>
            <a:pPr marL="0" indent="0">
              <a:buNone/>
            </a:pPr>
            <a:r>
              <a:rPr lang="en-US" sz="1100" b="1" kern="0" spc="200" dirty="0">
                <a:solidFill>
                  <a:srgbClr val="E74C3C"/>
                </a:solidFill>
                <a:latin typeface="Calibri" pitchFamily="34" charset="0"/>
                <a:ea typeface="Calibri" pitchFamily="34" charset="-122"/>
                <a:cs typeface="Calibri" pitchFamily="34" charset="-120"/>
              </a:rPr>
              <a:t>VERSION 2 — DEVSECOPS RENFORCE</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marL="0" indent="0">
              <a:buNone/>
            </a:pPr>
            <a:r>
              <a:rPr lang="en-US" sz="3400" b="1" dirty="0">
                <a:solidFill>
                  <a:srgbClr val="1A1A1A"/>
                </a:solidFill>
                <a:latin typeface="Palatino Linotype" pitchFamily="34" charset="0"/>
                <a:ea typeface="Palatino Linotype" pitchFamily="34" charset="-122"/>
                <a:cs typeface="Palatino Linotype" pitchFamily="34" charset="-120"/>
              </a:rPr>
              <a:t>3 mesures préventives</a:t>
            </a:r>
            <a:endParaRPr lang="en-US" sz="3400" dirty="0"/>
          </a:p>
          <a:p>
            <a:pPr marL="0" indent="0">
              <a:buNone/>
            </a:pPr>
            <a:r>
              <a:rPr lang="en-US" sz="3400" b="1" dirty="0">
                <a:solidFill>
                  <a:srgbClr val="1A1A1A"/>
                </a:solidFill>
                <a:latin typeface="Palatino Linotype" pitchFamily="34" charset="0"/>
                <a:ea typeface="Palatino Linotype" pitchFamily="34" charset="-122"/>
                <a:cs typeface="Palatino Linotype" pitchFamily="34" charset="-120"/>
              </a:rPr>
              <a:t>pour la v2</a:t>
            </a:r>
            <a:endParaRPr lang="en-US" sz="3400" dirty="0"/>
          </a:p>
        </p:txBody>
      </p:sp>
      <p:sp>
        <p:nvSpPr>
          <p:cNvPr id="9" name="Shape 7"/>
          <p:cNvSpPr/>
          <p:nvPr/>
        </p:nvSpPr>
        <p:spPr>
          <a:xfrm>
            <a:off x="365760" y="2743200"/>
            <a:ext cx="3657600" cy="3749040"/>
          </a:xfrm>
          <a:prstGeom prst="rect">
            <a:avLst/>
          </a:prstGeom>
          <a:solidFill>
            <a:srgbClr val="F5F5F5"/>
          </a:solidFill>
          <a:ln w="19050">
            <a:solidFill>
              <a:srgbClr val="C0392B"/>
            </a:solidFill>
            <a:prstDash val="solid"/>
          </a:ln>
        </p:spPr>
        <p:txBody>
          <a:bodyPr/>
          <a:lstStyle/>
          <a:p>
            <a:endParaRPr lang="fr-FR"/>
          </a:p>
        </p:txBody>
      </p:sp>
      <p:sp>
        <p:nvSpPr>
          <p:cNvPr id="10" name="Text 8"/>
          <p:cNvSpPr/>
          <p:nvPr/>
        </p:nvSpPr>
        <p:spPr>
          <a:xfrm>
            <a:off x="548640" y="2834640"/>
            <a:ext cx="914400" cy="731520"/>
          </a:xfrm>
          <a:prstGeom prst="rect">
            <a:avLst/>
          </a:prstGeom>
          <a:noFill/>
          <a:ln/>
        </p:spPr>
        <p:txBody>
          <a:bodyPr wrap="square" rtlCol="0" anchor="ctr"/>
          <a:lstStyle/>
          <a:p>
            <a:pPr marL="0" indent="0">
              <a:buNone/>
            </a:pPr>
            <a:r>
              <a:rPr lang="en-US" sz="3600" b="1" dirty="0">
                <a:solidFill>
                  <a:srgbClr val="E74C3C"/>
                </a:solidFill>
                <a:latin typeface="Palatino Linotype" pitchFamily="34" charset="0"/>
                <a:ea typeface="Palatino Linotype" pitchFamily="34" charset="-122"/>
                <a:cs typeface="Palatino Linotype" pitchFamily="34" charset="-120"/>
              </a:rPr>
              <a:t>01</a:t>
            </a:r>
            <a:endParaRPr lang="en-US" sz="3600" dirty="0"/>
          </a:p>
        </p:txBody>
      </p:sp>
      <p:sp>
        <p:nvSpPr>
          <p:cNvPr id="11" name="Shape 9"/>
          <p:cNvSpPr/>
          <p:nvPr/>
        </p:nvSpPr>
        <p:spPr>
          <a:xfrm>
            <a:off x="640080" y="3566160"/>
            <a:ext cx="3108960" cy="45720"/>
          </a:xfrm>
          <a:prstGeom prst="rect">
            <a:avLst/>
          </a:prstGeom>
          <a:solidFill>
            <a:srgbClr val="C0392B"/>
          </a:solidFill>
          <a:ln/>
        </p:spPr>
        <p:txBody>
          <a:bodyPr/>
          <a:lstStyle/>
          <a:p>
            <a:endParaRPr lang="fr-FR"/>
          </a:p>
        </p:txBody>
      </p:sp>
      <p:sp>
        <p:nvSpPr>
          <p:cNvPr id="12" name="Text 10"/>
          <p:cNvSpPr/>
          <p:nvPr/>
        </p:nvSpPr>
        <p:spPr>
          <a:xfrm>
            <a:off x="548640" y="3657600"/>
            <a:ext cx="3291840" cy="50292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Secrets Management</a:t>
            </a:r>
            <a:endParaRPr lang="en-US" sz="1400" dirty="0"/>
          </a:p>
        </p:txBody>
      </p:sp>
      <p:sp>
        <p:nvSpPr>
          <p:cNvPr id="13" name="Text 11"/>
          <p:cNvSpPr/>
          <p:nvPr/>
        </p:nvSpPr>
        <p:spPr>
          <a:xfrm>
            <a:off x="548640" y="4206240"/>
            <a:ext cx="3291840" cy="182880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HashiCorp Vault ou GitHub Secrets</a:t>
            </a:r>
            <a:endParaRPr lang="en-US" sz="1200" dirty="0"/>
          </a:p>
          <a:p>
            <a:pPr marL="0" indent="0">
              <a:buNone/>
            </a:pPr>
            <a:r>
              <a:rPr lang="en-US" sz="1200" dirty="0">
                <a:solidFill>
                  <a:srgbClr val="555555"/>
                </a:solidFill>
                <a:latin typeface="Calibri" pitchFamily="34" charset="0"/>
                <a:ea typeface="Calibri" pitchFamily="34" charset="-122"/>
                <a:cs typeface="Calibri" pitchFamily="34" charset="-120"/>
              </a:rPr>
              <a:t>avec rotation automatique des clés</a:t>
            </a:r>
            <a:endParaRPr lang="en-US" sz="1200" dirty="0"/>
          </a:p>
          <a:p>
            <a:pPr marL="0" indent="0">
              <a:buNone/>
            </a:pPr>
            <a:r>
              <a:rPr lang="en-US" sz="1200" dirty="0">
                <a:solidFill>
                  <a:srgbClr val="555555"/>
                </a:solidFill>
                <a:latin typeface="Calibri" pitchFamily="34" charset="0"/>
                <a:ea typeface="Calibri" pitchFamily="34" charset="-122"/>
                <a:cs typeface="Calibri" pitchFamily="34" charset="-120"/>
              </a:rPr>
              <a:t>et audit trail des accès</a:t>
            </a:r>
            <a:endParaRPr lang="en-US" sz="1200" dirty="0"/>
          </a:p>
        </p:txBody>
      </p:sp>
      <p:sp>
        <p:nvSpPr>
          <p:cNvPr id="14" name="Shape 12"/>
          <p:cNvSpPr/>
          <p:nvPr/>
        </p:nvSpPr>
        <p:spPr>
          <a:xfrm>
            <a:off x="4297680" y="2743200"/>
            <a:ext cx="3657600" cy="3749040"/>
          </a:xfrm>
          <a:prstGeom prst="rect">
            <a:avLst/>
          </a:prstGeom>
          <a:solidFill>
            <a:srgbClr val="F5F5F5"/>
          </a:solidFill>
          <a:ln w="19050">
            <a:solidFill>
              <a:srgbClr val="C0392B"/>
            </a:solidFill>
            <a:prstDash val="solid"/>
          </a:ln>
        </p:spPr>
        <p:txBody>
          <a:bodyPr/>
          <a:lstStyle/>
          <a:p>
            <a:endParaRPr lang="fr-FR"/>
          </a:p>
        </p:txBody>
      </p:sp>
      <p:sp>
        <p:nvSpPr>
          <p:cNvPr id="15" name="Text 13"/>
          <p:cNvSpPr/>
          <p:nvPr/>
        </p:nvSpPr>
        <p:spPr>
          <a:xfrm>
            <a:off x="4480560" y="2834640"/>
            <a:ext cx="914400" cy="731520"/>
          </a:xfrm>
          <a:prstGeom prst="rect">
            <a:avLst/>
          </a:prstGeom>
          <a:noFill/>
          <a:ln/>
        </p:spPr>
        <p:txBody>
          <a:bodyPr wrap="square" rtlCol="0" anchor="ctr"/>
          <a:lstStyle/>
          <a:p>
            <a:pPr marL="0" indent="0">
              <a:buNone/>
            </a:pPr>
            <a:r>
              <a:rPr lang="en-US" sz="3600" b="1" dirty="0">
                <a:solidFill>
                  <a:srgbClr val="E74C3C"/>
                </a:solidFill>
                <a:latin typeface="Palatino Linotype" pitchFamily="34" charset="0"/>
                <a:ea typeface="Palatino Linotype" pitchFamily="34" charset="-122"/>
                <a:cs typeface="Palatino Linotype" pitchFamily="34" charset="-120"/>
              </a:rPr>
              <a:t>02</a:t>
            </a:r>
            <a:endParaRPr lang="en-US" sz="3600" dirty="0"/>
          </a:p>
        </p:txBody>
      </p:sp>
      <p:sp>
        <p:nvSpPr>
          <p:cNvPr id="16" name="Shape 14"/>
          <p:cNvSpPr/>
          <p:nvPr/>
        </p:nvSpPr>
        <p:spPr>
          <a:xfrm>
            <a:off x="4572000" y="3566160"/>
            <a:ext cx="3108960" cy="45720"/>
          </a:xfrm>
          <a:prstGeom prst="rect">
            <a:avLst/>
          </a:prstGeom>
          <a:solidFill>
            <a:srgbClr val="C0392B"/>
          </a:solidFill>
          <a:ln/>
        </p:spPr>
        <p:txBody>
          <a:bodyPr/>
          <a:lstStyle/>
          <a:p>
            <a:endParaRPr lang="fr-FR"/>
          </a:p>
        </p:txBody>
      </p:sp>
      <p:sp>
        <p:nvSpPr>
          <p:cNvPr id="17" name="Text 15"/>
          <p:cNvSpPr/>
          <p:nvPr/>
        </p:nvSpPr>
        <p:spPr>
          <a:xfrm>
            <a:off x="4480560" y="3657600"/>
            <a:ext cx="3291840" cy="50292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DAST Pipeline</a:t>
            </a:r>
            <a:endParaRPr lang="en-US" sz="1400" dirty="0"/>
          </a:p>
        </p:txBody>
      </p:sp>
      <p:sp>
        <p:nvSpPr>
          <p:cNvPr id="18" name="Text 16"/>
          <p:cNvSpPr/>
          <p:nvPr/>
        </p:nvSpPr>
        <p:spPr>
          <a:xfrm>
            <a:off x="4480560" y="4206240"/>
            <a:ext cx="3291840" cy="182880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OWASP ZAP intégré au job staging</a:t>
            </a:r>
            <a:endParaRPr lang="en-US" sz="1200" dirty="0"/>
          </a:p>
          <a:p>
            <a:pPr marL="0" indent="0">
              <a:buNone/>
            </a:pPr>
            <a:r>
              <a:rPr lang="en-US" sz="1200" dirty="0">
                <a:solidFill>
                  <a:srgbClr val="555555"/>
                </a:solidFill>
                <a:latin typeface="Calibri" pitchFamily="34" charset="0"/>
                <a:ea typeface="Calibri" pitchFamily="34" charset="-122"/>
                <a:cs typeface="Calibri" pitchFamily="34" charset="-120"/>
              </a:rPr>
              <a:t>Test dynamique automatisé</a:t>
            </a:r>
            <a:endParaRPr lang="en-US" sz="1200" dirty="0"/>
          </a:p>
          <a:p>
            <a:pPr marL="0" indent="0">
              <a:buNone/>
            </a:pPr>
            <a:r>
              <a:rPr lang="en-US" sz="1200" dirty="0">
                <a:solidFill>
                  <a:srgbClr val="555555"/>
                </a:solidFill>
                <a:latin typeface="Calibri" pitchFamily="34" charset="0"/>
                <a:ea typeface="Calibri" pitchFamily="34" charset="-122"/>
                <a:cs typeface="Calibri" pitchFamily="34" charset="-120"/>
              </a:rPr>
              <a:t>Rapport SARIF → GitHub Security</a:t>
            </a:r>
            <a:endParaRPr lang="en-US" sz="1200" dirty="0"/>
          </a:p>
        </p:txBody>
      </p:sp>
      <p:sp>
        <p:nvSpPr>
          <p:cNvPr id="19" name="Shape 17"/>
          <p:cNvSpPr/>
          <p:nvPr/>
        </p:nvSpPr>
        <p:spPr>
          <a:xfrm>
            <a:off x="8229600" y="2743200"/>
            <a:ext cx="3657600" cy="3749040"/>
          </a:xfrm>
          <a:prstGeom prst="rect">
            <a:avLst/>
          </a:prstGeom>
          <a:solidFill>
            <a:srgbClr val="F5F5F5"/>
          </a:solidFill>
          <a:ln w="19050">
            <a:solidFill>
              <a:srgbClr val="C0392B"/>
            </a:solidFill>
            <a:prstDash val="solid"/>
          </a:ln>
        </p:spPr>
        <p:txBody>
          <a:bodyPr/>
          <a:lstStyle/>
          <a:p>
            <a:endParaRPr lang="fr-FR"/>
          </a:p>
        </p:txBody>
      </p:sp>
      <p:sp>
        <p:nvSpPr>
          <p:cNvPr id="20" name="Text 18"/>
          <p:cNvSpPr/>
          <p:nvPr/>
        </p:nvSpPr>
        <p:spPr>
          <a:xfrm>
            <a:off x="8412480" y="2834640"/>
            <a:ext cx="914400" cy="731520"/>
          </a:xfrm>
          <a:prstGeom prst="rect">
            <a:avLst/>
          </a:prstGeom>
          <a:noFill/>
          <a:ln/>
        </p:spPr>
        <p:txBody>
          <a:bodyPr wrap="square" rtlCol="0" anchor="ctr"/>
          <a:lstStyle/>
          <a:p>
            <a:pPr marL="0" indent="0">
              <a:buNone/>
            </a:pPr>
            <a:r>
              <a:rPr lang="en-US" sz="3600" b="1" dirty="0">
                <a:solidFill>
                  <a:srgbClr val="E74C3C"/>
                </a:solidFill>
                <a:latin typeface="Palatino Linotype" pitchFamily="34" charset="0"/>
                <a:ea typeface="Palatino Linotype" pitchFamily="34" charset="-122"/>
                <a:cs typeface="Palatino Linotype" pitchFamily="34" charset="-120"/>
              </a:rPr>
              <a:t>03</a:t>
            </a:r>
            <a:endParaRPr lang="en-US" sz="3600" dirty="0"/>
          </a:p>
        </p:txBody>
      </p:sp>
      <p:sp>
        <p:nvSpPr>
          <p:cNvPr id="21" name="Shape 19"/>
          <p:cNvSpPr/>
          <p:nvPr/>
        </p:nvSpPr>
        <p:spPr>
          <a:xfrm>
            <a:off x="8503920" y="3566160"/>
            <a:ext cx="3108960" cy="45720"/>
          </a:xfrm>
          <a:prstGeom prst="rect">
            <a:avLst/>
          </a:prstGeom>
          <a:solidFill>
            <a:srgbClr val="C0392B"/>
          </a:solidFill>
          <a:ln/>
        </p:spPr>
        <p:txBody>
          <a:bodyPr/>
          <a:lstStyle/>
          <a:p>
            <a:endParaRPr lang="fr-FR"/>
          </a:p>
        </p:txBody>
      </p:sp>
      <p:sp>
        <p:nvSpPr>
          <p:cNvPr id="22" name="Text 20"/>
          <p:cNvSpPr/>
          <p:nvPr/>
        </p:nvSpPr>
        <p:spPr>
          <a:xfrm>
            <a:off x="8412480" y="3657600"/>
            <a:ext cx="3291840" cy="50292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SCA — Dépendances</a:t>
            </a:r>
            <a:endParaRPr lang="en-US" sz="1400" dirty="0"/>
          </a:p>
        </p:txBody>
      </p:sp>
      <p:sp>
        <p:nvSpPr>
          <p:cNvPr id="23" name="Text 21"/>
          <p:cNvSpPr/>
          <p:nvPr/>
        </p:nvSpPr>
        <p:spPr>
          <a:xfrm>
            <a:off x="8412480" y="4206240"/>
            <a:ext cx="3291840" cy="182880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Dependabot activé sur composer.json</a:t>
            </a:r>
            <a:endParaRPr lang="en-US" sz="1200" dirty="0"/>
          </a:p>
          <a:p>
            <a:pPr marL="0" indent="0">
              <a:buNone/>
            </a:pPr>
            <a:r>
              <a:rPr lang="en-US" sz="1200" dirty="0">
                <a:solidFill>
                  <a:srgbClr val="555555"/>
                </a:solidFill>
                <a:latin typeface="Calibri" pitchFamily="34" charset="0"/>
                <a:ea typeface="Calibri" pitchFamily="34" charset="-122"/>
                <a:cs typeface="Calibri" pitchFamily="34" charset="-120"/>
              </a:rPr>
              <a:t>Alertes CVE automatiques</a:t>
            </a:r>
            <a:endParaRPr lang="en-US" sz="1200" dirty="0"/>
          </a:p>
          <a:p>
            <a:pPr marL="0" indent="0">
              <a:buNone/>
            </a:pPr>
            <a:r>
              <a:rPr lang="en-US" sz="1200" dirty="0">
                <a:solidFill>
                  <a:srgbClr val="555555"/>
                </a:solidFill>
                <a:latin typeface="Calibri" pitchFamily="34" charset="0"/>
                <a:ea typeface="Calibri" pitchFamily="34" charset="-122"/>
                <a:cs typeface="Calibri" pitchFamily="34" charset="-120"/>
              </a:rPr>
              <a:t>Mise à jour PR automatique</a:t>
            </a:r>
            <a:endParaRPr lang="en-US" sz="1200" dirty="0"/>
          </a:p>
        </p:txBody>
      </p:sp>
    </p:spTree>
    <p:extLst>
      <p:ext uri="{BB962C8B-B14F-4D97-AF65-F5344CB8AC3E}">
        <p14:creationId xmlns:p14="http://schemas.microsoft.com/office/powerpoint/2010/main" val="20162672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C0392B"/>
          </a:solidFill>
          <a:ln/>
        </p:spPr>
        <p:txBody>
          <a:bodyPr/>
          <a:lstStyle/>
          <a:p>
            <a:endParaRPr lang="fr-FR"/>
          </a:p>
        </p:txBody>
      </p:sp>
      <p:sp>
        <p:nvSpPr>
          <p:cNvPr id="3" name="Shape 1"/>
          <p:cNvSpPr/>
          <p:nvPr/>
        </p:nvSpPr>
        <p:spPr>
          <a:xfrm>
            <a:off x="0" y="6675120"/>
            <a:ext cx="12192000" cy="182880"/>
          </a:xfrm>
          <a:prstGeom prst="rect">
            <a:avLst/>
          </a:prstGeom>
          <a:solidFill>
            <a:srgbClr val="C0392B"/>
          </a:solidFill>
          <a:ln/>
        </p:spPr>
        <p:txBody>
          <a:bodyPr/>
          <a:lstStyle/>
          <a:p>
            <a:endParaRPr lang="fr-FR"/>
          </a:p>
        </p:txBody>
      </p:sp>
      <p:sp>
        <p:nvSpPr>
          <p:cNvPr id="4" name="Text 2"/>
          <p:cNvSpPr/>
          <p:nvPr/>
        </p:nvSpPr>
        <p:spPr>
          <a:xfrm>
            <a:off x="274320" y="6675120"/>
            <a:ext cx="9601200" cy="182880"/>
          </a:xfrm>
          <a:prstGeom prst="rect">
            <a:avLst/>
          </a:prstGeom>
          <a:noFill/>
          <a:ln/>
        </p:spPr>
        <p:txBody>
          <a:bodyPr wrap="square" rtlCol="0" anchor="ctr"/>
          <a:lstStyle/>
          <a:p>
            <a:pPr marL="0" indent="0">
              <a:buNone/>
            </a:pPr>
            <a:r>
              <a:rPr lang="fr-FR" sz="800" dirty="0">
                <a:solidFill>
                  <a:srgbClr val="FFFFFF"/>
                </a:solidFill>
                <a:latin typeface="Calibri" pitchFamily="34" charset="0"/>
                <a:ea typeface="Calibri" pitchFamily="34" charset="-122"/>
                <a:cs typeface="Calibri" pitchFamily="34" charset="-120"/>
              </a:rPr>
              <a:t>La Petite Maison de l’Épouvante — V1 · 2026</a:t>
            </a:r>
            <a:endParaRPr lang="en-US" sz="800" dirty="0"/>
          </a:p>
        </p:txBody>
      </p:sp>
      <p:sp>
        <p:nvSpPr>
          <p:cNvPr id="5" name="Text 3"/>
          <p:cNvSpPr/>
          <p:nvPr/>
        </p:nvSpPr>
        <p:spPr>
          <a:xfrm>
            <a:off x="10515600" y="6583680"/>
            <a:ext cx="1463040" cy="274320"/>
          </a:xfrm>
          <a:prstGeom prst="rect">
            <a:avLst/>
          </a:prstGeom>
          <a:noFill/>
          <a:ln/>
        </p:spPr>
        <p:txBody>
          <a:bodyPr wrap="square" rtlCol="0" anchor="ctr"/>
          <a:lstStyle/>
          <a:p>
            <a:pPr marL="0" indent="0" algn="r">
              <a:buNone/>
            </a:pPr>
            <a:r>
              <a:rPr lang="en-US" sz="1800" b="1" dirty="0">
                <a:solidFill>
                  <a:srgbClr val="1A1A1A"/>
                </a:solidFill>
                <a:latin typeface="Calibri" pitchFamily="34" charset="0"/>
                <a:ea typeface="Calibri" pitchFamily="34" charset="-122"/>
                <a:cs typeface="Calibri" pitchFamily="34" charset="-120"/>
              </a:rPr>
              <a:t>20</a:t>
            </a:r>
            <a:endParaRPr lang="en-US" sz="1800" dirty="0"/>
          </a:p>
        </p:txBody>
      </p:sp>
      <p:sp>
        <p:nvSpPr>
          <p:cNvPr id="6" name="Shape 4"/>
          <p:cNvSpPr/>
          <p:nvPr/>
        </p:nvSpPr>
        <p:spPr>
          <a:xfrm>
            <a:off x="365760" y="1051560"/>
            <a:ext cx="2377440" cy="54864"/>
          </a:xfrm>
          <a:prstGeom prst="rect">
            <a:avLst/>
          </a:prstGeom>
          <a:solidFill>
            <a:srgbClr val="C0392B"/>
          </a:solidFill>
          <a:ln/>
        </p:spPr>
        <p:txBody>
          <a:bodyPr/>
          <a:lstStyle/>
          <a:p>
            <a:endParaRPr lang="fr-FR"/>
          </a:p>
        </p:txBody>
      </p:sp>
      <p:sp>
        <p:nvSpPr>
          <p:cNvPr id="7" name="Text 5"/>
          <p:cNvSpPr/>
          <p:nvPr/>
        </p:nvSpPr>
        <p:spPr>
          <a:xfrm>
            <a:off x="365760" y="640080"/>
            <a:ext cx="10972800" cy="548640"/>
          </a:xfrm>
          <a:prstGeom prst="rect">
            <a:avLst/>
          </a:prstGeom>
          <a:noFill/>
          <a:ln/>
        </p:spPr>
        <p:txBody>
          <a:bodyPr wrap="square" rtlCol="0" anchor="ctr"/>
          <a:lstStyle/>
          <a:p>
            <a:pPr marL="0" indent="0">
              <a:buNone/>
            </a:pPr>
            <a:r>
              <a:rPr lang="en-US" sz="1100" b="1" kern="0" spc="200" dirty="0">
                <a:solidFill>
                  <a:srgbClr val="E74C3C"/>
                </a:solidFill>
                <a:latin typeface="Calibri" pitchFamily="34" charset="0"/>
                <a:ea typeface="Calibri" pitchFamily="34" charset="-122"/>
                <a:cs typeface="Calibri" pitchFamily="34" charset="-120"/>
              </a:rPr>
              <a:t>BILAN DE LA MISSION</a:t>
            </a:r>
            <a:endParaRPr lang="en-US" sz="1100" dirty="0"/>
          </a:p>
        </p:txBody>
      </p:sp>
      <p:sp>
        <p:nvSpPr>
          <p:cNvPr id="8" name="Text 6"/>
          <p:cNvSpPr/>
          <p:nvPr/>
        </p:nvSpPr>
        <p:spPr>
          <a:xfrm>
            <a:off x="365760" y="1280160"/>
            <a:ext cx="11430000" cy="1280160"/>
          </a:xfrm>
          <a:prstGeom prst="rect">
            <a:avLst/>
          </a:prstGeom>
          <a:noFill/>
          <a:ln/>
        </p:spPr>
        <p:txBody>
          <a:bodyPr wrap="square" rtlCol="0" anchor="ctr"/>
          <a:lstStyle/>
          <a:p>
            <a:pPr marL="0" indent="0">
              <a:buNone/>
            </a:pPr>
            <a:r>
              <a:rPr lang="en-US" sz="3400" b="1" dirty="0">
                <a:solidFill>
                  <a:srgbClr val="1A1A1A"/>
                </a:solidFill>
                <a:latin typeface="Palatino Linotype" pitchFamily="34" charset="0"/>
                <a:ea typeface="Palatino Linotype" pitchFamily="34" charset="-122"/>
                <a:cs typeface="Palatino Linotype" pitchFamily="34" charset="-120"/>
              </a:rPr>
              <a:t>Livraison complète de la v1</a:t>
            </a:r>
            <a:endParaRPr lang="en-US" sz="3400" dirty="0"/>
          </a:p>
        </p:txBody>
      </p:sp>
      <p:sp>
        <p:nvSpPr>
          <p:cNvPr id="9" name="Shape 7"/>
          <p:cNvSpPr/>
          <p:nvPr/>
        </p:nvSpPr>
        <p:spPr>
          <a:xfrm>
            <a:off x="365760" y="2743200"/>
            <a:ext cx="3657600" cy="3749040"/>
          </a:xfrm>
          <a:prstGeom prst="rect">
            <a:avLst/>
          </a:prstGeom>
          <a:solidFill>
            <a:srgbClr val="F5F5F5"/>
          </a:solidFill>
          <a:ln w="19050">
            <a:solidFill>
              <a:srgbClr val="C0392B"/>
            </a:solidFill>
            <a:prstDash val="solid"/>
          </a:ln>
        </p:spPr>
        <p:txBody>
          <a:bodyPr/>
          <a:lstStyle/>
          <a:p>
            <a:endParaRPr lang="fr-FR"/>
          </a:p>
        </p:txBody>
      </p:sp>
      <p:sp>
        <p:nvSpPr>
          <p:cNvPr id="10" name="Text 8"/>
          <p:cNvSpPr/>
          <p:nvPr/>
        </p:nvSpPr>
        <p:spPr>
          <a:xfrm>
            <a:off x="502920" y="2834640"/>
            <a:ext cx="3383280" cy="502920"/>
          </a:xfrm>
          <a:prstGeom prst="rect">
            <a:avLst/>
          </a:prstGeom>
          <a:noFill/>
          <a:ln/>
        </p:spPr>
        <p:txBody>
          <a:bodyPr wrap="square" rtlCol="0" anchor="ctr"/>
          <a:lstStyle/>
          <a:p>
            <a:pPr marL="0" indent="0" algn="ctr">
              <a:buNone/>
            </a:pPr>
            <a:r>
              <a:rPr lang="en-US" sz="1400" b="1" dirty="0">
                <a:solidFill>
                  <a:srgbClr val="27AE60"/>
                </a:solidFill>
                <a:latin typeface="Calibri" pitchFamily="34" charset="0"/>
                <a:ea typeface="Calibri" pitchFamily="34" charset="-122"/>
                <a:cs typeface="Calibri" pitchFamily="34" charset="-120"/>
              </a:rPr>
              <a:t>Livré</a:t>
            </a:r>
            <a:endParaRPr lang="en-US" sz="1400" dirty="0"/>
          </a:p>
        </p:txBody>
      </p:sp>
      <p:sp>
        <p:nvSpPr>
          <p:cNvPr id="11" name="Shape 9"/>
          <p:cNvSpPr/>
          <p:nvPr/>
        </p:nvSpPr>
        <p:spPr>
          <a:xfrm>
            <a:off x="822960" y="3383280"/>
            <a:ext cx="2743200" cy="45720"/>
          </a:xfrm>
          <a:prstGeom prst="rect">
            <a:avLst/>
          </a:prstGeom>
          <a:solidFill>
            <a:srgbClr val="C0392B"/>
          </a:solidFill>
          <a:ln/>
        </p:spPr>
        <p:txBody>
          <a:bodyPr/>
          <a:lstStyle/>
          <a:p>
            <a:endParaRPr lang="fr-FR"/>
          </a:p>
        </p:txBody>
      </p:sp>
      <p:sp>
        <p:nvSpPr>
          <p:cNvPr id="12" name="Text 10"/>
          <p:cNvSpPr/>
          <p:nvPr/>
        </p:nvSpPr>
        <p:spPr>
          <a:xfrm>
            <a:off x="548640" y="3520440"/>
            <a:ext cx="3291840" cy="5486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Pipeline CI/CD 11 jobs</a:t>
            </a:r>
            <a:endParaRPr lang="en-US" sz="1100" dirty="0"/>
          </a:p>
        </p:txBody>
      </p:sp>
      <p:sp>
        <p:nvSpPr>
          <p:cNvPr id="13" name="Text 11"/>
          <p:cNvSpPr/>
          <p:nvPr/>
        </p:nvSpPr>
        <p:spPr>
          <a:xfrm>
            <a:off x="548640" y="4178808"/>
            <a:ext cx="3291840" cy="5486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BFF + Keycloak + Messenger</a:t>
            </a:r>
            <a:endParaRPr lang="en-US" sz="1100" dirty="0"/>
          </a:p>
        </p:txBody>
      </p:sp>
      <p:sp>
        <p:nvSpPr>
          <p:cNvPr id="14" name="Text 12"/>
          <p:cNvSpPr/>
          <p:nvPr/>
        </p:nvSpPr>
        <p:spPr>
          <a:xfrm>
            <a:off x="548640" y="4837176"/>
            <a:ext cx="3291840" cy="5486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Déploiement auto self-hosted</a:t>
            </a:r>
            <a:endParaRPr lang="en-US" sz="1100" dirty="0"/>
          </a:p>
        </p:txBody>
      </p:sp>
      <p:sp>
        <p:nvSpPr>
          <p:cNvPr id="15" name="Text 13"/>
          <p:cNvSpPr/>
          <p:nvPr/>
        </p:nvSpPr>
        <p:spPr>
          <a:xfrm>
            <a:off x="548640" y="5495544"/>
            <a:ext cx="3291840" cy="5486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4 livrables documentaires</a:t>
            </a:r>
            <a:endParaRPr lang="en-US" sz="1100" dirty="0"/>
          </a:p>
        </p:txBody>
      </p:sp>
      <p:sp>
        <p:nvSpPr>
          <p:cNvPr id="16" name="Shape 14"/>
          <p:cNvSpPr/>
          <p:nvPr/>
        </p:nvSpPr>
        <p:spPr>
          <a:xfrm>
            <a:off x="4297680" y="2743200"/>
            <a:ext cx="3657600" cy="3749040"/>
          </a:xfrm>
          <a:prstGeom prst="rect">
            <a:avLst/>
          </a:prstGeom>
          <a:solidFill>
            <a:srgbClr val="F5F5F5"/>
          </a:solidFill>
          <a:ln w="19050">
            <a:solidFill>
              <a:srgbClr val="C0392B"/>
            </a:solidFill>
            <a:prstDash val="solid"/>
          </a:ln>
        </p:spPr>
        <p:txBody>
          <a:bodyPr/>
          <a:lstStyle/>
          <a:p>
            <a:endParaRPr lang="fr-FR"/>
          </a:p>
        </p:txBody>
      </p:sp>
      <p:sp>
        <p:nvSpPr>
          <p:cNvPr id="17" name="Text 15"/>
          <p:cNvSpPr/>
          <p:nvPr/>
        </p:nvSpPr>
        <p:spPr>
          <a:xfrm>
            <a:off x="4434840" y="2834640"/>
            <a:ext cx="3383280" cy="502920"/>
          </a:xfrm>
          <a:prstGeom prst="rect">
            <a:avLst/>
          </a:prstGeom>
          <a:noFill/>
          <a:ln/>
        </p:spPr>
        <p:txBody>
          <a:bodyPr wrap="square" rtlCol="0" anchor="ctr"/>
          <a:lstStyle/>
          <a:p>
            <a:pPr marL="0" indent="0" algn="ctr">
              <a:buNone/>
            </a:pPr>
            <a:r>
              <a:rPr lang="en-US" sz="1400" b="1" dirty="0">
                <a:solidFill>
                  <a:srgbClr val="F39C12"/>
                </a:solidFill>
                <a:latin typeface="Calibri" pitchFamily="34" charset="0"/>
                <a:ea typeface="Calibri" pitchFamily="34" charset="-122"/>
                <a:cs typeface="Calibri" pitchFamily="34" charset="-120"/>
              </a:rPr>
              <a:t>Mesuré</a:t>
            </a:r>
            <a:endParaRPr lang="en-US" sz="1400" dirty="0"/>
          </a:p>
        </p:txBody>
      </p:sp>
      <p:sp>
        <p:nvSpPr>
          <p:cNvPr id="18" name="Shape 16"/>
          <p:cNvSpPr/>
          <p:nvPr/>
        </p:nvSpPr>
        <p:spPr>
          <a:xfrm>
            <a:off x="4754880" y="3383280"/>
            <a:ext cx="2743200" cy="45720"/>
          </a:xfrm>
          <a:prstGeom prst="rect">
            <a:avLst/>
          </a:prstGeom>
          <a:solidFill>
            <a:srgbClr val="C0392B"/>
          </a:solidFill>
          <a:ln/>
        </p:spPr>
        <p:txBody>
          <a:bodyPr/>
          <a:lstStyle/>
          <a:p>
            <a:endParaRPr lang="fr-FR"/>
          </a:p>
        </p:txBody>
      </p:sp>
      <p:sp>
        <p:nvSpPr>
          <p:cNvPr id="19" name="Text 17"/>
          <p:cNvSpPr/>
          <p:nvPr/>
        </p:nvSpPr>
        <p:spPr>
          <a:xfrm>
            <a:off x="4480560" y="3520440"/>
            <a:ext cx="3291840" cy="5486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59 tests · 79% coverage</a:t>
            </a:r>
            <a:endParaRPr lang="en-US" sz="1100" dirty="0"/>
          </a:p>
        </p:txBody>
      </p:sp>
      <p:sp>
        <p:nvSpPr>
          <p:cNvPr id="20" name="Text 18"/>
          <p:cNvSpPr/>
          <p:nvPr/>
        </p:nvSpPr>
        <p:spPr>
          <a:xfrm>
            <a:off x="4480560" y="4178808"/>
            <a:ext cx="3291840" cy="5486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k6 p95 &lt; 200ms · 0 erreur</a:t>
            </a:r>
            <a:endParaRPr lang="en-US" sz="1100" dirty="0"/>
          </a:p>
        </p:txBody>
      </p:sp>
      <p:sp>
        <p:nvSpPr>
          <p:cNvPr id="21" name="Text 19"/>
          <p:cNvSpPr/>
          <p:nvPr/>
        </p:nvSpPr>
        <p:spPr>
          <a:xfrm>
            <a:off x="4480560" y="4837176"/>
            <a:ext cx="3291840" cy="5486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0 CVE Critical (Trivy)</a:t>
            </a:r>
            <a:endParaRPr lang="en-US" sz="1100" dirty="0"/>
          </a:p>
        </p:txBody>
      </p:sp>
      <p:sp>
        <p:nvSpPr>
          <p:cNvPr id="22" name="Text 20"/>
          <p:cNvSpPr/>
          <p:nvPr/>
        </p:nvSpPr>
        <p:spPr>
          <a:xfrm>
            <a:off x="4480560" y="5495544"/>
            <a:ext cx="3291840" cy="5486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SonarCloud actif</a:t>
            </a:r>
            <a:endParaRPr lang="en-US" sz="1100" dirty="0"/>
          </a:p>
        </p:txBody>
      </p:sp>
      <p:sp>
        <p:nvSpPr>
          <p:cNvPr id="23" name="Shape 21"/>
          <p:cNvSpPr/>
          <p:nvPr/>
        </p:nvSpPr>
        <p:spPr>
          <a:xfrm>
            <a:off x="8229600" y="2743200"/>
            <a:ext cx="3657600" cy="3749040"/>
          </a:xfrm>
          <a:prstGeom prst="rect">
            <a:avLst/>
          </a:prstGeom>
          <a:solidFill>
            <a:srgbClr val="F5F5F5"/>
          </a:solidFill>
          <a:ln w="19050">
            <a:solidFill>
              <a:srgbClr val="C0392B"/>
            </a:solidFill>
            <a:prstDash val="solid"/>
          </a:ln>
        </p:spPr>
        <p:txBody>
          <a:bodyPr/>
          <a:lstStyle/>
          <a:p>
            <a:endParaRPr lang="fr-FR"/>
          </a:p>
        </p:txBody>
      </p:sp>
      <p:sp>
        <p:nvSpPr>
          <p:cNvPr id="24" name="Text 22"/>
          <p:cNvSpPr/>
          <p:nvPr/>
        </p:nvSpPr>
        <p:spPr>
          <a:xfrm>
            <a:off x="8366760" y="2834640"/>
            <a:ext cx="3383280" cy="502920"/>
          </a:xfrm>
          <a:prstGeom prst="rect">
            <a:avLst/>
          </a:prstGeom>
          <a:noFill/>
          <a:ln/>
        </p:spPr>
        <p:txBody>
          <a:bodyPr wrap="square" rtlCol="0" anchor="ctr"/>
          <a:lstStyle/>
          <a:p>
            <a:pPr marL="0" indent="0" algn="ctr">
              <a:buNone/>
            </a:pPr>
            <a:r>
              <a:rPr lang="en-US" sz="1400" b="1" dirty="0">
                <a:solidFill>
                  <a:srgbClr val="E74C3C"/>
                </a:solidFill>
                <a:latin typeface="Calibri" pitchFamily="34" charset="0"/>
                <a:ea typeface="Calibri" pitchFamily="34" charset="-122"/>
                <a:cs typeface="Calibri" pitchFamily="34" charset="-120"/>
              </a:rPr>
              <a:t>Perspective v2</a:t>
            </a:r>
            <a:endParaRPr lang="en-US" sz="1400" dirty="0"/>
          </a:p>
        </p:txBody>
      </p:sp>
      <p:sp>
        <p:nvSpPr>
          <p:cNvPr id="25" name="Shape 23"/>
          <p:cNvSpPr/>
          <p:nvPr/>
        </p:nvSpPr>
        <p:spPr>
          <a:xfrm>
            <a:off x="8686800" y="3383280"/>
            <a:ext cx="2743200" cy="45720"/>
          </a:xfrm>
          <a:prstGeom prst="rect">
            <a:avLst/>
          </a:prstGeom>
          <a:solidFill>
            <a:srgbClr val="C0392B"/>
          </a:solidFill>
          <a:ln/>
        </p:spPr>
        <p:txBody>
          <a:bodyPr/>
          <a:lstStyle/>
          <a:p>
            <a:endParaRPr lang="fr-FR"/>
          </a:p>
        </p:txBody>
      </p:sp>
      <p:sp>
        <p:nvSpPr>
          <p:cNvPr id="26" name="Text 24"/>
          <p:cNvSpPr/>
          <p:nvPr/>
        </p:nvSpPr>
        <p:spPr>
          <a:xfrm>
            <a:off x="8412480" y="3520440"/>
            <a:ext cx="3291840" cy="5486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RabbitMQ AMQP en production</a:t>
            </a:r>
            <a:endParaRPr lang="en-US" sz="1100" dirty="0"/>
          </a:p>
        </p:txBody>
      </p:sp>
      <p:sp>
        <p:nvSpPr>
          <p:cNvPr id="27" name="Text 25"/>
          <p:cNvSpPr/>
          <p:nvPr/>
        </p:nvSpPr>
        <p:spPr>
          <a:xfrm>
            <a:off x="8412480" y="4032504"/>
            <a:ext cx="3291840" cy="5486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WAF + DAST pipeline</a:t>
            </a:r>
            <a:endParaRPr lang="en-US" sz="1100" dirty="0"/>
          </a:p>
        </p:txBody>
      </p:sp>
      <p:sp>
        <p:nvSpPr>
          <p:cNvPr id="28" name="Text 26"/>
          <p:cNvSpPr/>
          <p:nvPr/>
        </p:nvSpPr>
        <p:spPr>
          <a:xfrm>
            <a:off x="8412480" y="4526280"/>
            <a:ext cx="3291840" cy="5486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a:t>
            </a:r>
            <a:r>
              <a:rPr lang="en-US" sz="1100" dirty="0" err="1">
                <a:solidFill>
                  <a:srgbClr val="1A1A1A"/>
                </a:solidFill>
                <a:latin typeface="Calibri" pitchFamily="34" charset="0"/>
                <a:ea typeface="Calibri" pitchFamily="34" charset="-122"/>
                <a:cs typeface="Calibri" pitchFamily="34" charset="-120"/>
              </a:rPr>
              <a:t>Basculer</a:t>
            </a:r>
            <a:r>
              <a:rPr lang="en-US" sz="1100" dirty="0">
                <a:solidFill>
                  <a:srgbClr val="1A1A1A"/>
                </a:solidFill>
                <a:latin typeface="Calibri" pitchFamily="34" charset="0"/>
                <a:ea typeface="Calibri" pitchFamily="34" charset="-122"/>
                <a:cs typeface="Calibri" pitchFamily="34" charset="-120"/>
              </a:rPr>
              <a:t> sur Gitlab (</a:t>
            </a:r>
            <a:r>
              <a:rPr lang="en-US" sz="1100" dirty="0" err="1">
                <a:solidFill>
                  <a:srgbClr val="1A1A1A"/>
                </a:solidFill>
                <a:latin typeface="Calibri" pitchFamily="34" charset="0"/>
                <a:ea typeface="Calibri" pitchFamily="34" charset="-122"/>
                <a:cs typeface="Calibri" pitchFamily="34" charset="-120"/>
              </a:rPr>
              <a:t>Conformité</a:t>
            </a:r>
            <a:r>
              <a:rPr lang="en-US" sz="1100" dirty="0">
                <a:solidFill>
                  <a:srgbClr val="1A1A1A"/>
                </a:solidFill>
                <a:latin typeface="Calibri" pitchFamily="34" charset="0"/>
                <a:ea typeface="Calibri" pitchFamily="34" charset="-122"/>
                <a:cs typeface="Calibri" pitchFamily="34" charset="-120"/>
              </a:rPr>
              <a:t> RGPD)</a:t>
            </a:r>
            <a:endParaRPr lang="en-US" sz="1100" dirty="0"/>
          </a:p>
        </p:txBody>
      </p:sp>
      <p:sp>
        <p:nvSpPr>
          <p:cNvPr id="29" name="Text 27"/>
          <p:cNvSpPr/>
          <p:nvPr/>
        </p:nvSpPr>
        <p:spPr>
          <a:xfrm>
            <a:off x="8412480" y="5532120"/>
            <a:ext cx="3291840" cy="5486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Espace communautaire</a:t>
            </a:r>
            <a:endParaRPr lang="en-US" sz="1100" dirty="0"/>
          </a:p>
        </p:txBody>
      </p:sp>
      <p:sp>
        <p:nvSpPr>
          <p:cNvPr id="30" name="Text 26">
            <a:extLst>
              <a:ext uri="{FF2B5EF4-FFF2-40B4-BE49-F238E27FC236}">
                <a16:creationId xmlns:a16="http://schemas.microsoft.com/office/drawing/2014/main" id="{E3CDD56B-CEF7-3BB1-D719-16D2907DD6BD}"/>
              </a:ext>
            </a:extLst>
          </p:cNvPr>
          <p:cNvSpPr/>
          <p:nvPr/>
        </p:nvSpPr>
        <p:spPr>
          <a:xfrm>
            <a:off x="8412480" y="5013310"/>
            <a:ext cx="3291840" cy="54864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  Kubernetes en production</a:t>
            </a:r>
            <a:endParaRPr lang="en-US" sz="1100" dirty="0"/>
          </a:p>
        </p:txBody>
      </p:sp>
    </p:spTree>
    <p:extLst>
      <p:ext uri="{BB962C8B-B14F-4D97-AF65-F5344CB8AC3E}">
        <p14:creationId xmlns:p14="http://schemas.microsoft.com/office/powerpoint/2010/main" val="20504595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0" y="1463040"/>
            <a:ext cx="12192000" cy="2743200"/>
          </a:xfrm>
          <a:prstGeom prst="rect">
            <a:avLst/>
          </a:prstGeom>
          <a:noFill/>
          <a:ln/>
        </p:spPr>
        <p:txBody>
          <a:bodyPr wrap="square" rtlCol="0" anchor="ctr"/>
          <a:lstStyle/>
          <a:p>
            <a:pPr marL="0" indent="0" algn="ctr">
              <a:buNone/>
            </a:pPr>
            <a:r>
              <a:rPr lang="en-US" sz="9600" b="1" dirty="0">
                <a:solidFill>
                  <a:srgbClr val="1A1A1A"/>
                </a:solidFill>
                <a:latin typeface="Palatino Linotype" pitchFamily="34" charset="0"/>
                <a:ea typeface="Palatino Linotype" pitchFamily="34" charset="-122"/>
                <a:cs typeface="Palatino Linotype" pitchFamily="34" charset="-120"/>
              </a:rPr>
              <a:t>Merci</a:t>
            </a:r>
            <a:endParaRPr lang="en-US" sz="9600" dirty="0"/>
          </a:p>
        </p:txBody>
      </p:sp>
      <p:sp>
        <p:nvSpPr>
          <p:cNvPr id="3" name="Shape 1"/>
          <p:cNvSpPr/>
          <p:nvPr/>
        </p:nvSpPr>
        <p:spPr>
          <a:xfrm>
            <a:off x="1371600" y="4480560"/>
            <a:ext cx="9418320" cy="64008"/>
          </a:xfrm>
          <a:prstGeom prst="rect">
            <a:avLst/>
          </a:prstGeom>
          <a:solidFill>
            <a:srgbClr val="C0392B"/>
          </a:solidFill>
          <a:ln/>
        </p:spPr>
        <p:txBody>
          <a:bodyPr/>
          <a:lstStyle/>
          <a:p>
            <a:endParaRPr lang="fr-F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D0457FD-B3B8-4784-8DBC-E62E66114771}">
  <we:reference id="wa200010001" version="1.0.0.1" store="fr-FR" storeType="OMEX"/>
  <we:alternateReferences>
    <we:reference id="WA200010001" version="1.0.0.1" store="WA200010001"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5456</Words>
  <Application>Microsoft Office PowerPoint</Application>
  <PresentationFormat>Grand écran</PresentationFormat>
  <Paragraphs>487</Paragraphs>
  <Slides>21</Slides>
  <Notes>21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21</vt:i4>
      </vt:variant>
    </vt:vector>
  </HeadingPairs>
  <TitlesOfParts>
    <vt:vector size="25" baseType="lpstr">
      <vt:lpstr>Arial</vt:lpstr>
      <vt:lpstr>Calibri</vt:lpstr>
      <vt:lpstr>Palatino Linotype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JOUBERT BRYAN</cp:lastModifiedBy>
  <cp:revision>11</cp:revision>
  <dcterms:created xsi:type="dcterms:W3CDTF">2026-03-15T18:06:41Z</dcterms:created>
  <dcterms:modified xsi:type="dcterms:W3CDTF">2026-03-18T12:23:43Z</dcterms:modified>
</cp:coreProperties>
</file>